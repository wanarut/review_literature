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54"/>
  </p:notesMasterIdLst>
  <p:sldIdLst>
    <p:sldId id="257" r:id="rId5"/>
    <p:sldId id="260" r:id="rId6"/>
    <p:sldId id="261" r:id="rId7"/>
    <p:sldId id="262" r:id="rId8"/>
    <p:sldId id="269" r:id="rId9"/>
    <p:sldId id="264" r:id="rId10"/>
    <p:sldId id="263" r:id="rId11"/>
    <p:sldId id="265" r:id="rId12"/>
    <p:sldId id="266" r:id="rId13"/>
    <p:sldId id="273" r:id="rId14"/>
    <p:sldId id="267" r:id="rId15"/>
    <p:sldId id="270" r:id="rId16"/>
    <p:sldId id="271" r:id="rId17"/>
    <p:sldId id="272" r:id="rId18"/>
    <p:sldId id="281" r:id="rId19"/>
    <p:sldId id="268" r:id="rId20"/>
    <p:sldId id="274" r:id="rId21"/>
    <p:sldId id="275" r:id="rId22"/>
    <p:sldId id="276" r:id="rId23"/>
    <p:sldId id="279" r:id="rId24"/>
    <p:sldId id="277" r:id="rId25"/>
    <p:sldId id="278" r:id="rId26"/>
    <p:sldId id="280" r:id="rId27"/>
    <p:sldId id="282" r:id="rId28"/>
    <p:sldId id="283" r:id="rId29"/>
    <p:sldId id="284" r:id="rId30"/>
    <p:sldId id="291" r:id="rId31"/>
    <p:sldId id="292" r:id="rId32"/>
    <p:sldId id="285" r:id="rId33"/>
    <p:sldId id="293" r:id="rId34"/>
    <p:sldId id="294" r:id="rId35"/>
    <p:sldId id="297" r:id="rId36"/>
    <p:sldId id="305" r:id="rId37"/>
    <p:sldId id="306" r:id="rId38"/>
    <p:sldId id="298" r:id="rId39"/>
    <p:sldId id="287" r:id="rId40"/>
    <p:sldId id="288" r:id="rId41"/>
    <p:sldId id="300" r:id="rId42"/>
    <p:sldId id="301" r:id="rId43"/>
    <p:sldId id="307" r:id="rId44"/>
    <p:sldId id="302" r:id="rId45"/>
    <p:sldId id="304" r:id="rId46"/>
    <p:sldId id="303" r:id="rId47"/>
    <p:sldId id="289" r:id="rId48"/>
    <p:sldId id="286" r:id="rId49"/>
    <p:sldId id="295" r:id="rId50"/>
    <p:sldId id="290" r:id="rId51"/>
    <p:sldId id="296" r:id="rId52"/>
    <p:sldId id="25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7333" autoAdjust="0"/>
  </p:normalViewPr>
  <p:slideViewPr>
    <p:cSldViewPr snapToGrid="0">
      <p:cViewPr varScale="1">
        <p:scale>
          <a:sx n="99" d="100"/>
          <a:sy n="99" d="100"/>
        </p:scale>
        <p:origin x="8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dgm:spPr/>
      <dgm:t>
        <a:bodyPr/>
        <a:lstStyle/>
        <a:p>
          <a:r>
            <a:rPr lang="en-US" dirty="0"/>
            <a:t>2017</a:t>
          </a:r>
        </a:p>
      </dgm:t>
    </dgm:pt>
    <dgm:pt modelId="{D8874F40-D7B0-41DE-BB6F-A6014FEAB2D7}" type="parTrans" cxnId="{C5202EE1-10E9-4076-9D55-9E0CF8B152AF}">
      <dgm:prSet/>
      <dgm:spPr/>
      <dgm:t>
        <a:bodyPr/>
        <a:lstStyle/>
        <a:p>
          <a:endParaRPr lang="en-US"/>
        </a:p>
      </dgm:t>
    </dgm:pt>
    <dgm:pt modelId="{BD6E0A2E-99C8-4F5A-971A-CD211D1099FF}" type="sibTrans" cxnId="{C5202EE1-10E9-4076-9D55-9E0CF8B152AF}">
      <dgm:prSet/>
      <dgm:spPr/>
      <dgm:t>
        <a:bodyPr/>
        <a:lstStyle/>
        <a:p>
          <a:endParaRPr lang="en-US"/>
        </a:p>
      </dgm:t>
    </dgm:pt>
    <dgm:pt modelId="{96262926-A67D-4E4E-9515-5EBC67F0B634}">
      <dgm:prSet/>
      <dgm:spPr/>
      <dgm:t>
        <a:bodyPr/>
        <a:lstStyle/>
        <a:p>
          <a:r>
            <a:rPr lang="en-US" dirty="0"/>
            <a:t>Lorem ipsum dolor sit amet</a:t>
          </a:r>
        </a:p>
      </dgm:t>
    </dgm:pt>
    <dgm:pt modelId="{EC74E552-C501-4B0E-9400-E8B410F53D50}" type="parTrans" cxnId="{8C5B110A-FBC3-4CBF-BED2-413E87D4DAD5}">
      <dgm:prSet/>
      <dgm:spPr/>
      <dgm:t>
        <a:bodyPr/>
        <a:lstStyle/>
        <a:p>
          <a:endParaRPr lang="en-US"/>
        </a:p>
      </dgm:t>
    </dgm:pt>
    <dgm:pt modelId="{1DA7ACEB-F642-43C1-BCB5-F580B9B985B9}" type="sibTrans" cxnId="{8C5B110A-FBC3-4CBF-BED2-413E87D4DAD5}">
      <dgm:prSet/>
      <dgm:spPr/>
      <dgm:t>
        <a:bodyPr/>
        <a:lstStyle/>
        <a:p>
          <a:endParaRPr lang="en-US"/>
        </a:p>
      </dgm:t>
    </dgm:pt>
    <dgm:pt modelId="{C5146535-FD3D-4589-98A3-623B8DA4B8DB}">
      <dgm:prSet/>
      <dgm:spPr/>
      <dgm:t>
        <a:bodyPr/>
        <a:lstStyle/>
        <a:p>
          <a:r>
            <a:rPr lang="en-US" dirty="0"/>
            <a:t>2018</a:t>
          </a:r>
        </a:p>
      </dgm:t>
    </dgm:pt>
    <dgm:pt modelId="{20848F78-EC70-4162-96CE-CC68006930F0}" type="parTrans" cxnId="{8EBF857E-7408-4941-91E4-293B0F59EEF7}">
      <dgm:prSet/>
      <dgm:spPr/>
      <dgm:t>
        <a:bodyPr/>
        <a:lstStyle/>
        <a:p>
          <a:endParaRPr lang="en-US"/>
        </a:p>
      </dgm:t>
    </dgm:pt>
    <dgm:pt modelId="{7A3CCAF8-AC3A-401E-AEDD-44BBC1AA9C31}" type="sibTrans" cxnId="{8EBF857E-7408-4941-91E4-293B0F59EEF7}">
      <dgm:prSet/>
      <dgm:spPr/>
      <dgm:t>
        <a:bodyPr/>
        <a:lstStyle/>
        <a:p>
          <a:endParaRPr lang="en-US"/>
        </a:p>
      </dgm:t>
    </dgm:pt>
    <dgm:pt modelId="{E80CA270-6C90-4E17-ACEA-46B56AD54DD1}">
      <dgm:prSet/>
      <dgm:spPr/>
      <dgm:t>
        <a:bodyPr/>
        <a:lstStyle/>
        <a:p>
          <a:r>
            <a:rPr lang="en-US" dirty="0"/>
            <a:t>Lorem ipsum dolor sit amet</a:t>
          </a:r>
        </a:p>
      </dgm:t>
    </dgm:pt>
    <dgm:pt modelId="{7EEC8067-96EF-4BE0-8BE3-BA59ED78A31F}" type="parTrans" cxnId="{2DC28DF8-5C1B-4F53-A4C1-D5B63FB54BAF}">
      <dgm:prSet/>
      <dgm:spPr/>
      <dgm:t>
        <a:bodyPr/>
        <a:lstStyle/>
        <a:p>
          <a:endParaRPr lang="en-US"/>
        </a:p>
      </dgm:t>
    </dgm:pt>
    <dgm:pt modelId="{1AFE46E5-6B07-4894-8ECB-21BD7E7B8AF1}" type="sibTrans" cxnId="{2DC28DF8-5C1B-4F53-A4C1-D5B63FB54BAF}">
      <dgm:prSet/>
      <dgm:spPr/>
      <dgm:t>
        <a:bodyPr/>
        <a:lstStyle/>
        <a:p>
          <a:endParaRPr lang="en-US"/>
        </a:p>
      </dgm:t>
    </dgm:pt>
    <dgm:pt modelId="{09C152DA-7620-4852-8162-A77EC3609F3F}">
      <dgm:prSet/>
      <dgm:spPr/>
      <dgm:t>
        <a:bodyPr/>
        <a:lstStyle/>
        <a:p>
          <a:r>
            <a:rPr lang="en-US" dirty="0"/>
            <a:t>2019</a:t>
          </a:r>
        </a:p>
      </dgm:t>
    </dgm:pt>
    <dgm:pt modelId="{9F6D14C0-6C82-4CBD-8D6D-B0E117B6F2ED}" type="parTrans" cxnId="{23ECAC8B-17A4-4883-AA0E-06D66B7E788A}">
      <dgm:prSet/>
      <dgm:spPr/>
      <dgm:t>
        <a:bodyPr/>
        <a:lstStyle/>
        <a:p>
          <a:endParaRPr lang="en-US"/>
        </a:p>
      </dgm:t>
    </dgm:pt>
    <dgm:pt modelId="{0AE8D36D-0F0F-4206-AE39-0A2D73987B68}" type="sibTrans" cxnId="{23ECAC8B-17A4-4883-AA0E-06D66B7E788A}">
      <dgm:prSet/>
      <dgm:spPr/>
      <dgm:t>
        <a:bodyPr/>
        <a:lstStyle/>
        <a:p>
          <a:endParaRPr lang="en-US"/>
        </a:p>
      </dgm:t>
    </dgm:pt>
    <dgm:pt modelId="{6C8937BE-93F8-4DED-8538-1C601DAEBA66}">
      <dgm:prSet/>
      <dgm:spPr/>
      <dgm:t>
        <a:bodyPr/>
        <a:lstStyle/>
        <a:p>
          <a:r>
            <a:rPr lang="en-US" dirty="0"/>
            <a:t>Lorem ipsum dolor sit amet</a:t>
          </a:r>
        </a:p>
      </dgm:t>
    </dgm:pt>
    <dgm:pt modelId="{77D169C6-D77F-456D-B18B-D7BE016AD87A}" type="parTrans" cxnId="{FAA8D3DD-12E8-457D-9144-B037C5678347}">
      <dgm:prSet/>
      <dgm:spPr/>
      <dgm:t>
        <a:bodyPr/>
        <a:lstStyle/>
        <a:p>
          <a:endParaRPr lang="en-US"/>
        </a:p>
      </dgm:t>
    </dgm:pt>
    <dgm:pt modelId="{A97BE953-FA9D-4BA6-A92C-494DB1F3BA59}" type="sibTrans" cxnId="{FAA8D3DD-12E8-457D-9144-B037C5678347}">
      <dgm:prSet/>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3">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3">
        <dgm:presLayoutVars>
          <dgm:bulletEnabled val="1"/>
        </dgm:presLayoutVars>
      </dgm:prSet>
      <dgm:spPr/>
    </dgm:pt>
    <dgm:pt modelId="{DBA410EB-5F61-4F46-92D9-C5B0AA59EE15}" type="pres">
      <dgm:prSet presAssocID="{C5146535-FD3D-4589-98A3-623B8DA4B8DB}" presName="ConnectLine1" presStyleLbl="sibTrans1D1" presStyleIdx="1" presStyleCnt="3"/>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3"/>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2328055" y="314278"/>
          <a:ext cx="363378" cy="3005230"/>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2017</a:t>
          </a:r>
        </a:p>
      </dsp:txBody>
      <dsp:txXfrm rot="5400000">
        <a:off x="1024869" y="1652943"/>
        <a:ext cx="2987491" cy="327900"/>
      </dsp:txXfrm>
    </dsp:sp>
    <dsp:sp modelId="{5A1B764B-0DC5-47CD-BDEA-9E67799496EC}">
      <dsp:nvSpPr>
        <dsp:cNvPr id="0" name=""/>
        <dsp:cNvSpPr/>
      </dsp:nvSpPr>
      <dsp:spPr>
        <a:xfrm>
          <a:off x="5385"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5385" y="0"/>
        <a:ext cx="5008717" cy="1271825"/>
      </dsp:txXfrm>
    </dsp:sp>
    <dsp:sp modelId="{122B38A3-0442-4747-820C-1F37877E2B0E}">
      <dsp:nvSpPr>
        <dsp:cNvPr id="0" name=""/>
        <dsp:cNvSpPr/>
      </dsp:nvSpPr>
      <dsp:spPr>
        <a:xfrm>
          <a:off x="2509744" y="1344501"/>
          <a:ext cx="0" cy="290702"/>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2473406" y="1271825"/>
          <a:ext cx="72675" cy="72675"/>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4012359" y="1635204"/>
          <a:ext cx="3005230" cy="363378"/>
        </a:xfrm>
        <a:prstGeom prst="rect">
          <a:avLst/>
        </a:prstGeom>
        <a:solidFill>
          <a:schemeClr val="accent1">
            <a:shade val="80000"/>
            <a:hueOff val="223096"/>
            <a:satOff val="-4529"/>
            <a:lumOff val="15339"/>
            <a:alphaOff val="0"/>
          </a:schemeClr>
        </a:solidFill>
        <a:ln w="22225" cap="rnd" cmpd="sng" algn="ctr">
          <a:solidFill>
            <a:schemeClr val="accent1">
              <a:shade val="80000"/>
              <a:hueOff val="223096"/>
              <a:satOff val="-4529"/>
              <a:lumOff val="153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2018</a:t>
          </a:r>
        </a:p>
      </dsp:txBody>
      <dsp:txXfrm>
        <a:off x="4012359" y="1635204"/>
        <a:ext cx="3005230" cy="363378"/>
      </dsp:txXfrm>
    </dsp:sp>
    <dsp:sp modelId="{DF65791B-462E-4589-B98D-F60587330CA8}">
      <dsp:nvSpPr>
        <dsp:cNvPr id="0" name=""/>
        <dsp:cNvSpPr/>
      </dsp:nvSpPr>
      <dsp:spPr>
        <a:xfrm>
          <a:off x="3010616" y="2361961"/>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3010616" y="2361961"/>
        <a:ext cx="5008717" cy="1271825"/>
      </dsp:txXfrm>
    </dsp:sp>
    <dsp:sp modelId="{DBA410EB-5F61-4F46-92D9-C5B0AA59EE15}">
      <dsp:nvSpPr>
        <dsp:cNvPr id="0" name=""/>
        <dsp:cNvSpPr/>
      </dsp:nvSpPr>
      <dsp:spPr>
        <a:xfrm>
          <a:off x="5514975" y="1998582"/>
          <a:ext cx="0" cy="290702"/>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5478637" y="2289285"/>
          <a:ext cx="72675" cy="72675"/>
        </a:xfrm>
        <a:prstGeom prst="ellipse">
          <a:avLst/>
        </a:prstGeom>
        <a:solidFill>
          <a:schemeClr val="accent1">
            <a:shade val="80000"/>
            <a:hueOff val="223096"/>
            <a:satOff val="-4529"/>
            <a:lumOff val="153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8338516" y="314278"/>
          <a:ext cx="363378" cy="3005230"/>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2019</a:t>
          </a:r>
        </a:p>
      </dsp:txBody>
      <dsp:txXfrm rot="-5400000">
        <a:off x="7017591" y="1652943"/>
        <a:ext cx="2987491" cy="327900"/>
      </dsp:txXfrm>
    </dsp:sp>
    <dsp:sp modelId="{B4723E2A-4FF1-452A-BD25-8EC364F15A6F}">
      <dsp:nvSpPr>
        <dsp:cNvPr id="0" name=""/>
        <dsp:cNvSpPr/>
      </dsp:nvSpPr>
      <dsp:spPr>
        <a:xfrm>
          <a:off x="6015846"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6015846" y="0"/>
        <a:ext cx="5008717" cy="1271825"/>
      </dsp:txXfrm>
    </dsp:sp>
    <dsp:sp modelId="{440E9361-37D2-4157-AF38-7B49AD23708B}">
      <dsp:nvSpPr>
        <dsp:cNvPr id="0" name=""/>
        <dsp:cNvSpPr/>
      </dsp:nvSpPr>
      <dsp:spPr>
        <a:xfrm>
          <a:off x="8520205" y="1344501"/>
          <a:ext cx="0" cy="290702"/>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8483867" y="1271825"/>
          <a:ext cx="72675" cy="72675"/>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h-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ECE35-052C-4519-883A-20811486312B}" type="datetimeFigureOut">
              <a:rPr lang="th-TH" smtClean="0"/>
              <a:t>03/12/63</a:t>
            </a:fld>
            <a:endParaRPr lang="th-T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h-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h-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690C6-3487-4A2A-A435-A96B59A0BF17}" type="slidenum">
              <a:rPr lang="th-TH" smtClean="0"/>
              <a:t>‹#›</a:t>
            </a:fld>
            <a:endParaRPr lang="th-TH"/>
          </a:p>
        </p:txBody>
      </p:sp>
    </p:spTree>
    <p:extLst>
      <p:ext uri="{BB962C8B-B14F-4D97-AF65-F5344CB8AC3E}">
        <p14:creationId xmlns:p14="http://schemas.microsoft.com/office/powerpoint/2010/main" val="816253733"/>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propose a minimized latency multi-hop </a:t>
            </a:r>
            <a:r>
              <a:rPr lang="en-US" dirty="0" err="1"/>
              <a:t>LoRa</a:t>
            </a:r>
            <a:r>
              <a:rPr lang="en-US" dirty="0"/>
              <a:t> network protocol to improve on the disadvantages of </a:t>
            </a:r>
            <a:r>
              <a:rPr lang="en-US" dirty="0" err="1"/>
              <a:t>LoRa</a:t>
            </a:r>
            <a:r>
              <a:rPr lang="en-US" dirty="0"/>
              <a:t> protocol.</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a:t>
            </a:fld>
            <a:endParaRPr lang="th-TH"/>
          </a:p>
        </p:txBody>
      </p:sp>
    </p:spTree>
    <p:extLst>
      <p:ext uri="{BB962C8B-B14F-4D97-AF65-F5344CB8AC3E}">
        <p14:creationId xmlns:p14="http://schemas.microsoft.com/office/powerpoint/2010/main" val="1003879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multi-hop network such as AODV or DSR protocol</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6</a:t>
            </a:fld>
            <a:endParaRPr lang="th-TH"/>
          </a:p>
        </p:txBody>
      </p:sp>
    </p:spTree>
    <p:extLst>
      <p:ext uri="{BB962C8B-B14F-4D97-AF65-F5344CB8AC3E}">
        <p14:creationId xmlns:p14="http://schemas.microsoft.com/office/powerpoint/2010/main" val="378134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monitoring and controlling need minimum latency.</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7</a:t>
            </a:fld>
            <a:endParaRPr lang="th-TH"/>
          </a:p>
        </p:txBody>
      </p:sp>
    </p:spTree>
    <p:extLst>
      <p:ext uri="{BB962C8B-B14F-4D97-AF65-F5344CB8AC3E}">
        <p14:creationId xmlns:p14="http://schemas.microsoft.com/office/powerpoint/2010/main" val="393160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Power Wide Area Network model in this scope consist of 5 properties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8</a:t>
            </a:fld>
            <a:endParaRPr lang="th-TH"/>
          </a:p>
        </p:txBody>
      </p:sp>
    </p:spTree>
    <p:extLst>
      <p:ext uri="{BB962C8B-B14F-4D97-AF65-F5344CB8AC3E}">
        <p14:creationId xmlns:p14="http://schemas.microsoft.com/office/powerpoint/2010/main" val="3210965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Protocol model in this scope consist of 4 properties</a:t>
            </a:r>
            <a:endParaRPr lang="th-TH" dirty="0"/>
          </a:p>
          <a:p>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9</a:t>
            </a:fld>
            <a:endParaRPr lang="th-TH"/>
          </a:p>
        </p:txBody>
      </p:sp>
    </p:spTree>
    <p:extLst>
      <p:ext uri="{BB962C8B-B14F-4D97-AF65-F5344CB8AC3E}">
        <p14:creationId xmlns:p14="http://schemas.microsoft.com/office/powerpoint/2010/main" val="3135980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10</a:t>
            </a:fld>
            <a:endParaRPr lang="th-TH"/>
          </a:p>
        </p:txBody>
      </p:sp>
    </p:spTree>
    <p:extLst>
      <p:ext uri="{BB962C8B-B14F-4D97-AF65-F5344CB8AC3E}">
        <p14:creationId xmlns:p14="http://schemas.microsoft.com/office/powerpoint/2010/main" val="728966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15</a:t>
            </a:fld>
            <a:endParaRPr lang="th-TH"/>
          </a:p>
        </p:txBody>
      </p:sp>
    </p:spTree>
    <p:extLst>
      <p:ext uri="{BB962C8B-B14F-4D97-AF65-F5344CB8AC3E}">
        <p14:creationId xmlns:p14="http://schemas.microsoft.com/office/powerpoint/2010/main" val="1852440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each cycle of the NCP, we have four timeslots, as shown in Figure 2. In NCP, it contains N cycles as shown in Figure 3.</a:t>
            </a:r>
          </a:p>
        </p:txBody>
      </p:sp>
      <p:sp>
        <p:nvSpPr>
          <p:cNvPr id="4" name="Slide Number Placeholder 3"/>
          <p:cNvSpPr>
            <a:spLocks noGrp="1"/>
          </p:cNvSpPr>
          <p:nvPr>
            <p:ph type="sldNum" sz="quarter" idx="5"/>
          </p:nvPr>
        </p:nvSpPr>
        <p:spPr/>
        <p:txBody>
          <a:bodyPr/>
          <a:lstStyle/>
          <a:p>
            <a:fld id="{7A6690C6-3487-4A2A-A435-A96B59A0BF17}" type="slidenum">
              <a:rPr lang="th-TH" smtClean="0"/>
              <a:t>16</a:t>
            </a:fld>
            <a:endParaRPr lang="th-TH"/>
          </a:p>
        </p:txBody>
      </p:sp>
    </p:spTree>
    <p:extLst>
      <p:ext uri="{BB962C8B-B14F-4D97-AF65-F5344CB8AC3E}">
        <p14:creationId xmlns:p14="http://schemas.microsoft.com/office/powerpoint/2010/main" val="3382936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17</a:t>
            </a:fld>
            <a:endParaRPr lang="th-TH"/>
          </a:p>
        </p:txBody>
      </p:sp>
    </p:spTree>
    <p:extLst>
      <p:ext uri="{BB962C8B-B14F-4D97-AF65-F5344CB8AC3E}">
        <p14:creationId xmlns:p14="http://schemas.microsoft.com/office/powerpoint/2010/main" val="214536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18</a:t>
            </a:fld>
            <a:endParaRPr lang="th-TH"/>
          </a:p>
        </p:txBody>
      </p:sp>
    </p:spTree>
    <p:extLst>
      <p:ext uri="{BB962C8B-B14F-4D97-AF65-F5344CB8AC3E}">
        <p14:creationId xmlns:p14="http://schemas.microsoft.com/office/powerpoint/2010/main" val="1585484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19</a:t>
            </a:fld>
            <a:endParaRPr lang="th-TH"/>
          </a:p>
        </p:txBody>
      </p:sp>
    </p:spTree>
    <p:extLst>
      <p:ext uri="{BB962C8B-B14F-4D97-AF65-F5344CB8AC3E}">
        <p14:creationId xmlns:p14="http://schemas.microsoft.com/office/powerpoint/2010/main" val="3176834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20</a:t>
            </a:fld>
            <a:endParaRPr lang="th-TH"/>
          </a:p>
        </p:txBody>
      </p:sp>
    </p:spTree>
    <p:extLst>
      <p:ext uri="{BB962C8B-B14F-4D97-AF65-F5344CB8AC3E}">
        <p14:creationId xmlns:p14="http://schemas.microsoft.com/office/powerpoint/2010/main" val="1315445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21</a:t>
            </a:fld>
            <a:endParaRPr lang="th-TH"/>
          </a:p>
        </p:txBody>
      </p:sp>
    </p:spTree>
    <p:extLst>
      <p:ext uri="{BB962C8B-B14F-4D97-AF65-F5344CB8AC3E}">
        <p14:creationId xmlns:p14="http://schemas.microsoft.com/office/powerpoint/2010/main" val="1473444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22</a:t>
            </a:fld>
            <a:endParaRPr lang="th-TH"/>
          </a:p>
        </p:txBody>
      </p:sp>
    </p:spTree>
    <p:extLst>
      <p:ext uri="{BB962C8B-B14F-4D97-AF65-F5344CB8AC3E}">
        <p14:creationId xmlns:p14="http://schemas.microsoft.com/office/powerpoint/2010/main" val="2617019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NCP process with six nodes. At first, each node initializes its P, D, Cd and UC information, as shown in Table 1. We assume that TUTC = 5 × 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the sink node transmits INIT(0,S,0,5)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timeslot TS1 in the first cycle (cycle 0). Nodes A and B receive the INIT packet from node S, and after that,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nodes A and B compete to transmit a JOIN packet to node S. We assume node B wins, and node B transmits JOIN(1,B,S,{}). Node A determines it lost the competition and waits until TS2 (in the next cycle) to retransmit the JOIN packet. Node S receives the JOIN packet from node B and accepts node B as its child node. Based on UC and Cd, node S decides to assign timeslot T5 and channel Ch0 to node B to communicate with node S, as explained in the next sub-section.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 S transmits CON (0,S,B,T5,Ch0) to node B at TS3 to inform node B of its assignment. Nodes A and B receive the CON packet, B sets its parent as S and the cell assignment to P and UC, while node A adds (Ch0, T5) to its UC list. In TS4, node B broadcasts ADV (1,B,T5,Ch0) to inform its neighbor nodes of the cell assignment. After receiving the ADV packet, nodes A, C and D add (Ch0, T5) to their UC lists.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TS4, node B broadcasts ADV (1,B,T5,Ch0) to inform its neighbor nodes of the cell assignment. After receiving the ADV packet, nodes A, C and D add (Ch0, T5) to their UC lists.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TS1 of the next cycle (Cycle 1), node B sends INIT (1,B,1,5), and nodes A, C and E receive this packet and add node B to their parent lists.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TS2, nodes A, C and D choose their parents as described in the next sub-section and compete to transmit a JOIN packet to the parent node. Node A wins then, sending JOIN (1,A,S,{(T5, Ch0)}) to node S. Nodes C and E determine that they lost the competition when overhearing the JOIN packet, and wait until TS3 (in the next cycle) to retransmit the JOIN packet. After receiving the JOIN packet from node A, node S accepts node A as its child and chooses TS4 and channel Ch0 as the link from A to 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 S transmits CON (0,S,A,T4,Ch0) to node A at TS3 to inform node A of its assignment. Nodes C, B and D overhear this packet and add (Ch0, T4) to their UC lists. Node A receives this packet and sets its parent as S, adding the cell assignment to 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TS4, node A broadcasts ADV(1,A,T4,Ch0) to inform the neighbor nodes about the cell assignment.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is repeated until the network construction is completed. Figure 6 shows the NCP process, and Table 1 shows the information maintained by each node after the NCP finishes.</a:t>
            </a:r>
          </a:p>
        </p:txBody>
      </p:sp>
      <p:sp>
        <p:nvSpPr>
          <p:cNvPr id="4" name="Slide Number Placeholder 3"/>
          <p:cNvSpPr>
            <a:spLocks noGrp="1"/>
          </p:cNvSpPr>
          <p:nvPr>
            <p:ph type="sldNum" sz="quarter" idx="5"/>
          </p:nvPr>
        </p:nvSpPr>
        <p:spPr/>
        <p:txBody>
          <a:bodyPr/>
          <a:lstStyle/>
          <a:p>
            <a:fld id="{7A6690C6-3487-4A2A-A435-A96B59A0BF17}" type="slidenum">
              <a:rPr lang="th-TH" smtClean="0"/>
              <a:t>23</a:t>
            </a:fld>
            <a:endParaRPr lang="th-TH"/>
          </a:p>
        </p:txBody>
      </p:sp>
    </p:spTree>
    <p:extLst>
      <p:ext uri="{BB962C8B-B14F-4D97-AF65-F5344CB8AC3E}">
        <p14:creationId xmlns:p14="http://schemas.microsoft.com/office/powerpoint/2010/main" val="4064396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next sub-section, they explained a </a:t>
            </a:r>
            <a:r>
              <a:rPr lang="en-US" b="1" u="sng" dirty="0"/>
              <a:t>packet collision–avoidance mechanism</a:t>
            </a:r>
            <a:r>
              <a:rPr lang="en-US" dirty="0"/>
              <a:t>, to avoid the collision</a:t>
            </a:r>
          </a:p>
        </p:txBody>
      </p:sp>
      <p:sp>
        <p:nvSpPr>
          <p:cNvPr id="4" name="Slide Number Placeholder 3"/>
          <p:cNvSpPr>
            <a:spLocks noGrp="1"/>
          </p:cNvSpPr>
          <p:nvPr>
            <p:ph type="sldNum" sz="quarter" idx="5"/>
          </p:nvPr>
        </p:nvSpPr>
        <p:spPr/>
        <p:txBody>
          <a:bodyPr/>
          <a:lstStyle/>
          <a:p>
            <a:fld id="{7A6690C6-3487-4A2A-A435-A96B59A0BF17}" type="slidenum">
              <a:rPr lang="th-TH" smtClean="0"/>
              <a:t>24</a:t>
            </a:fld>
            <a:endParaRPr lang="th-TH"/>
          </a:p>
        </p:txBody>
      </p:sp>
    </p:spTree>
    <p:extLst>
      <p:ext uri="{BB962C8B-B14F-4D97-AF65-F5344CB8AC3E}">
        <p14:creationId xmlns:p14="http://schemas.microsoft.com/office/powerpoint/2010/main" val="847033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25</a:t>
            </a:fld>
            <a:endParaRPr lang="th-TH"/>
          </a:p>
        </p:txBody>
      </p:sp>
    </p:spTree>
    <p:extLst>
      <p:ext uri="{BB962C8B-B14F-4D97-AF65-F5344CB8AC3E}">
        <p14:creationId xmlns:p14="http://schemas.microsoft.com/office/powerpoint/2010/main" val="3576439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next sub-section, they explained Timeslot and Channel Assignment</a:t>
            </a:r>
          </a:p>
        </p:txBody>
      </p:sp>
      <p:sp>
        <p:nvSpPr>
          <p:cNvPr id="4" name="Slide Number Placeholder 3"/>
          <p:cNvSpPr>
            <a:spLocks noGrp="1"/>
          </p:cNvSpPr>
          <p:nvPr>
            <p:ph type="sldNum" sz="quarter" idx="5"/>
          </p:nvPr>
        </p:nvSpPr>
        <p:spPr/>
        <p:txBody>
          <a:bodyPr/>
          <a:lstStyle/>
          <a:p>
            <a:fld id="{7A6690C6-3487-4A2A-A435-A96B59A0BF17}" type="slidenum">
              <a:rPr lang="th-TH" smtClean="0"/>
              <a:t>26</a:t>
            </a:fld>
            <a:endParaRPr lang="th-TH"/>
          </a:p>
        </p:txBody>
      </p:sp>
    </p:spTree>
    <p:extLst>
      <p:ext uri="{BB962C8B-B14F-4D97-AF65-F5344CB8AC3E}">
        <p14:creationId xmlns:p14="http://schemas.microsoft.com/office/powerpoint/2010/main" val="2922517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27</a:t>
            </a:fld>
            <a:endParaRPr lang="th-TH"/>
          </a:p>
        </p:txBody>
      </p:sp>
    </p:spTree>
    <p:extLst>
      <p:ext uri="{BB962C8B-B14F-4D97-AF65-F5344CB8AC3E}">
        <p14:creationId xmlns:p14="http://schemas.microsoft.com/office/powerpoint/2010/main" val="33350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28</a:t>
            </a:fld>
            <a:endParaRPr lang="th-TH"/>
          </a:p>
        </p:txBody>
      </p:sp>
    </p:spTree>
    <p:extLst>
      <p:ext uri="{BB962C8B-B14F-4D97-AF65-F5344CB8AC3E}">
        <p14:creationId xmlns:p14="http://schemas.microsoft.com/office/powerpoint/2010/main" val="3004611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29</a:t>
            </a:fld>
            <a:endParaRPr lang="th-TH"/>
          </a:p>
        </p:txBody>
      </p:sp>
    </p:spTree>
    <p:extLst>
      <p:ext uri="{BB962C8B-B14F-4D97-AF65-F5344CB8AC3E}">
        <p14:creationId xmlns:p14="http://schemas.microsoft.com/office/powerpoint/2010/main" val="5670924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30</a:t>
            </a:fld>
            <a:endParaRPr lang="th-TH"/>
          </a:p>
        </p:txBody>
      </p:sp>
    </p:spTree>
    <p:extLst>
      <p:ext uri="{BB962C8B-B14F-4D97-AF65-F5344CB8AC3E}">
        <p14:creationId xmlns:p14="http://schemas.microsoft.com/office/powerpoint/2010/main" val="3255091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31</a:t>
            </a:fld>
            <a:endParaRPr lang="th-TH"/>
          </a:p>
        </p:txBody>
      </p:sp>
    </p:spTree>
    <p:extLst>
      <p:ext uri="{BB962C8B-B14F-4D97-AF65-F5344CB8AC3E}">
        <p14:creationId xmlns:p14="http://schemas.microsoft.com/office/powerpoint/2010/main" val="6443993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they proposed the REDUCE command packet</a:t>
            </a:r>
          </a:p>
        </p:txBody>
      </p:sp>
      <p:sp>
        <p:nvSpPr>
          <p:cNvPr id="4" name="Slide Number Placeholder 3"/>
          <p:cNvSpPr>
            <a:spLocks noGrp="1"/>
          </p:cNvSpPr>
          <p:nvPr>
            <p:ph type="sldNum" sz="quarter" idx="5"/>
          </p:nvPr>
        </p:nvSpPr>
        <p:spPr/>
        <p:txBody>
          <a:bodyPr/>
          <a:lstStyle/>
          <a:p>
            <a:fld id="{7A6690C6-3487-4A2A-A435-A96B59A0BF17}" type="slidenum">
              <a:rPr lang="th-TH" smtClean="0"/>
              <a:t>32</a:t>
            </a:fld>
            <a:endParaRPr lang="th-TH"/>
          </a:p>
        </p:txBody>
      </p:sp>
    </p:spTree>
    <p:extLst>
      <p:ext uri="{BB962C8B-B14F-4D97-AF65-F5344CB8AC3E}">
        <p14:creationId xmlns:p14="http://schemas.microsoft.com/office/powerpoint/2010/main" val="2249163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33</a:t>
            </a:fld>
            <a:endParaRPr lang="th-TH"/>
          </a:p>
        </p:txBody>
      </p:sp>
    </p:spTree>
    <p:extLst>
      <p:ext uri="{BB962C8B-B14F-4D97-AF65-F5344CB8AC3E}">
        <p14:creationId xmlns:p14="http://schemas.microsoft.com/office/powerpoint/2010/main" val="2848744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34</a:t>
            </a:fld>
            <a:endParaRPr lang="th-TH"/>
          </a:p>
        </p:txBody>
      </p:sp>
    </p:spTree>
    <p:extLst>
      <p:ext uri="{BB962C8B-B14F-4D97-AF65-F5344CB8AC3E}">
        <p14:creationId xmlns:p14="http://schemas.microsoft.com/office/powerpoint/2010/main" val="6599145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If we knew the time on air</a:t>
            </a:r>
          </a:p>
        </p:txBody>
      </p:sp>
      <p:sp>
        <p:nvSpPr>
          <p:cNvPr id="4" name="Slide Number Placeholder 3"/>
          <p:cNvSpPr>
            <a:spLocks noGrp="1"/>
          </p:cNvSpPr>
          <p:nvPr>
            <p:ph type="sldNum" sz="quarter" idx="5"/>
          </p:nvPr>
        </p:nvSpPr>
        <p:spPr/>
        <p:txBody>
          <a:bodyPr/>
          <a:lstStyle/>
          <a:p>
            <a:fld id="{7A6690C6-3487-4A2A-A435-A96B59A0BF17}" type="slidenum">
              <a:rPr lang="th-TH" smtClean="0"/>
              <a:t>35</a:t>
            </a:fld>
            <a:endParaRPr lang="th-TH"/>
          </a:p>
        </p:txBody>
      </p:sp>
    </p:spTree>
    <p:extLst>
      <p:ext uri="{BB962C8B-B14F-4D97-AF65-F5344CB8AC3E}">
        <p14:creationId xmlns:p14="http://schemas.microsoft.com/office/powerpoint/2010/main" val="2749953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36</a:t>
            </a:fld>
            <a:endParaRPr lang="th-TH"/>
          </a:p>
        </p:txBody>
      </p:sp>
    </p:spTree>
    <p:extLst>
      <p:ext uri="{BB962C8B-B14F-4D97-AF65-F5344CB8AC3E}">
        <p14:creationId xmlns:p14="http://schemas.microsoft.com/office/powerpoint/2010/main" val="27564750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37</a:t>
            </a:fld>
            <a:endParaRPr lang="th-TH"/>
          </a:p>
        </p:txBody>
      </p:sp>
    </p:spTree>
    <p:extLst>
      <p:ext uri="{BB962C8B-B14F-4D97-AF65-F5344CB8AC3E}">
        <p14:creationId xmlns:p14="http://schemas.microsoft.com/office/powerpoint/2010/main" val="39246728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38</a:t>
            </a:fld>
            <a:endParaRPr lang="th-TH"/>
          </a:p>
        </p:txBody>
      </p:sp>
    </p:spTree>
    <p:extLst>
      <p:ext uri="{BB962C8B-B14F-4D97-AF65-F5344CB8AC3E}">
        <p14:creationId xmlns:p14="http://schemas.microsoft.com/office/powerpoint/2010/main" val="2628833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39</a:t>
            </a:fld>
            <a:endParaRPr lang="th-TH"/>
          </a:p>
        </p:txBody>
      </p:sp>
    </p:spTree>
    <p:extLst>
      <p:ext uri="{BB962C8B-B14F-4D97-AF65-F5344CB8AC3E}">
        <p14:creationId xmlns:p14="http://schemas.microsoft.com/office/powerpoint/2010/main" val="3614505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40</a:t>
            </a:fld>
            <a:endParaRPr lang="th-TH"/>
          </a:p>
        </p:txBody>
      </p:sp>
    </p:spTree>
    <p:extLst>
      <p:ext uri="{BB962C8B-B14F-4D97-AF65-F5344CB8AC3E}">
        <p14:creationId xmlns:p14="http://schemas.microsoft.com/office/powerpoint/2010/main" val="1138934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41</a:t>
            </a:fld>
            <a:endParaRPr lang="th-TH"/>
          </a:p>
        </p:txBody>
      </p:sp>
    </p:spTree>
    <p:extLst>
      <p:ext uri="{BB962C8B-B14F-4D97-AF65-F5344CB8AC3E}">
        <p14:creationId xmlns:p14="http://schemas.microsoft.com/office/powerpoint/2010/main" val="4190930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42</a:t>
            </a:fld>
            <a:endParaRPr lang="th-TH"/>
          </a:p>
        </p:txBody>
      </p:sp>
    </p:spTree>
    <p:extLst>
      <p:ext uri="{BB962C8B-B14F-4D97-AF65-F5344CB8AC3E}">
        <p14:creationId xmlns:p14="http://schemas.microsoft.com/office/powerpoint/2010/main" val="9943439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43</a:t>
            </a:fld>
            <a:endParaRPr lang="th-TH"/>
          </a:p>
        </p:txBody>
      </p:sp>
    </p:spTree>
    <p:extLst>
      <p:ext uri="{BB962C8B-B14F-4D97-AF65-F5344CB8AC3E}">
        <p14:creationId xmlns:p14="http://schemas.microsoft.com/office/powerpoint/2010/main" val="28552967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44</a:t>
            </a:fld>
            <a:endParaRPr lang="th-TH"/>
          </a:p>
        </p:txBody>
      </p:sp>
    </p:spTree>
    <p:extLst>
      <p:ext uri="{BB962C8B-B14F-4D97-AF65-F5344CB8AC3E}">
        <p14:creationId xmlns:p14="http://schemas.microsoft.com/office/powerpoint/2010/main" val="36271792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45</a:t>
            </a:fld>
            <a:endParaRPr lang="th-TH"/>
          </a:p>
        </p:txBody>
      </p:sp>
    </p:spTree>
    <p:extLst>
      <p:ext uri="{BB962C8B-B14F-4D97-AF65-F5344CB8AC3E}">
        <p14:creationId xmlns:p14="http://schemas.microsoft.com/office/powerpoint/2010/main" val="21493723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46</a:t>
            </a:fld>
            <a:endParaRPr lang="th-TH"/>
          </a:p>
        </p:txBody>
      </p:sp>
    </p:spTree>
    <p:extLst>
      <p:ext uri="{BB962C8B-B14F-4D97-AF65-F5344CB8AC3E}">
        <p14:creationId xmlns:p14="http://schemas.microsoft.com/office/powerpoint/2010/main" val="29791641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Research methodology consist of 4 properties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47</a:t>
            </a:fld>
            <a:endParaRPr lang="th-TH"/>
          </a:p>
        </p:txBody>
      </p:sp>
    </p:spTree>
    <p:extLst>
      <p:ext uri="{BB962C8B-B14F-4D97-AF65-F5344CB8AC3E}">
        <p14:creationId xmlns:p14="http://schemas.microsoft.com/office/powerpoint/2010/main" val="40842865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48</a:t>
            </a:fld>
            <a:endParaRPr lang="th-TH"/>
          </a:p>
        </p:txBody>
      </p:sp>
    </p:spTree>
    <p:extLst>
      <p:ext uri="{BB962C8B-B14F-4D97-AF65-F5344CB8AC3E}">
        <p14:creationId xmlns:p14="http://schemas.microsoft.com/office/powerpoint/2010/main" val="3333172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12/3/2020</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12/3/2020</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12/3/2020</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12/3/2020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12/3/2020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12/3/2020</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12/3/2020</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12/3/2020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12/3/2020</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12/3/2020</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96714" y="1657529"/>
            <a:ext cx="10993549" cy="1475013"/>
          </a:xfrm>
        </p:spPr>
        <p:txBody>
          <a:bodyPr>
            <a:normAutofit/>
          </a:bodyPr>
          <a:lstStyle/>
          <a:p>
            <a:pPr algn="ctr"/>
            <a:r>
              <a:rPr lang="en-US" sz="4000" cap="none" dirty="0">
                <a:solidFill>
                  <a:schemeClr val="tx1"/>
                </a:solidFill>
                <a:latin typeface="+mn-lt"/>
              </a:rPr>
              <a:t>Multi-Hop </a:t>
            </a:r>
            <a:r>
              <a:rPr lang="en-US" sz="4000" cap="none" dirty="0" err="1">
                <a:solidFill>
                  <a:schemeClr val="tx1"/>
                </a:solidFill>
                <a:latin typeface="+mn-lt"/>
              </a:rPr>
              <a:t>LoRa</a:t>
            </a:r>
            <a:r>
              <a:rPr lang="en-US" sz="4000" cap="none" dirty="0">
                <a:solidFill>
                  <a:schemeClr val="tx1"/>
                </a:solidFill>
                <a:latin typeface="+mn-lt"/>
              </a:rPr>
              <a:t> Network Protocol with </a:t>
            </a:r>
            <a:br>
              <a:rPr lang="en-US" sz="4000" cap="none" dirty="0">
                <a:solidFill>
                  <a:schemeClr val="tx1"/>
                </a:solidFill>
                <a:latin typeface="+mn-lt"/>
              </a:rPr>
            </a:br>
            <a:r>
              <a:rPr lang="en-US" sz="4000" cap="none" dirty="0">
                <a:solidFill>
                  <a:schemeClr val="tx1"/>
                </a:solidFill>
                <a:latin typeface="+mn-lt"/>
              </a:rPr>
              <a:t>Minimized Latency</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6898104" y="5518483"/>
            <a:ext cx="4676635" cy="882315"/>
          </a:xfrm>
        </p:spPr>
        <p:txBody>
          <a:bodyPr>
            <a:normAutofit/>
          </a:bodyPr>
          <a:lstStyle/>
          <a:p>
            <a:pPr algn="r"/>
            <a:r>
              <a:rPr lang="en-US" sz="1400" cap="none" dirty="0">
                <a:solidFill>
                  <a:schemeClr val="tx1"/>
                </a:solidFill>
              </a:rPr>
              <a:t>Reviewed by </a:t>
            </a:r>
            <a:r>
              <a:rPr lang="en-US" sz="1400" cap="none" dirty="0" err="1">
                <a:solidFill>
                  <a:schemeClr val="tx1"/>
                </a:solidFill>
              </a:rPr>
              <a:t>Wanarut</a:t>
            </a:r>
            <a:r>
              <a:rPr lang="en-US" sz="1400" cap="none" dirty="0">
                <a:solidFill>
                  <a:schemeClr val="tx1"/>
                </a:solidFill>
              </a:rPr>
              <a:t> </a:t>
            </a:r>
            <a:r>
              <a:rPr lang="en-US" sz="1400" cap="none" dirty="0" err="1">
                <a:solidFill>
                  <a:schemeClr val="tx1"/>
                </a:solidFill>
              </a:rPr>
              <a:t>Boonyung</a:t>
            </a:r>
            <a:endParaRPr lang="en-US" sz="1400" cap="none" dirty="0">
              <a:solidFill>
                <a:schemeClr val="tx1"/>
              </a:solidFill>
            </a:endParaRPr>
          </a:p>
          <a:p>
            <a:pPr algn="r"/>
            <a:r>
              <a:rPr lang="en-US" sz="1400" cap="none" dirty="0">
                <a:solidFill>
                  <a:schemeClr val="tx1"/>
                </a:solidFill>
              </a:rPr>
              <a:t>4 December 2020</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a:extLst>
              <a:ext uri="{FF2B5EF4-FFF2-40B4-BE49-F238E27FC236}">
                <a16:creationId xmlns:a16="http://schemas.microsoft.com/office/drawing/2014/main" id="{FFEA5371-EB38-4DDE-AEA0-77CF7704F26F}"/>
              </a:ext>
            </a:extLst>
          </p:cNvPr>
          <p:cNvSpPr txBox="1"/>
          <p:nvPr/>
        </p:nvSpPr>
        <p:spPr>
          <a:xfrm>
            <a:off x="871782" y="3524933"/>
            <a:ext cx="10443411" cy="1754326"/>
          </a:xfrm>
          <a:prstGeom prst="rect">
            <a:avLst/>
          </a:prstGeom>
          <a:noFill/>
        </p:spPr>
        <p:txBody>
          <a:bodyPr wrap="square" rtlCol="0">
            <a:spAutoFit/>
          </a:bodyPr>
          <a:lstStyle/>
          <a:p>
            <a:pPr algn="ctr"/>
            <a:r>
              <a:rPr lang="en-US" dirty="0" err="1"/>
              <a:t>Dinh</a:t>
            </a:r>
            <a:r>
              <a:rPr lang="en-US" dirty="0"/>
              <a:t> Loc Mai and Myung </a:t>
            </a:r>
            <a:r>
              <a:rPr lang="en-US" dirty="0" err="1"/>
              <a:t>Kyun</a:t>
            </a:r>
            <a:r>
              <a:rPr lang="en-US" dirty="0"/>
              <a:t> Kim</a:t>
            </a:r>
          </a:p>
          <a:p>
            <a:pPr algn="ctr"/>
            <a:r>
              <a:rPr lang="en-US" dirty="0"/>
              <a:t>Department of Electrical and Computer Engineering, University of Ulsan, Ulsan 44610, Korea</a:t>
            </a:r>
          </a:p>
          <a:p>
            <a:pPr algn="ctr"/>
            <a:endParaRPr lang="en-US" dirty="0"/>
          </a:p>
          <a:p>
            <a:pPr algn="ctr"/>
            <a:endParaRPr lang="en-US" dirty="0"/>
          </a:p>
          <a:p>
            <a:pPr algn="ctr"/>
            <a:r>
              <a:rPr lang="en-US" dirty="0"/>
              <a:t>Received: 12 February 2020; Accepted: 13 March 2020; Published: 15 March 2020</a:t>
            </a:r>
          </a:p>
          <a:p>
            <a:pPr algn="ctr"/>
            <a:endParaRPr lang="th-TH" dirty="0"/>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a16="http://schemas.microsoft.com/office/drawing/2014/main" id="{071FA6B8-C997-4BBE-A590-D38EB38071B5}"/>
              </a:ext>
            </a:extLst>
          </p:cNvPr>
          <p:cNvPicPr>
            <a:picLocks noGrp="1" noChangeAspect="1"/>
          </p:cNvPicPr>
          <p:nvPr>
            <p:ph idx="1"/>
          </p:nvPr>
        </p:nvPicPr>
        <p:blipFill rotWithShape="1">
          <a:blip r:embed="rId2"/>
          <a:srcRect l="75209" b="68227"/>
          <a:stretch/>
        </p:blipFill>
        <p:spPr>
          <a:xfrm>
            <a:off x="7823199" y="1269000"/>
            <a:ext cx="1698633" cy="1372600"/>
          </a:xfr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5708075"/>
            <a:ext cx="10564968" cy="646331"/>
          </a:xfrm>
          <a:prstGeom prst="rect">
            <a:avLst/>
          </a:prstGeom>
          <a:noFill/>
        </p:spPr>
        <p:txBody>
          <a:bodyPr wrap="square" rtlCol="0">
            <a:spAutoFit/>
          </a:bodyPr>
          <a:lstStyle/>
          <a:p>
            <a:pPr algn="ctr"/>
            <a:r>
              <a:rPr lang="en-US" dirty="0"/>
              <a:t>A source node wants to send the data packet to a destination node.</a:t>
            </a:r>
          </a:p>
          <a:p>
            <a:pPr algn="ctr"/>
            <a:r>
              <a:rPr lang="en-US" dirty="0"/>
              <a:t>But a destination node is not in the wireless communication range.</a:t>
            </a:r>
            <a:endParaRPr lang="th-TH" dirty="0"/>
          </a:p>
        </p:txBody>
      </p:sp>
      <p:pic>
        <p:nvPicPr>
          <p:cNvPr id="7" name="Content Placeholder 4" descr="Diagram&#10;&#10;Description automatically generated">
            <a:extLst>
              <a:ext uri="{FF2B5EF4-FFF2-40B4-BE49-F238E27FC236}">
                <a16:creationId xmlns:a16="http://schemas.microsoft.com/office/drawing/2014/main" id="{893EE25A-8116-4D40-9C51-7FB5DA184667}"/>
              </a:ext>
            </a:extLst>
          </p:cNvPr>
          <p:cNvPicPr>
            <a:picLocks noChangeAspect="1"/>
          </p:cNvPicPr>
          <p:nvPr/>
        </p:nvPicPr>
        <p:blipFill rotWithShape="1">
          <a:blip r:embed="rId2"/>
          <a:srcRect t="29225" r="61863"/>
          <a:stretch/>
        </p:blipFill>
        <p:spPr>
          <a:xfrm>
            <a:off x="2670167" y="2531532"/>
            <a:ext cx="2613033" cy="3057467"/>
          </a:xfrm>
          <a:prstGeom prst="rect">
            <a:avLst/>
          </a:prstGeom>
        </p:spPr>
      </p:pic>
      <p:sp>
        <p:nvSpPr>
          <p:cNvPr id="3" name="TextBox 2">
            <a:extLst>
              <a:ext uri="{FF2B5EF4-FFF2-40B4-BE49-F238E27FC236}">
                <a16:creationId xmlns:a16="http://schemas.microsoft.com/office/drawing/2014/main" id="{6FB47B96-3BBF-4FC6-82B7-9A4855590569}"/>
              </a:ext>
            </a:extLst>
          </p:cNvPr>
          <p:cNvSpPr txBox="1"/>
          <p:nvPr/>
        </p:nvSpPr>
        <p:spPr>
          <a:xfrm>
            <a:off x="4605687" y="3548076"/>
            <a:ext cx="1355025" cy="369332"/>
          </a:xfrm>
          <a:prstGeom prst="rect">
            <a:avLst/>
          </a:prstGeom>
          <a:noFill/>
        </p:spPr>
        <p:txBody>
          <a:bodyPr wrap="square" rtlCol="0">
            <a:spAutoFit/>
          </a:bodyPr>
          <a:lstStyle/>
          <a:p>
            <a:r>
              <a:rPr lang="en-US" dirty="0"/>
              <a:t>data</a:t>
            </a:r>
            <a:endParaRPr lang="th-TH" dirty="0"/>
          </a:p>
        </p:txBody>
      </p:sp>
    </p:spTree>
    <p:extLst>
      <p:ext uri="{BB962C8B-B14F-4D97-AF65-F5344CB8AC3E}">
        <p14:creationId xmlns:p14="http://schemas.microsoft.com/office/powerpoint/2010/main" val="391737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a16="http://schemas.microsoft.com/office/drawing/2014/main" id="{071FA6B8-C997-4BBE-A590-D38EB38071B5}"/>
              </a:ext>
            </a:extLst>
          </p:cNvPr>
          <p:cNvPicPr>
            <a:picLocks noGrp="1" noChangeAspect="1"/>
          </p:cNvPicPr>
          <p:nvPr>
            <p:ph idx="1"/>
          </p:nvPr>
        </p:nvPicPr>
        <p:blipFill>
          <a:blip r:embed="rId2"/>
          <a:stretch>
            <a:fillRect/>
          </a:stretch>
        </p:blipFill>
        <p:spPr>
          <a:xfrm>
            <a:off x="2670167" y="1269000"/>
            <a:ext cx="6851666" cy="4320000"/>
          </a:xfr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5708075"/>
            <a:ext cx="10564968" cy="646331"/>
          </a:xfrm>
          <a:prstGeom prst="rect">
            <a:avLst/>
          </a:prstGeom>
          <a:noFill/>
        </p:spPr>
        <p:txBody>
          <a:bodyPr wrap="square" rtlCol="0">
            <a:spAutoFit/>
          </a:bodyPr>
          <a:lstStyle/>
          <a:p>
            <a:pPr algn="ctr"/>
            <a:r>
              <a:rPr lang="en-US" dirty="0"/>
              <a:t>A source node must send the data packet via intermediate nodes until reaches a destination node. </a:t>
            </a:r>
          </a:p>
          <a:p>
            <a:pPr algn="ctr"/>
            <a:r>
              <a:rPr lang="en-US" dirty="0"/>
              <a:t>This mechanism was called the Multi-Hop.</a:t>
            </a:r>
            <a:endParaRPr lang="th-TH" dirty="0"/>
          </a:p>
        </p:txBody>
      </p:sp>
      <p:sp>
        <p:nvSpPr>
          <p:cNvPr id="7" name="TextBox 6">
            <a:extLst>
              <a:ext uri="{FF2B5EF4-FFF2-40B4-BE49-F238E27FC236}">
                <a16:creationId xmlns:a16="http://schemas.microsoft.com/office/drawing/2014/main" id="{0D9792E3-511E-474C-B9C3-D518CB8D215A}"/>
              </a:ext>
            </a:extLst>
          </p:cNvPr>
          <p:cNvSpPr txBox="1"/>
          <p:nvPr/>
        </p:nvSpPr>
        <p:spPr>
          <a:xfrm>
            <a:off x="4605687" y="3548076"/>
            <a:ext cx="1355025" cy="369332"/>
          </a:xfrm>
          <a:prstGeom prst="rect">
            <a:avLst/>
          </a:prstGeom>
          <a:noFill/>
        </p:spPr>
        <p:txBody>
          <a:bodyPr wrap="square" rtlCol="0">
            <a:spAutoFit/>
          </a:bodyPr>
          <a:lstStyle/>
          <a:p>
            <a:r>
              <a:rPr lang="en-US" dirty="0"/>
              <a:t>data</a:t>
            </a:r>
            <a:endParaRPr lang="th-TH" dirty="0"/>
          </a:p>
        </p:txBody>
      </p:sp>
    </p:spTree>
    <p:extLst>
      <p:ext uri="{BB962C8B-B14F-4D97-AF65-F5344CB8AC3E}">
        <p14:creationId xmlns:p14="http://schemas.microsoft.com/office/powerpoint/2010/main" val="1512280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a16="http://schemas.microsoft.com/office/drawing/2014/main" id="{071FA6B8-C997-4BBE-A590-D38EB38071B5}"/>
              </a:ext>
            </a:extLst>
          </p:cNvPr>
          <p:cNvPicPr>
            <a:picLocks noGrp="1" noChangeAspect="1"/>
          </p:cNvPicPr>
          <p:nvPr>
            <p:ph idx="1"/>
          </p:nvPr>
        </p:nvPicPr>
        <p:blipFill>
          <a:blip r:embed="rId2"/>
          <a:stretch>
            <a:fillRect/>
          </a:stretch>
        </p:blipFill>
        <p:spPr>
          <a:xfrm>
            <a:off x="2670167" y="1269000"/>
            <a:ext cx="6851666" cy="4320000"/>
          </a:xfr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5708075"/>
            <a:ext cx="10564968" cy="369332"/>
          </a:xfrm>
          <a:prstGeom prst="rect">
            <a:avLst/>
          </a:prstGeom>
          <a:noFill/>
        </p:spPr>
        <p:txBody>
          <a:bodyPr wrap="square" rtlCol="0">
            <a:spAutoFit/>
          </a:bodyPr>
          <a:lstStyle/>
          <a:p>
            <a:pPr algn="ctr"/>
            <a:r>
              <a:rPr lang="en-US" dirty="0"/>
              <a:t>The disadvantages of multi-hop are high latency and low reliability.</a:t>
            </a:r>
            <a:endParaRPr lang="th-TH" dirty="0"/>
          </a:p>
        </p:txBody>
      </p:sp>
      <p:sp>
        <p:nvSpPr>
          <p:cNvPr id="3" name="TextBox 2">
            <a:extLst>
              <a:ext uri="{FF2B5EF4-FFF2-40B4-BE49-F238E27FC236}">
                <a16:creationId xmlns:a16="http://schemas.microsoft.com/office/drawing/2014/main" id="{BB59678F-6587-4D03-99D8-F886D3C4E257}"/>
              </a:ext>
            </a:extLst>
          </p:cNvPr>
          <p:cNvSpPr txBox="1"/>
          <p:nvPr/>
        </p:nvSpPr>
        <p:spPr>
          <a:xfrm>
            <a:off x="3547533" y="2794001"/>
            <a:ext cx="933845" cy="369332"/>
          </a:xfrm>
          <a:prstGeom prst="rect">
            <a:avLst/>
          </a:prstGeom>
          <a:noFill/>
        </p:spPr>
        <p:txBody>
          <a:bodyPr wrap="none" rtlCol="0">
            <a:spAutoFit/>
          </a:bodyPr>
          <a:lstStyle/>
          <a:p>
            <a:r>
              <a:rPr lang="en-US" dirty="0"/>
              <a:t>100 </a:t>
            </a:r>
            <a:r>
              <a:rPr lang="en-US" dirty="0" err="1"/>
              <a:t>ms</a:t>
            </a:r>
            <a:endParaRPr lang="th-TH" dirty="0"/>
          </a:p>
        </p:txBody>
      </p:sp>
      <p:sp>
        <p:nvSpPr>
          <p:cNvPr id="4" name="TextBox 3">
            <a:extLst>
              <a:ext uri="{FF2B5EF4-FFF2-40B4-BE49-F238E27FC236}">
                <a16:creationId xmlns:a16="http://schemas.microsoft.com/office/drawing/2014/main" id="{D8EB6544-7F82-4B71-9EAB-9C8B0A42AEB2}"/>
              </a:ext>
            </a:extLst>
          </p:cNvPr>
          <p:cNvSpPr txBox="1"/>
          <p:nvPr/>
        </p:nvSpPr>
        <p:spPr>
          <a:xfrm>
            <a:off x="5130803" y="3059668"/>
            <a:ext cx="941283" cy="369332"/>
          </a:xfrm>
          <a:prstGeom prst="rect">
            <a:avLst/>
          </a:prstGeom>
          <a:noFill/>
        </p:spPr>
        <p:txBody>
          <a:bodyPr wrap="none" rtlCol="0">
            <a:spAutoFit/>
          </a:bodyPr>
          <a:lstStyle/>
          <a:p>
            <a:r>
              <a:rPr lang="en-US" dirty="0"/>
              <a:t>500 </a:t>
            </a:r>
            <a:r>
              <a:rPr lang="en-US" dirty="0" err="1"/>
              <a:t>ms</a:t>
            </a:r>
            <a:endParaRPr lang="th-TH" dirty="0"/>
          </a:p>
        </p:txBody>
      </p:sp>
      <p:sp>
        <p:nvSpPr>
          <p:cNvPr id="9" name="TextBox 8">
            <a:extLst>
              <a:ext uri="{FF2B5EF4-FFF2-40B4-BE49-F238E27FC236}">
                <a16:creationId xmlns:a16="http://schemas.microsoft.com/office/drawing/2014/main" id="{9155D04B-C144-465D-BF00-461D73D0A99A}"/>
              </a:ext>
            </a:extLst>
          </p:cNvPr>
          <p:cNvSpPr txBox="1"/>
          <p:nvPr/>
        </p:nvSpPr>
        <p:spPr>
          <a:xfrm>
            <a:off x="5960533" y="2157772"/>
            <a:ext cx="941283" cy="369332"/>
          </a:xfrm>
          <a:prstGeom prst="rect">
            <a:avLst/>
          </a:prstGeom>
          <a:noFill/>
        </p:spPr>
        <p:txBody>
          <a:bodyPr wrap="none" rtlCol="0">
            <a:spAutoFit/>
          </a:bodyPr>
          <a:lstStyle/>
          <a:p>
            <a:r>
              <a:rPr lang="en-US" dirty="0"/>
              <a:t>200 </a:t>
            </a:r>
            <a:r>
              <a:rPr lang="en-US" dirty="0" err="1"/>
              <a:t>ms</a:t>
            </a:r>
            <a:endParaRPr lang="th-TH" dirty="0"/>
          </a:p>
        </p:txBody>
      </p:sp>
      <p:sp>
        <p:nvSpPr>
          <p:cNvPr id="11" name="TextBox 10">
            <a:extLst>
              <a:ext uri="{FF2B5EF4-FFF2-40B4-BE49-F238E27FC236}">
                <a16:creationId xmlns:a16="http://schemas.microsoft.com/office/drawing/2014/main" id="{DFCF06A7-BE4D-48F1-AF5F-CF8BD73C66F6}"/>
              </a:ext>
            </a:extLst>
          </p:cNvPr>
          <p:cNvSpPr txBox="1"/>
          <p:nvPr/>
        </p:nvSpPr>
        <p:spPr>
          <a:xfrm>
            <a:off x="7005020" y="1890876"/>
            <a:ext cx="941283" cy="369332"/>
          </a:xfrm>
          <a:prstGeom prst="rect">
            <a:avLst/>
          </a:prstGeom>
          <a:noFill/>
        </p:spPr>
        <p:txBody>
          <a:bodyPr wrap="none" rtlCol="0">
            <a:spAutoFit/>
          </a:bodyPr>
          <a:lstStyle/>
          <a:p>
            <a:r>
              <a:rPr lang="en-US" dirty="0"/>
              <a:t>500 </a:t>
            </a:r>
            <a:r>
              <a:rPr lang="en-US" dirty="0" err="1"/>
              <a:t>ms</a:t>
            </a:r>
            <a:endParaRPr lang="th-TH" dirty="0"/>
          </a:p>
        </p:txBody>
      </p:sp>
      <p:sp>
        <p:nvSpPr>
          <p:cNvPr id="13" name="TextBox 12">
            <a:extLst>
              <a:ext uri="{FF2B5EF4-FFF2-40B4-BE49-F238E27FC236}">
                <a16:creationId xmlns:a16="http://schemas.microsoft.com/office/drawing/2014/main" id="{623905E5-E91C-4BC2-BB18-474015408A33}"/>
              </a:ext>
            </a:extLst>
          </p:cNvPr>
          <p:cNvSpPr txBox="1"/>
          <p:nvPr/>
        </p:nvSpPr>
        <p:spPr>
          <a:xfrm>
            <a:off x="8323442" y="4341925"/>
            <a:ext cx="3590919" cy="369332"/>
          </a:xfrm>
          <a:prstGeom prst="rect">
            <a:avLst/>
          </a:prstGeom>
          <a:noFill/>
        </p:spPr>
        <p:txBody>
          <a:bodyPr wrap="none" rtlCol="0">
            <a:spAutoFit/>
          </a:bodyPr>
          <a:lstStyle/>
          <a:p>
            <a:r>
              <a:rPr lang="en-US" dirty="0"/>
              <a:t>Total latency is 1300 milliseconds </a:t>
            </a:r>
            <a:endParaRPr lang="th-TH" dirty="0"/>
          </a:p>
        </p:txBody>
      </p:sp>
    </p:spTree>
    <p:extLst>
      <p:ext uri="{BB962C8B-B14F-4D97-AF65-F5344CB8AC3E}">
        <p14:creationId xmlns:p14="http://schemas.microsoft.com/office/powerpoint/2010/main" val="164808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out LoRa">
            <a:extLst>
              <a:ext uri="{FF2B5EF4-FFF2-40B4-BE49-F238E27FC236}">
                <a16:creationId xmlns:a16="http://schemas.microsoft.com/office/drawing/2014/main" id="{C77E631E-B039-4BB6-8E14-71995219CE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9065" y="3609474"/>
            <a:ext cx="4451503" cy="318358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err="1">
                <a:solidFill>
                  <a:schemeClr val="tx1"/>
                </a:solidFill>
              </a:rPr>
              <a:t>LoRa</a:t>
            </a:r>
            <a:r>
              <a:rPr lang="en-US" dirty="0">
                <a:solidFill>
                  <a:schemeClr val="tx1"/>
                </a:solidFill>
              </a:rPr>
              <a:t> network</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754326"/>
          </a:xfrm>
          <a:prstGeom prst="rect">
            <a:avLst/>
          </a:prstGeom>
          <a:noFill/>
        </p:spPr>
        <p:txBody>
          <a:bodyPr wrap="square" rtlCol="0">
            <a:spAutoFit/>
          </a:bodyPr>
          <a:lstStyle/>
          <a:p>
            <a:pPr marL="342900" indent="-342900" algn="thaiDist">
              <a:buFont typeface="Arial" panose="020B0604020202020204" pitchFamily="34" charset="0"/>
              <a:buChar char="•"/>
            </a:pPr>
            <a:r>
              <a:rPr lang="en-US" dirty="0" err="1"/>
              <a:t>LoRa</a:t>
            </a:r>
            <a:r>
              <a:rPr lang="en-US" dirty="0"/>
              <a:t> (Long Range) is a long-range wireless communication technology with chirp spread spectrum modulation.</a:t>
            </a:r>
          </a:p>
          <a:p>
            <a:pPr marL="342900" indent="-342900" algn="thaiDist">
              <a:buFont typeface="Arial" panose="020B0604020202020204" pitchFamily="34" charset="0"/>
              <a:buChar char="•"/>
            </a:pPr>
            <a:r>
              <a:rPr lang="en-US" dirty="0"/>
              <a:t>It has been developed for Internet of Things (IoT) applications for long-distance and low power consumption.</a:t>
            </a:r>
          </a:p>
          <a:p>
            <a:pPr marL="342900" indent="-342900" algn="thaiDist">
              <a:buFont typeface="Arial" panose="020B0604020202020204" pitchFamily="34" charset="0"/>
              <a:buChar char="•"/>
            </a:pPr>
            <a:r>
              <a:rPr lang="en-US" dirty="0"/>
              <a:t>Some authors proposed </a:t>
            </a:r>
            <a:r>
              <a:rPr lang="en-US" dirty="0" err="1"/>
              <a:t>LoRa</a:t>
            </a:r>
            <a:r>
              <a:rPr lang="en-US" dirty="0"/>
              <a:t> protocols such as </a:t>
            </a:r>
            <a:r>
              <a:rPr lang="en-US" dirty="0" err="1"/>
              <a:t>LoRaWAN</a:t>
            </a:r>
            <a:r>
              <a:rPr lang="en-US" dirty="0"/>
              <a:t>, </a:t>
            </a:r>
            <a:r>
              <a:rPr lang="en-US" dirty="0" err="1"/>
              <a:t>LoRaBlink</a:t>
            </a:r>
            <a:r>
              <a:rPr lang="en-US" dirty="0"/>
              <a:t>, DQ-</a:t>
            </a:r>
            <a:r>
              <a:rPr lang="en-US" dirty="0" err="1"/>
              <a:t>LoRa</a:t>
            </a:r>
            <a:r>
              <a:rPr lang="en-US" dirty="0"/>
              <a:t> and the multi-hop </a:t>
            </a:r>
            <a:r>
              <a:rPr lang="en-US" dirty="0" err="1"/>
              <a:t>LoRa</a:t>
            </a:r>
            <a:r>
              <a:rPr lang="en-US" dirty="0"/>
              <a:t> network with linear topology.</a:t>
            </a:r>
            <a:endParaRPr lang="th-TH" dirty="0"/>
          </a:p>
        </p:txBody>
      </p:sp>
    </p:spTree>
    <p:extLst>
      <p:ext uri="{BB962C8B-B14F-4D97-AF65-F5344CB8AC3E}">
        <p14:creationId xmlns:p14="http://schemas.microsoft.com/office/powerpoint/2010/main" val="1026180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challenge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923330"/>
          </a:xfrm>
          <a:prstGeom prst="rect">
            <a:avLst/>
          </a:prstGeom>
          <a:noFill/>
        </p:spPr>
        <p:txBody>
          <a:bodyPr wrap="square" rtlCol="0">
            <a:spAutoFit/>
          </a:bodyPr>
          <a:lstStyle/>
          <a:p>
            <a:pPr marL="342900" indent="-342900" algn="thaiDist">
              <a:buFont typeface="+mj-lt"/>
              <a:buAutoNum type="arabicPeriod"/>
            </a:pPr>
            <a:r>
              <a:rPr lang="en-US" dirty="0"/>
              <a:t>The latency of </a:t>
            </a:r>
            <a:r>
              <a:rPr lang="en-US" dirty="0" err="1"/>
              <a:t>LoRa</a:t>
            </a:r>
            <a:r>
              <a:rPr lang="en-US" dirty="0"/>
              <a:t> technology is much longer than other wireless sensor network technologies.</a:t>
            </a:r>
          </a:p>
          <a:p>
            <a:pPr marL="342900" indent="-342900" algn="thaiDist">
              <a:buFont typeface="+mj-lt"/>
              <a:buAutoNum type="arabicPeriod"/>
            </a:pPr>
            <a:r>
              <a:rPr lang="en-US" dirty="0"/>
              <a:t>Some multi-hop network protocol not suitable for very low bandwidths such as </a:t>
            </a:r>
            <a:r>
              <a:rPr lang="en-US" dirty="0" err="1"/>
              <a:t>LoRa</a:t>
            </a:r>
            <a:r>
              <a:rPr lang="en-US" dirty="0"/>
              <a:t>.</a:t>
            </a:r>
          </a:p>
          <a:p>
            <a:pPr marL="342900" indent="-342900" algn="thaiDist">
              <a:buFont typeface="+mj-lt"/>
              <a:buAutoNum type="arabicPeriod"/>
            </a:pPr>
            <a:endParaRPr lang="th-TH" dirty="0"/>
          </a:p>
        </p:txBody>
      </p:sp>
    </p:spTree>
    <p:extLst>
      <p:ext uri="{BB962C8B-B14F-4D97-AF65-F5344CB8AC3E}">
        <p14:creationId xmlns:p14="http://schemas.microsoft.com/office/powerpoint/2010/main" val="1473426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Objective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this paper proposed a </a:t>
            </a:r>
            <a:r>
              <a:rPr lang="en-US" b="1" u="sng" dirty="0"/>
              <a:t>minimized latency multi-hop </a:t>
            </a:r>
            <a:r>
              <a:rPr lang="en-US" b="1" u="sng" dirty="0" err="1"/>
              <a:t>LoRa</a:t>
            </a:r>
            <a:r>
              <a:rPr lang="en-US" b="1" u="sng" dirty="0"/>
              <a:t> protocol</a:t>
            </a:r>
            <a:r>
              <a:rPr lang="en-US" b="1" dirty="0"/>
              <a:t> </a:t>
            </a:r>
            <a:r>
              <a:rPr lang="en-US" dirty="0"/>
              <a:t>for monitoring and controlling applications over long-distance and low power consumption.</a:t>
            </a:r>
            <a:endParaRPr lang="th-TH" dirty="0"/>
          </a:p>
        </p:txBody>
      </p:sp>
    </p:spTree>
    <p:extLst>
      <p:ext uri="{BB962C8B-B14F-4D97-AF65-F5344CB8AC3E}">
        <p14:creationId xmlns:p14="http://schemas.microsoft.com/office/powerpoint/2010/main" val="3063188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scope of the study</a:t>
            </a:r>
            <a:endParaRPr lang="th-TH" dirty="0">
              <a:solidFill>
                <a:schemeClr val="tx1"/>
              </a:solidFill>
            </a:endParaRPr>
          </a:p>
        </p:txBody>
      </p:sp>
      <p:pic>
        <p:nvPicPr>
          <p:cNvPr id="4" name="Picture 3">
            <a:extLst>
              <a:ext uri="{FF2B5EF4-FFF2-40B4-BE49-F238E27FC236}">
                <a16:creationId xmlns:a16="http://schemas.microsoft.com/office/drawing/2014/main" id="{C13DBFE4-916C-4781-BE39-61717FB1D035}"/>
              </a:ext>
            </a:extLst>
          </p:cNvPr>
          <p:cNvPicPr>
            <a:picLocks noChangeAspect="1"/>
          </p:cNvPicPr>
          <p:nvPr/>
        </p:nvPicPr>
        <p:blipFill>
          <a:blip r:embed="rId3"/>
          <a:stretch>
            <a:fillRect/>
          </a:stretch>
        </p:blipFill>
        <p:spPr>
          <a:xfrm>
            <a:off x="8143708" y="3150804"/>
            <a:ext cx="3467100" cy="3421480"/>
          </a:xfrm>
          <a:prstGeom prst="rect">
            <a:avLst/>
          </a:prstGeom>
        </p:spPr>
      </p:pic>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031325"/>
          </a:xfrm>
          <a:prstGeom prst="rect">
            <a:avLst/>
          </a:prstGeom>
          <a:noFill/>
        </p:spPr>
        <p:txBody>
          <a:bodyPr wrap="square" rtlCol="0">
            <a:spAutoFit/>
          </a:bodyPr>
          <a:lstStyle/>
          <a:p>
            <a:pPr algn="thaiDist"/>
            <a:r>
              <a:rPr lang="en-US" b="1" u="sng" dirty="0"/>
              <a:t>Network Model</a:t>
            </a:r>
          </a:p>
          <a:p>
            <a:pPr marL="342900" indent="-342900" algn="thaiDist">
              <a:buFont typeface="+mj-lt"/>
              <a:buAutoNum type="arabicPeriod"/>
            </a:pPr>
            <a:r>
              <a:rPr lang="en-US" dirty="0"/>
              <a:t>The Low Power Wide Area Network (LP-WAN) consists of one sink node and several sensor nodes for tree topology.</a:t>
            </a:r>
          </a:p>
          <a:p>
            <a:pPr marL="342900" indent="-342900" algn="thaiDist">
              <a:buFont typeface="+mj-lt"/>
              <a:buAutoNum type="arabicPeriod"/>
            </a:pPr>
            <a:r>
              <a:rPr lang="en-US" dirty="0"/>
              <a:t>All nodes are assigned identification numbers (IDs) during network configuration.</a:t>
            </a:r>
          </a:p>
          <a:p>
            <a:pPr marL="342900" indent="-342900" algn="thaiDist">
              <a:buFont typeface="+mj-lt"/>
              <a:buAutoNum type="arabicPeriod"/>
            </a:pPr>
            <a:r>
              <a:rPr lang="en-US" dirty="0"/>
              <a:t>All sensor nodes transmit data to a sink (s) periodically along the tree path.</a:t>
            </a:r>
          </a:p>
          <a:p>
            <a:pPr marL="342900" indent="-342900" algn="thaiDist">
              <a:buFont typeface="+mj-lt"/>
              <a:buAutoNum type="arabicPeriod"/>
            </a:pPr>
            <a:r>
              <a:rPr lang="en-US" dirty="0"/>
              <a:t>Two nodes have a link, if they can transmit directly to each other.</a:t>
            </a:r>
          </a:p>
          <a:p>
            <a:pPr marL="342900" indent="-342900" algn="thaiDist">
              <a:buFont typeface="+mj-lt"/>
              <a:buAutoNum type="arabicPeriod"/>
            </a:pPr>
            <a:r>
              <a:rPr lang="en-US" dirty="0"/>
              <a:t>A link on which a child and parent node communicates together is tree link.</a:t>
            </a:r>
            <a:endParaRPr lang="th-TH" dirty="0"/>
          </a:p>
        </p:txBody>
      </p:sp>
      <p:sp>
        <p:nvSpPr>
          <p:cNvPr id="5" name="Callout: Left Arrow 4">
            <a:extLst>
              <a:ext uri="{FF2B5EF4-FFF2-40B4-BE49-F238E27FC236}">
                <a16:creationId xmlns:a16="http://schemas.microsoft.com/office/drawing/2014/main" id="{AE2EC9C4-B0A1-4E3B-8AC9-49FF68CE880B}"/>
              </a:ext>
            </a:extLst>
          </p:cNvPr>
          <p:cNvSpPr/>
          <p:nvPr/>
        </p:nvSpPr>
        <p:spPr>
          <a:xfrm>
            <a:off x="10191793" y="3218915"/>
            <a:ext cx="1419015" cy="420169"/>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sink</a:t>
            </a:r>
            <a:endParaRPr lang="th-TH" dirty="0"/>
          </a:p>
        </p:txBody>
      </p:sp>
    </p:spTree>
    <p:extLst>
      <p:ext uri="{BB962C8B-B14F-4D97-AF65-F5344CB8AC3E}">
        <p14:creationId xmlns:p14="http://schemas.microsoft.com/office/powerpoint/2010/main" val="1832073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scope of the study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308324"/>
          </a:xfrm>
          <a:prstGeom prst="rect">
            <a:avLst/>
          </a:prstGeom>
          <a:noFill/>
        </p:spPr>
        <p:txBody>
          <a:bodyPr wrap="square" rtlCol="0">
            <a:spAutoFit/>
          </a:bodyPr>
          <a:lstStyle/>
          <a:p>
            <a:pPr algn="thaiDist"/>
            <a:r>
              <a:rPr lang="en-US" b="1" u="sng" dirty="0"/>
              <a:t>Protocol Model</a:t>
            </a:r>
          </a:p>
          <a:p>
            <a:pPr marL="342900" indent="-342900" algn="thaiDist">
              <a:buFont typeface="+mj-lt"/>
              <a:buAutoNum type="arabicPeriod"/>
            </a:pPr>
            <a:r>
              <a:rPr lang="en-US" dirty="0"/>
              <a:t>The protocol model is based on Time Division Multiple Access (TDMA) mechanism.</a:t>
            </a:r>
          </a:p>
          <a:p>
            <a:pPr marL="342900" indent="-342900" algn="thaiDist">
              <a:buFont typeface="+mj-lt"/>
              <a:buAutoNum type="arabicPeriod"/>
            </a:pPr>
            <a:r>
              <a:rPr lang="en-US" dirty="0"/>
              <a:t>All nodes in the network are assigned timeslot and channel (radio frequency) to communicate. These timeslot and channel are collision-free with the neighboring node.</a:t>
            </a:r>
          </a:p>
          <a:p>
            <a:pPr marL="342900" indent="-342900" algn="thaiDist">
              <a:buFont typeface="+mj-lt"/>
              <a:buAutoNum type="arabicPeriod"/>
            </a:pPr>
            <a:r>
              <a:rPr lang="en-US" dirty="0"/>
              <a:t>In the data transmission period, the child node transmits the data packet to its parent node based on the timeslot and channel.</a:t>
            </a:r>
          </a:p>
          <a:p>
            <a:pPr marL="342900" indent="-342900" algn="thaiDist">
              <a:buFont typeface="+mj-lt"/>
              <a:buAutoNum type="arabicPeriod"/>
            </a:pPr>
            <a:r>
              <a:rPr lang="en-US" dirty="0"/>
              <a:t>After receiving the data packet from all child nodes, the parent node combines all child nodes’ data with its own data and then transmits that to its parent node.</a:t>
            </a:r>
          </a:p>
        </p:txBody>
      </p:sp>
    </p:spTree>
    <p:extLst>
      <p:ext uri="{BB962C8B-B14F-4D97-AF65-F5344CB8AC3E}">
        <p14:creationId xmlns:p14="http://schemas.microsoft.com/office/powerpoint/2010/main" val="3600309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Research methodology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3365537"/>
          </a:xfrm>
          <a:prstGeom prst="rect">
            <a:avLst/>
          </a:prstGeom>
          <a:noFill/>
        </p:spPr>
        <p:txBody>
          <a:bodyPr wrap="square" rtlCol="0">
            <a:spAutoFit/>
          </a:bodyPr>
          <a:lstStyle/>
          <a:p>
            <a:pPr algn="thaiDist">
              <a:lnSpc>
                <a:spcPct val="150000"/>
              </a:lnSpc>
            </a:pPr>
            <a:r>
              <a:rPr lang="en-US" dirty="0"/>
              <a:t>The minimized latency Multi-hop </a:t>
            </a:r>
            <a:r>
              <a:rPr lang="en-US" dirty="0" err="1"/>
              <a:t>LoRa</a:t>
            </a:r>
            <a:r>
              <a:rPr lang="en-US" dirty="0"/>
              <a:t> protocol has 3 key features.</a:t>
            </a:r>
          </a:p>
          <a:p>
            <a:pPr marL="285750" indent="-285750" algn="thaiDist">
              <a:lnSpc>
                <a:spcPct val="150000"/>
              </a:lnSpc>
              <a:buFont typeface="Arial" panose="020B0604020202020204" pitchFamily="34" charset="0"/>
              <a:buChar char="•"/>
            </a:pPr>
            <a:r>
              <a:rPr lang="en-US" b="1" dirty="0"/>
              <a:t>Distributed Aggregation Scheduling: </a:t>
            </a:r>
            <a:r>
              <a:rPr lang="en-US" dirty="0"/>
              <a:t>all the nodes in the network make the schedule without all network topology information. they only know their neighbor nodes’ information.</a:t>
            </a:r>
          </a:p>
          <a:p>
            <a:pPr marL="285750" indent="-285750" algn="thaiDist">
              <a:lnSpc>
                <a:spcPct val="150000"/>
              </a:lnSpc>
              <a:buFont typeface="Arial" panose="020B0604020202020204" pitchFamily="34" charset="0"/>
              <a:buChar char="•"/>
            </a:pPr>
            <a:r>
              <a:rPr lang="en-US" b="1" dirty="0"/>
              <a:t>Parallel Transmissions: </a:t>
            </a:r>
            <a:r>
              <a:rPr lang="en-US" dirty="0"/>
              <a:t>the proposed protocol allows parallel non-conflicting transmission in the network. This approach reduces the latency in the network and minimizes the number of timeslots that are assigned to all the links in the network.</a:t>
            </a:r>
          </a:p>
          <a:p>
            <a:pPr marL="285750" indent="-285750" algn="thaiDist">
              <a:lnSpc>
                <a:spcPct val="150000"/>
              </a:lnSpc>
              <a:buFont typeface="Arial" panose="020B0604020202020204" pitchFamily="34" charset="0"/>
              <a:buChar char="•"/>
            </a:pPr>
            <a:r>
              <a:rPr lang="en-US" b="1" dirty="0"/>
              <a:t>Minimize Packet Size: </a:t>
            </a:r>
            <a:r>
              <a:rPr lang="en-US" dirty="0"/>
              <a:t>in the proposed protocol, based on the choice of parent, the packet sizes at the nodes will be minimized.</a:t>
            </a:r>
          </a:p>
        </p:txBody>
      </p:sp>
    </p:spTree>
    <p:extLst>
      <p:ext uri="{BB962C8B-B14F-4D97-AF65-F5344CB8AC3E}">
        <p14:creationId xmlns:p14="http://schemas.microsoft.com/office/powerpoint/2010/main" val="3144423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Minimized Latency Multi-hop </a:t>
            </a:r>
            <a:r>
              <a:rPr lang="en-US" dirty="0" err="1"/>
              <a:t>LoRa</a:t>
            </a:r>
            <a:r>
              <a:rPr lang="en-US" dirty="0"/>
              <a:t> Network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00329"/>
          </a:xfrm>
          <a:prstGeom prst="rect">
            <a:avLst/>
          </a:prstGeom>
          <a:noFill/>
        </p:spPr>
        <p:txBody>
          <a:bodyPr wrap="square" rtlCol="0">
            <a:spAutoFit/>
          </a:bodyPr>
          <a:lstStyle/>
          <a:p>
            <a:pPr algn="thaiDist"/>
            <a:r>
              <a:rPr lang="en-US" dirty="0"/>
              <a:t>	The proposed protocol consists of 3 periods</a:t>
            </a:r>
          </a:p>
          <a:p>
            <a:pPr marL="342900" indent="-342900" algn="thaiDist">
              <a:buFont typeface="+mj-lt"/>
              <a:buAutoNum type="arabicPeriod"/>
            </a:pPr>
            <a:r>
              <a:rPr lang="en-US" dirty="0"/>
              <a:t>The network construction period (NCP)</a:t>
            </a:r>
          </a:p>
          <a:p>
            <a:pPr marL="342900" indent="-342900" algn="thaiDist">
              <a:buFont typeface="+mj-lt"/>
              <a:buAutoNum type="arabicPeriod"/>
            </a:pPr>
            <a:r>
              <a:rPr lang="en-US" dirty="0"/>
              <a:t>The upward transmission period (UTP) </a:t>
            </a:r>
          </a:p>
          <a:p>
            <a:pPr marL="342900" indent="-342900" algn="thaiDist">
              <a:buFont typeface="+mj-lt"/>
              <a:buAutoNum type="arabicPeriod"/>
            </a:pPr>
            <a:r>
              <a:rPr lang="en-US" dirty="0"/>
              <a:t>The downward transmission period (DTP)</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8" name="Rectangle 7">
            <a:extLst>
              <a:ext uri="{FF2B5EF4-FFF2-40B4-BE49-F238E27FC236}">
                <a16:creationId xmlns:a16="http://schemas.microsoft.com/office/drawing/2014/main" id="{31C4017B-65D0-4A1F-994D-0D1F9EF642A3}"/>
              </a:ext>
            </a:extLst>
          </p:cNvPr>
          <p:cNvSpPr/>
          <p:nvPr/>
        </p:nvSpPr>
        <p:spPr>
          <a:xfrm>
            <a:off x="3357981" y="4876800"/>
            <a:ext cx="2158999"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Tree>
    <p:extLst>
      <p:ext uri="{BB962C8B-B14F-4D97-AF65-F5344CB8AC3E}">
        <p14:creationId xmlns:p14="http://schemas.microsoft.com/office/powerpoint/2010/main" val="3784555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Major cycles (MC)</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After constructing a tree network (NCP), data transmission cycles, called major cycles (MCs), are repeated and each MC consists of UTP and DTP</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8" name="Rectangle 7">
            <a:extLst>
              <a:ext uri="{FF2B5EF4-FFF2-40B4-BE49-F238E27FC236}">
                <a16:creationId xmlns:a16="http://schemas.microsoft.com/office/drawing/2014/main" id="{31C4017B-65D0-4A1F-994D-0D1F9EF642A3}"/>
              </a:ext>
            </a:extLst>
          </p:cNvPr>
          <p:cNvSpPr/>
          <p:nvPr/>
        </p:nvSpPr>
        <p:spPr>
          <a:xfrm>
            <a:off x="3357981" y="4876800"/>
            <a:ext cx="2158999"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9" name="Rectangle 8">
            <a:extLst>
              <a:ext uri="{FF2B5EF4-FFF2-40B4-BE49-F238E27FC236}">
                <a16:creationId xmlns:a16="http://schemas.microsoft.com/office/drawing/2014/main" id="{44D627FD-8922-472F-AB6E-BBEDB1EA7EE0}"/>
              </a:ext>
            </a:extLst>
          </p:cNvPr>
          <p:cNvSpPr/>
          <p:nvPr/>
        </p:nvSpPr>
        <p:spPr>
          <a:xfrm>
            <a:off x="3193445" y="3669460"/>
            <a:ext cx="3351733" cy="1682186"/>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630709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The upward transmission period (UTP)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UTP is a period for each node to transmit its data to the sink. It consist of N UTCs (Upward Transmission Cycles), where each </a:t>
            </a:r>
            <a:r>
              <a:rPr lang="en-US" dirty="0" err="1"/>
              <a:t>LoRa</a:t>
            </a:r>
            <a:r>
              <a:rPr lang="en-US" dirty="0"/>
              <a:t> nodes transmits one data to the sink.</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3" name="Rectangle 2">
            <a:extLst>
              <a:ext uri="{FF2B5EF4-FFF2-40B4-BE49-F238E27FC236}">
                <a16:creationId xmlns:a16="http://schemas.microsoft.com/office/drawing/2014/main" id="{8F75F043-D0AA-421E-A29B-210D04869BEB}"/>
              </a:ext>
            </a:extLst>
          </p:cNvPr>
          <p:cNvSpPr/>
          <p:nvPr/>
        </p:nvSpPr>
        <p:spPr>
          <a:xfrm>
            <a:off x="3305175" y="4829175"/>
            <a:ext cx="2265782" cy="44238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199531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The downward transmission period (DTP)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After UTP, there is one DTC (Downward Transmission Cycle) , for the sink to transmit a command to the </a:t>
            </a:r>
            <a:r>
              <a:rPr lang="en-US" dirty="0" err="1"/>
              <a:t>LoRa</a:t>
            </a:r>
            <a:r>
              <a:rPr lang="en-US" dirty="0"/>
              <a:t> nodes.</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5" name="Rectangle 4">
            <a:extLst>
              <a:ext uri="{FF2B5EF4-FFF2-40B4-BE49-F238E27FC236}">
                <a16:creationId xmlns:a16="http://schemas.microsoft.com/office/drawing/2014/main" id="{6B8199A0-3E4E-40F4-8473-D0ED36DF5439}"/>
              </a:ext>
            </a:extLst>
          </p:cNvPr>
          <p:cNvSpPr/>
          <p:nvPr/>
        </p:nvSpPr>
        <p:spPr>
          <a:xfrm>
            <a:off x="5469798" y="4829175"/>
            <a:ext cx="979907" cy="44238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580950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Example</a:t>
            </a:r>
            <a:endParaRPr lang="th-TH" dirty="0">
              <a:solidFill>
                <a:schemeClr val="tx1"/>
              </a:solidFill>
            </a:endParaRPr>
          </a:p>
        </p:txBody>
      </p:sp>
      <p:pic>
        <p:nvPicPr>
          <p:cNvPr id="4" name="Picture 3">
            <a:extLst>
              <a:ext uri="{FF2B5EF4-FFF2-40B4-BE49-F238E27FC236}">
                <a16:creationId xmlns:a16="http://schemas.microsoft.com/office/drawing/2014/main" id="{191C2B10-A83C-48B6-875C-6702F93FBB1E}"/>
              </a:ext>
            </a:extLst>
          </p:cNvPr>
          <p:cNvPicPr>
            <a:picLocks noChangeAspect="1"/>
          </p:cNvPicPr>
          <p:nvPr/>
        </p:nvPicPr>
        <p:blipFill>
          <a:blip r:embed="rId3"/>
          <a:stretch>
            <a:fillRect/>
          </a:stretch>
        </p:blipFill>
        <p:spPr>
          <a:xfrm>
            <a:off x="2850356" y="667828"/>
            <a:ext cx="6491288" cy="2761172"/>
          </a:xfrm>
          <a:prstGeom prst="rect">
            <a:avLst/>
          </a:prstGeom>
        </p:spPr>
      </p:pic>
      <p:sp>
        <p:nvSpPr>
          <p:cNvPr id="9" name="TextBox 8">
            <a:extLst>
              <a:ext uri="{FF2B5EF4-FFF2-40B4-BE49-F238E27FC236}">
                <a16:creationId xmlns:a16="http://schemas.microsoft.com/office/drawing/2014/main" id="{AF60CB29-7D45-4220-93C3-F2774E892237}"/>
              </a:ext>
            </a:extLst>
          </p:cNvPr>
          <p:cNvSpPr txBox="1"/>
          <p:nvPr/>
        </p:nvSpPr>
        <p:spPr>
          <a:xfrm>
            <a:off x="7496175" y="1050295"/>
            <a:ext cx="923925" cy="246221"/>
          </a:xfrm>
          <a:prstGeom prst="rect">
            <a:avLst/>
          </a:prstGeom>
          <a:noFill/>
        </p:spPr>
        <p:txBody>
          <a:bodyPr wrap="square" rtlCol="0">
            <a:spAutoFit/>
          </a:bodyPr>
          <a:lstStyle/>
          <a:p>
            <a:r>
              <a:rPr lang="en-US" sz="1000" dirty="0"/>
              <a:t>Ch0,T5</a:t>
            </a:r>
            <a:endParaRPr lang="th-TH" sz="1000" dirty="0"/>
          </a:p>
        </p:txBody>
      </p:sp>
      <p:sp>
        <p:nvSpPr>
          <p:cNvPr id="12" name="TextBox 11">
            <a:extLst>
              <a:ext uri="{FF2B5EF4-FFF2-40B4-BE49-F238E27FC236}">
                <a16:creationId xmlns:a16="http://schemas.microsoft.com/office/drawing/2014/main" id="{377F92D3-AA48-4A06-8F16-26C258CA85B8}"/>
              </a:ext>
            </a:extLst>
          </p:cNvPr>
          <p:cNvSpPr txBox="1"/>
          <p:nvPr/>
        </p:nvSpPr>
        <p:spPr>
          <a:xfrm>
            <a:off x="6372225" y="1073080"/>
            <a:ext cx="923925" cy="246221"/>
          </a:xfrm>
          <a:prstGeom prst="rect">
            <a:avLst/>
          </a:prstGeom>
          <a:noFill/>
        </p:spPr>
        <p:txBody>
          <a:bodyPr wrap="square" rtlCol="0">
            <a:spAutoFit/>
          </a:bodyPr>
          <a:lstStyle/>
          <a:p>
            <a:r>
              <a:rPr lang="en-US" sz="1000" dirty="0"/>
              <a:t>Ch0,T4</a:t>
            </a:r>
            <a:endParaRPr lang="th-TH" sz="1000" dirty="0"/>
          </a:p>
        </p:txBody>
      </p:sp>
      <p:pic>
        <p:nvPicPr>
          <p:cNvPr id="5" name="Picture 4">
            <a:extLst>
              <a:ext uri="{FF2B5EF4-FFF2-40B4-BE49-F238E27FC236}">
                <a16:creationId xmlns:a16="http://schemas.microsoft.com/office/drawing/2014/main" id="{1B6E9C0A-9491-43F7-B9AA-EC90C5B8E2E2}"/>
              </a:ext>
            </a:extLst>
          </p:cNvPr>
          <p:cNvPicPr>
            <a:picLocks noChangeAspect="1"/>
          </p:cNvPicPr>
          <p:nvPr/>
        </p:nvPicPr>
        <p:blipFill>
          <a:blip r:embed="rId4"/>
          <a:stretch>
            <a:fillRect/>
          </a:stretch>
        </p:blipFill>
        <p:spPr>
          <a:xfrm>
            <a:off x="3087290" y="3490500"/>
            <a:ext cx="6017419" cy="3367500"/>
          </a:xfrm>
          <a:prstGeom prst="rect">
            <a:avLst/>
          </a:prstGeom>
        </p:spPr>
      </p:pic>
      <p:sp>
        <p:nvSpPr>
          <p:cNvPr id="6" name="TextBox 5">
            <a:extLst>
              <a:ext uri="{FF2B5EF4-FFF2-40B4-BE49-F238E27FC236}">
                <a16:creationId xmlns:a16="http://schemas.microsoft.com/office/drawing/2014/main" id="{41FD30F3-0A18-4595-89A6-E70402D60B97}"/>
              </a:ext>
            </a:extLst>
          </p:cNvPr>
          <p:cNvSpPr txBox="1"/>
          <p:nvPr/>
        </p:nvSpPr>
        <p:spPr>
          <a:xfrm>
            <a:off x="5929312" y="1952376"/>
            <a:ext cx="923925" cy="246221"/>
          </a:xfrm>
          <a:prstGeom prst="rect">
            <a:avLst/>
          </a:prstGeom>
          <a:noFill/>
        </p:spPr>
        <p:txBody>
          <a:bodyPr wrap="square" rtlCol="0">
            <a:spAutoFit/>
          </a:bodyPr>
          <a:lstStyle/>
          <a:p>
            <a:r>
              <a:rPr lang="en-US" sz="1000" dirty="0"/>
              <a:t>Ch1,T3</a:t>
            </a:r>
            <a:endParaRPr lang="th-TH" sz="1000" dirty="0"/>
          </a:p>
        </p:txBody>
      </p:sp>
      <p:sp>
        <p:nvSpPr>
          <p:cNvPr id="8" name="TextBox 7">
            <a:extLst>
              <a:ext uri="{FF2B5EF4-FFF2-40B4-BE49-F238E27FC236}">
                <a16:creationId xmlns:a16="http://schemas.microsoft.com/office/drawing/2014/main" id="{98C37BAA-7D63-4072-9A52-E4A5656EE68F}"/>
              </a:ext>
            </a:extLst>
          </p:cNvPr>
          <p:cNvSpPr txBox="1"/>
          <p:nvPr/>
        </p:nvSpPr>
        <p:spPr>
          <a:xfrm>
            <a:off x="7386637" y="1850032"/>
            <a:ext cx="923925" cy="246221"/>
          </a:xfrm>
          <a:prstGeom prst="rect">
            <a:avLst/>
          </a:prstGeom>
          <a:noFill/>
        </p:spPr>
        <p:txBody>
          <a:bodyPr wrap="square" rtlCol="0">
            <a:spAutoFit/>
          </a:bodyPr>
          <a:lstStyle/>
          <a:p>
            <a:r>
              <a:rPr lang="en-US" sz="1000" dirty="0"/>
              <a:t>Ch0,T3</a:t>
            </a:r>
            <a:endParaRPr lang="th-TH" sz="1000" dirty="0"/>
          </a:p>
        </p:txBody>
      </p:sp>
      <p:sp>
        <p:nvSpPr>
          <p:cNvPr id="14" name="TextBox 13">
            <a:extLst>
              <a:ext uri="{FF2B5EF4-FFF2-40B4-BE49-F238E27FC236}">
                <a16:creationId xmlns:a16="http://schemas.microsoft.com/office/drawing/2014/main" id="{7ECF7017-FAE1-4E03-BF8A-E1BB8E03F85D}"/>
              </a:ext>
            </a:extLst>
          </p:cNvPr>
          <p:cNvSpPr txBox="1"/>
          <p:nvPr/>
        </p:nvSpPr>
        <p:spPr>
          <a:xfrm>
            <a:off x="7958137" y="1992794"/>
            <a:ext cx="923925" cy="246221"/>
          </a:xfrm>
          <a:prstGeom prst="rect">
            <a:avLst/>
          </a:prstGeom>
          <a:noFill/>
        </p:spPr>
        <p:txBody>
          <a:bodyPr wrap="square" rtlCol="0">
            <a:spAutoFit/>
          </a:bodyPr>
          <a:lstStyle/>
          <a:p>
            <a:r>
              <a:rPr lang="en-US" sz="1000" dirty="0"/>
              <a:t>Ch1,T4</a:t>
            </a:r>
            <a:endParaRPr lang="th-TH" sz="1000" dirty="0"/>
          </a:p>
        </p:txBody>
      </p:sp>
      <p:sp>
        <p:nvSpPr>
          <p:cNvPr id="3" name="Rectangle 2">
            <a:extLst>
              <a:ext uri="{FF2B5EF4-FFF2-40B4-BE49-F238E27FC236}">
                <a16:creationId xmlns:a16="http://schemas.microsoft.com/office/drawing/2014/main" id="{E646D375-E1DD-4EAA-9007-0B22BE8E9C86}"/>
              </a:ext>
            </a:extLst>
          </p:cNvPr>
          <p:cNvSpPr/>
          <p:nvPr/>
        </p:nvSpPr>
        <p:spPr>
          <a:xfrm>
            <a:off x="2492942" y="1828023"/>
            <a:ext cx="1302231" cy="410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Before NCP</a:t>
            </a:r>
            <a:endParaRPr lang="th-TH" dirty="0"/>
          </a:p>
        </p:txBody>
      </p:sp>
      <p:sp>
        <p:nvSpPr>
          <p:cNvPr id="13" name="Rectangle 12">
            <a:extLst>
              <a:ext uri="{FF2B5EF4-FFF2-40B4-BE49-F238E27FC236}">
                <a16:creationId xmlns:a16="http://schemas.microsoft.com/office/drawing/2014/main" id="{15CE1002-7929-40FC-8C62-811CD4A899C1}"/>
              </a:ext>
            </a:extLst>
          </p:cNvPr>
          <p:cNvSpPr/>
          <p:nvPr/>
        </p:nvSpPr>
        <p:spPr>
          <a:xfrm>
            <a:off x="8522879" y="1828023"/>
            <a:ext cx="1302231" cy="410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After NCP</a:t>
            </a:r>
            <a:endParaRPr lang="th-TH" dirty="0"/>
          </a:p>
        </p:txBody>
      </p:sp>
    </p:spTree>
    <p:extLst>
      <p:ext uri="{BB962C8B-B14F-4D97-AF65-F5344CB8AC3E}">
        <p14:creationId xmlns:p14="http://schemas.microsoft.com/office/powerpoint/2010/main" val="1041491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F0BC672-06A4-4DE9-8C14-9295AF5E4C8D}"/>
              </a:ext>
            </a:extLst>
          </p:cNvPr>
          <p:cNvPicPr>
            <a:picLocks noChangeAspect="1"/>
          </p:cNvPicPr>
          <p:nvPr/>
        </p:nvPicPr>
        <p:blipFill>
          <a:blip r:embed="rId3"/>
          <a:stretch>
            <a:fillRect/>
          </a:stretch>
        </p:blipFill>
        <p:spPr>
          <a:xfrm>
            <a:off x="7734019" y="5461364"/>
            <a:ext cx="4093914" cy="1188721"/>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Protocol packets</a:t>
            </a:r>
            <a:endParaRPr lang="th-TH" dirty="0">
              <a:solidFill>
                <a:schemeClr val="tx1"/>
              </a:solidFill>
            </a:endParaRPr>
          </a:p>
        </p:txBody>
      </p:sp>
      <p:pic>
        <p:nvPicPr>
          <p:cNvPr id="5" name="Picture 4">
            <a:extLst>
              <a:ext uri="{FF2B5EF4-FFF2-40B4-BE49-F238E27FC236}">
                <a16:creationId xmlns:a16="http://schemas.microsoft.com/office/drawing/2014/main" id="{D499895E-E870-4F2E-B69F-A5A98A926817}"/>
              </a:ext>
            </a:extLst>
          </p:cNvPr>
          <p:cNvPicPr>
            <a:picLocks noChangeAspect="1"/>
          </p:cNvPicPr>
          <p:nvPr/>
        </p:nvPicPr>
        <p:blipFill>
          <a:blip r:embed="rId4"/>
          <a:stretch>
            <a:fillRect/>
          </a:stretch>
        </p:blipFill>
        <p:spPr>
          <a:xfrm>
            <a:off x="581192" y="2915707"/>
            <a:ext cx="5453971" cy="1317626"/>
          </a:xfrm>
          <a:prstGeom prst="rect">
            <a:avLst/>
          </a:prstGeom>
        </p:spPr>
      </p:pic>
      <p:pic>
        <p:nvPicPr>
          <p:cNvPr id="8" name="Picture 7">
            <a:extLst>
              <a:ext uri="{FF2B5EF4-FFF2-40B4-BE49-F238E27FC236}">
                <a16:creationId xmlns:a16="http://schemas.microsoft.com/office/drawing/2014/main" id="{C6F78F8F-6864-45A0-8949-1D6FDFD861DF}"/>
              </a:ext>
            </a:extLst>
          </p:cNvPr>
          <p:cNvPicPr>
            <a:picLocks noChangeAspect="1"/>
          </p:cNvPicPr>
          <p:nvPr/>
        </p:nvPicPr>
        <p:blipFill>
          <a:blip r:embed="rId5"/>
          <a:stretch>
            <a:fillRect/>
          </a:stretch>
        </p:blipFill>
        <p:spPr>
          <a:xfrm>
            <a:off x="3835400" y="4233333"/>
            <a:ext cx="5665787" cy="1579945"/>
          </a:xfrm>
          <a:prstGeom prst="rect">
            <a:avLst/>
          </a:prstGeom>
        </p:spPr>
      </p:pic>
      <p:sp>
        <p:nvSpPr>
          <p:cNvPr id="11" name="Right Brace 10">
            <a:extLst>
              <a:ext uri="{FF2B5EF4-FFF2-40B4-BE49-F238E27FC236}">
                <a16:creationId xmlns:a16="http://schemas.microsoft.com/office/drawing/2014/main" id="{763924C7-F0A7-4EF9-A01F-B2B6FFB4F06E}"/>
              </a:ext>
            </a:extLst>
          </p:cNvPr>
          <p:cNvSpPr/>
          <p:nvPr/>
        </p:nvSpPr>
        <p:spPr>
          <a:xfrm rot="5400000">
            <a:off x="5750239" y="3619521"/>
            <a:ext cx="609238" cy="4238855"/>
          </a:xfrm>
          <a:prstGeom prst="rightBrace">
            <a:avLst>
              <a:gd name="adj1" fmla="val 8333"/>
              <a:gd name="adj2" fmla="val 5258"/>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3" name="Right Brace 12">
            <a:extLst>
              <a:ext uri="{FF2B5EF4-FFF2-40B4-BE49-F238E27FC236}">
                <a16:creationId xmlns:a16="http://schemas.microsoft.com/office/drawing/2014/main" id="{DEF6E585-8B09-4A22-9D69-18D75A5AA9EC}"/>
              </a:ext>
            </a:extLst>
          </p:cNvPr>
          <p:cNvSpPr/>
          <p:nvPr/>
        </p:nvSpPr>
        <p:spPr>
          <a:xfrm rot="5400000">
            <a:off x="2947100" y="2261302"/>
            <a:ext cx="748091" cy="3839440"/>
          </a:xfrm>
          <a:prstGeom prst="rightBrace">
            <a:avLst>
              <a:gd name="adj1" fmla="val 8333"/>
              <a:gd name="adj2" fmla="val 19592"/>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4" name="TextBox 13">
            <a:extLst>
              <a:ext uri="{FF2B5EF4-FFF2-40B4-BE49-F238E27FC236}">
                <a16:creationId xmlns:a16="http://schemas.microsoft.com/office/drawing/2014/main" id="{8E42B0CE-D809-43E1-A78F-4E45BC5A49E0}"/>
              </a:ext>
            </a:extLst>
          </p:cNvPr>
          <p:cNvSpPr txBox="1"/>
          <p:nvPr/>
        </p:nvSpPr>
        <p:spPr>
          <a:xfrm>
            <a:off x="813516" y="5092032"/>
            <a:ext cx="2691571" cy="369332"/>
          </a:xfrm>
          <a:prstGeom prst="rect">
            <a:avLst/>
          </a:prstGeom>
          <a:noFill/>
        </p:spPr>
        <p:txBody>
          <a:bodyPr wrap="none" rtlCol="0">
            <a:spAutoFit/>
          </a:bodyPr>
          <a:lstStyle/>
          <a:p>
            <a:r>
              <a:rPr lang="en-US" dirty="0"/>
              <a:t>N: Number of </a:t>
            </a:r>
            <a:r>
              <a:rPr lang="en-US" dirty="0" err="1"/>
              <a:t>LoRa</a:t>
            </a:r>
            <a:r>
              <a:rPr lang="en-US" dirty="0"/>
              <a:t> nodes</a:t>
            </a:r>
            <a:endParaRPr lang="th-TH" dirty="0"/>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	In the NCP, each </a:t>
            </a:r>
            <a:r>
              <a:rPr lang="en-US" dirty="0" err="1"/>
              <a:t>LoRa</a:t>
            </a:r>
            <a:r>
              <a:rPr lang="en-US" dirty="0"/>
              <a:t> node joins a multi-hop </a:t>
            </a:r>
            <a:r>
              <a:rPr lang="en-US" dirty="0" err="1"/>
              <a:t>LoRa</a:t>
            </a:r>
            <a:r>
              <a:rPr lang="en-US" dirty="0"/>
              <a:t> network with tree topology and is assigned a channel and time slot to transmit or receive a </a:t>
            </a:r>
            <a:r>
              <a:rPr lang="en-US" dirty="0" err="1"/>
              <a:t>LoRa</a:t>
            </a:r>
            <a:r>
              <a:rPr lang="en-US" dirty="0"/>
              <a:t> packet.</a:t>
            </a:r>
          </a:p>
        </p:txBody>
      </p:sp>
    </p:spTree>
    <p:extLst>
      <p:ext uri="{BB962C8B-B14F-4D97-AF65-F5344CB8AC3E}">
        <p14:creationId xmlns:p14="http://schemas.microsoft.com/office/powerpoint/2010/main" val="398238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9B80AC9-FFD8-4A42-B13A-DBFFA80A6CBD}"/>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65208"/>
          </a:xfrm>
          <a:prstGeom prst="rect">
            <a:avLst/>
          </a:prstGeom>
          <a:noFill/>
        </p:spPr>
        <p:txBody>
          <a:bodyPr wrap="square" rtlCol="0">
            <a:spAutoFit/>
          </a:bodyPr>
          <a:lstStyle/>
          <a:p>
            <a:pPr algn="thaiDist">
              <a:lnSpc>
                <a:spcPct val="150000"/>
              </a:lnSpc>
            </a:pPr>
            <a:r>
              <a:rPr lang="en-US" dirty="0"/>
              <a:t>The sink node first transmits INIT (D, S</a:t>
            </a:r>
            <a:r>
              <a:rPr lang="en-US" baseline="-25000" dirty="0"/>
              <a:t>ID</a:t>
            </a:r>
            <a:r>
              <a:rPr lang="en-US" dirty="0"/>
              <a:t>, Cycle, N).</a:t>
            </a:r>
          </a:p>
          <a:p>
            <a:pPr marL="285750" indent="-285750" algn="thaiDist">
              <a:lnSpc>
                <a:spcPct val="150000"/>
              </a:lnSpc>
              <a:buFont typeface="Arial" panose="020B0604020202020204" pitchFamily="34" charset="0"/>
              <a:buChar char="•"/>
            </a:pPr>
            <a:r>
              <a:rPr lang="en-US" sz="1400" dirty="0"/>
              <a:t>D is the depth of the sender node</a:t>
            </a:r>
          </a:p>
          <a:p>
            <a:pPr marL="285750" indent="-285750" algn="thaiDist">
              <a:lnSpc>
                <a:spcPct val="150000"/>
              </a:lnSpc>
              <a:buFont typeface="Arial" panose="020B0604020202020204" pitchFamily="34" charset="0"/>
              <a:buChar char="•"/>
            </a:pPr>
            <a:r>
              <a:rPr lang="en-US" sz="1400" dirty="0"/>
              <a:t>SID is the node ID of the sender node</a:t>
            </a:r>
          </a:p>
          <a:p>
            <a:pPr marL="285750" indent="-285750" algn="thaiDist">
              <a:lnSpc>
                <a:spcPct val="150000"/>
              </a:lnSpc>
              <a:buFont typeface="Arial" panose="020B0604020202020204" pitchFamily="34" charset="0"/>
              <a:buChar char="•"/>
            </a:pPr>
            <a:r>
              <a:rPr lang="en-US" sz="1400" dirty="0"/>
              <a:t>Cycle is the current cycle number (in which the sender node transmits the INIT packet)</a:t>
            </a:r>
          </a:p>
          <a:p>
            <a:pPr marL="285750" indent="-285750" algn="thaiDist">
              <a:lnSpc>
                <a:spcPct val="150000"/>
              </a:lnSpc>
              <a:buFont typeface="Arial" panose="020B0604020202020204" pitchFamily="34" charset="0"/>
              <a:buChar char="•"/>
            </a:pPr>
            <a:r>
              <a:rPr lang="en-US" sz="1400" dirty="0"/>
              <a:t>N is the number of cycles in the NCP</a:t>
            </a:r>
          </a:p>
          <a:p>
            <a:pPr algn="thaiDist">
              <a:lnSpc>
                <a:spcPct val="150000"/>
              </a:lnSpc>
            </a:pPr>
            <a:r>
              <a:rPr lang="en-US" dirty="0"/>
              <a:t>Each node tries to receive an INIT packet from other nodes.</a:t>
            </a:r>
          </a:p>
        </p:txBody>
      </p:sp>
      <p:sp>
        <p:nvSpPr>
          <p:cNvPr id="13" name="Rectangle 12">
            <a:extLst>
              <a:ext uri="{FF2B5EF4-FFF2-40B4-BE49-F238E27FC236}">
                <a16:creationId xmlns:a16="http://schemas.microsoft.com/office/drawing/2014/main" id="{1B0343FC-2A46-4617-BA50-D3334732691C}"/>
              </a:ext>
            </a:extLst>
          </p:cNvPr>
          <p:cNvSpPr/>
          <p:nvPr/>
        </p:nvSpPr>
        <p:spPr>
          <a:xfrm>
            <a:off x="7715250" y="3883911"/>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sp>
        <p:nvSpPr>
          <p:cNvPr id="15" name="Rectangle 14">
            <a:extLst>
              <a:ext uri="{FF2B5EF4-FFF2-40B4-BE49-F238E27FC236}">
                <a16:creationId xmlns:a16="http://schemas.microsoft.com/office/drawing/2014/main" id="{A27E2728-C741-426C-9EFA-0B524821A8E1}"/>
              </a:ext>
            </a:extLst>
          </p:cNvPr>
          <p:cNvSpPr/>
          <p:nvPr/>
        </p:nvSpPr>
        <p:spPr>
          <a:xfrm>
            <a:off x="10002043" y="3875599"/>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cxnSp>
        <p:nvCxnSpPr>
          <p:cNvPr id="17" name="Straight Arrow Connector 16">
            <a:extLst>
              <a:ext uri="{FF2B5EF4-FFF2-40B4-BE49-F238E27FC236}">
                <a16:creationId xmlns:a16="http://schemas.microsoft.com/office/drawing/2014/main" id="{6EC37339-4CAE-4A9E-88DF-0FC238944D75}"/>
              </a:ext>
            </a:extLst>
          </p:cNvPr>
          <p:cNvCxnSpPr>
            <a:cxnSpLocks/>
          </p:cNvCxnSpPr>
          <p:nvPr/>
        </p:nvCxnSpPr>
        <p:spPr>
          <a:xfrm flipH="1">
            <a:off x="8148637" y="3838105"/>
            <a:ext cx="878284" cy="665537"/>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21" name="Straight Arrow Connector 20">
            <a:extLst>
              <a:ext uri="{FF2B5EF4-FFF2-40B4-BE49-F238E27FC236}">
                <a16:creationId xmlns:a16="http://schemas.microsoft.com/office/drawing/2014/main" id="{C6EB78CE-8E3F-414A-A4DA-A8A13B9969BA}"/>
              </a:ext>
            </a:extLst>
          </p:cNvPr>
          <p:cNvCxnSpPr>
            <a:cxnSpLocks/>
          </p:cNvCxnSpPr>
          <p:nvPr/>
        </p:nvCxnSpPr>
        <p:spPr>
          <a:xfrm>
            <a:off x="9621361" y="3838105"/>
            <a:ext cx="761364" cy="619731"/>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27" name="Picture 26">
            <a:extLst>
              <a:ext uri="{FF2B5EF4-FFF2-40B4-BE49-F238E27FC236}">
                <a16:creationId xmlns:a16="http://schemas.microsoft.com/office/drawing/2014/main" id="{C42A9859-0713-4DF9-9CB0-A7A19EFFEBAF}"/>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28" name="Rectangle 27">
            <a:extLst>
              <a:ext uri="{FF2B5EF4-FFF2-40B4-BE49-F238E27FC236}">
                <a16:creationId xmlns:a16="http://schemas.microsoft.com/office/drawing/2014/main" id="{F62C775E-9D53-4E70-9C14-E40E946FEA26}"/>
              </a:ext>
            </a:extLst>
          </p:cNvPr>
          <p:cNvSpPr/>
          <p:nvPr/>
        </p:nvSpPr>
        <p:spPr>
          <a:xfrm>
            <a:off x="108585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558744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After receiving an INIT packet, the node adds the sender node to the parent list and chooses the optimal parent from the parent list, as explained in the next sub-section.</a:t>
            </a:r>
          </a:p>
        </p:txBody>
      </p:sp>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19" name="Picture 18">
            <a:extLst>
              <a:ext uri="{FF2B5EF4-FFF2-40B4-BE49-F238E27FC236}">
                <a16:creationId xmlns:a16="http://schemas.microsoft.com/office/drawing/2014/main" id="{E63B9DD6-438C-4E4B-BD14-C2EDF8282C2E}"/>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23" name="Rectangle 22">
            <a:extLst>
              <a:ext uri="{FF2B5EF4-FFF2-40B4-BE49-F238E27FC236}">
                <a16:creationId xmlns:a16="http://schemas.microsoft.com/office/drawing/2014/main" id="{5062AEAB-E8CA-4FCB-B368-C8F9F9FB9D62}"/>
              </a:ext>
            </a:extLst>
          </p:cNvPr>
          <p:cNvSpPr/>
          <p:nvPr/>
        </p:nvSpPr>
        <p:spPr>
          <a:xfrm>
            <a:off x="108585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graphicFrame>
        <p:nvGraphicFramePr>
          <p:cNvPr id="11" name="Table 18">
            <a:extLst>
              <a:ext uri="{FF2B5EF4-FFF2-40B4-BE49-F238E27FC236}">
                <a16:creationId xmlns:a16="http://schemas.microsoft.com/office/drawing/2014/main" id="{E08B5EDE-575B-4767-9BAC-B6835CAD3E9A}"/>
              </a:ext>
            </a:extLst>
          </p:cNvPr>
          <p:cNvGraphicFramePr>
            <a:graphicFrameLocks noGrp="1"/>
          </p:cNvGraphicFramePr>
          <p:nvPr>
            <p:extLst>
              <p:ext uri="{D42A27DB-BD31-4B8C-83A1-F6EECF244321}">
                <p14:modId xmlns:p14="http://schemas.microsoft.com/office/powerpoint/2010/main" val="214962849"/>
              </p:ext>
            </p:extLst>
          </p:nvPr>
        </p:nvGraphicFramePr>
        <p:xfrm>
          <a:off x="6483181" y="4516444"/>
          <a:ext cx="1198455" cy="741680"/>
        </p:xfrm>
        <a:graphic>
          <a:graphicData uri="http://schemas.openxmlformats.org/drawingml/2006/table">
            <a:tbl>
              <a:tblPr firstRow="1" bandRow="1">
                <a:tableStyleId>{7DF18680-E054-41AD-8BC1-D1AEF772440D}</a:tableStyleId>
              </a:tblPr>
              <a:tblGrid>
                <a:gridCol w="1198455">
                  <a:extLst>
                    <a:ext uri="{9D8B030D-6E8A-4147-A177-3AD203B41FA5}">
                      <a16:colId xmlns:a16="http://schemas.microsoft.com/office/drawing/2014/main" val="3240980490"/>
                    </a:ext>
                  </a:extLst>
                </a:gridCol>
              </a:tblGrid>
              <a:tr h="370840">
                <a:tc>
                  <a:txBody>
                    <a:bodyPr/>
                    <a:lstStyle/>
                    <a:p>
                      <a:pPr algn="ctr"/>
                      <a:r>
                        <a:rPr lang="en-US" dirty="0"/>
                        <a:t>Parents’ A</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S</a:t>
                      </a:r>
                      <a:endParaRPr lang="th-TH" dirty="0"/>
                    </a:p>
                  </a:txBody>
                  <a:tcPr anchor="ctr"/>
                </a:tc>
                <a:extLst>
                  <a:ext uri="{0D108BD9-81ED-4DB2-BD59-A6C34878D82A}">
                    <a16:rowId xmlns:a16="http://schemas.microsoft.com/office/drawing/2014/main" val="602709536"/>
                  </a:ext>
                </a:extLst>
              </a:tr>
            </a:tbl>
          </a:graphicData>
        </a:graphic>
      </p:graphicFrame>
    </p:spTree>
    <p:extLst>
      <p:ext uri="{BB962C8B-B14F-4D97-AF65-F5344CB8AC3E}">
        <p14:creationId xmlns:p14="http://schemas.microsoft.com/office/powerpoint/2010/main" val="791361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2C15F3-A34B-406B-ABE8-A8DB74850650}"/>
              </a:ext>
            </a:extLst>
          </p:cNvPr>
          <p:cNvGrpSpPr/>
          <p:nvPr/>
        </p:nvGrpSpPr>
        <p:grpSpPr>
          <a:xfrm>
            <a:off x="9238488" y="3943350"/>
            <a:ext cx="2953512" cy="2914650"/>
            <a:chOff x="7486650" y="3308919"/>
            <a:chExt cx="3596402" cy="3549081"/>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a:t>JOIN</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solidFill>
                <a:schemeClr val="accent3"/>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gr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842043"/>
          </a:xfrm>
          <a:prstGeom prst="rect">
            <a:avLst/>
          </a:prstGeom>
          <a:noFill/>
        </p:spPr>
        <p:txBody>
          <a:bodyPr wrap="square" rtlCol="0">
            <a:spAutoFit/>
          </a:bodyPr>
          <a:lstStyle/>
          <a:p>
            <a:pPr algn="thaiDist">
              <a:lnSpc>
                <a:spcPct val="150000"/>
              </a:lnSpc>
            </a:pPr>
            <a:r>
              <a:rPr lang="en-US" dirty="0"/>
              <a:t>Then transmits a JOIN (D, S</a:t>
            </a:r>
            <a:r>
              <a:rPr lang="en-US" baseline="-25000" dirty="0"/>
              <a:t>ID</a:t>
            </a:r>
            <a:r>
              <a:rPr lang="en-US" dirty="0"/>
              <a:t>, R</a:t>
            </a:r>
            <a:r>
              <a:rPr lang="en-US" baseline="-25000" dirty="0"/>
              <a:t>ID</a:t>
            </a:r>
            <a:r>
              <a:rPr lang="en-US" dirty="0"/>
              <a:t>, U</a:t>
            </a:r>
            <a:r>
              <a:rPr lang="en-US" baseline="-25000" dirty="0"/>
              <a:t>C</a:t>
            </a:r>
            <a:r>
              <a:rPr lang="en-US" dirty="0"/>
              <a:t>) packet in the second timeslot (TS</a:t>
            </a:r>
            <a:r>
              <a:rPr lang="en-US" baseline="-25000" dirty="0"/>
              <a:t>2</a:t>
            </a:r>
            <a:r>
              <a:rPr lang="en-US" dirty="0"/>
              <a:t>) of the current cycle. </a:t>
            </a:r>
          </a:p>
          <a:p>
            <a:pPr marL="285750" indent="-285750" algn="thaiDist">
              <a:lnSpc>
                <a:spcPct val="150000"/>
              </a:lnSpc>
              <a:buFont typeface="Arial" panose="020B0604020202020204" pitchFamily="34" charset="0"/>
              <a:buChar char="•"/>
            </a:pPr>
            <a:r>
              <a:rPr lang="en-US" sz="1400" dirty="0"/>
              <a:t>S</a:t>
            </a:r>
            <a:r>
              <a:rPr lang="en-US" sz="1400" baseline="-25000" dirty="0"/>
              <a:t>ID</a:t>
            </a:r>
            <a:r>
              <a:rPr lang="en-US" sz="1400" dirty="0"/>
              <a:t> and R</a:t>
            </a:r>
            <a:r>
              <a:rPr lang="en-US" sz="1400" baseline="-25000" dirty="0"/>
              <a:t>ID</a:t>
            </a:r>
            <a:r>
              <a:rPr lang="en-US" sz="1400" dirty="0"/>
              <a:t> are node IDs of the sender and receiver.</a:t>
            </a:r>
          </a:p>
          <a:p>
            <a:pPr marL="285750" indent="-285750" algn="thaiDist">
              <a:lnSpc>
                <a:spcPct val="150000"/>
              </a:lnSpc>
              <a:buFont typeface="Arial" panose="020B0604020202020204" pitchFamily="34" charset="0"/>
              <a:buChar char="•"/>
            </a:pPr>
            <a:r>
              <a:rPr lang="en-US" sz="1400" dirty="0"/>
              <a:t>U</a:t>
            </a:r>
            <a:r>
              <a:rPr lang="en-US" sz="1400" baseline="-25000" dirty="0"/>
              <a:t>C</a:t>
            </a:r>
            <a:r>
              <a:rPr lang="en-US" sz="1400" dirty="0"/>
              <a:t> is a used cell assignment list (used channels and used timeslots) of its neighbors.</a:t>
            </a:r>
          </a:p>
          <a:p>
            <a:pPr marL="285750" indent="-285750" algn="thaiDist">
              <a:lnSpc>
                <a:spcPct val="150000"/>
              </a:lnSpc>
              <a:buFont typeface="Arial" panose="020B0604020202020204" pitchFamily="34" charset="0"/>
              <a:buChar char="•"/>
            </a:pPr>
            <a:r>
              <a:rPr lang="en-US" sz="1400" dirty="0"/>
              <a:t>U</a:t>
            </a:r>
            <a:r>
              <a:rPr lang="en-US" sz="1400" baseline="-25000" dirty="0"/>
              <a:t>C</a:t>
            </a:r>
            <a:r>
              <a:rPr lang="en-US" sz="1400" dirty="0"/>
              <a:t> is used by the receiver to choose a timeslot and a channel which is collision-free with its neighbors. </a:t>
            </a:r>
          </a:p>
          <a:p>
            <a:pPr algn="thaiDist">
              <a:lnSpc>
                <a:spcPct val="150000"/>
              </a:lnSpc>
            </a:pPr>
            <a:r>
              <a:rPr lang="en-US" dirty="0"/>
              <a:t>In the NCP, each node collects U</a:t>
            </a:r>
            <a:r>
              <a:rPr lang="en-US" baseline="-25000" dirty="0"/>
              <a:t>C</a:t>
            </a:r>
            <a:r>
              <a:rPr lang="en-US" dirty="0"/>
              <a:t> information by overhearing JOIN, CON and ADV packets.</a:t>
            </a:r>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2048385"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3933520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a:t>After receiving INIT, a node transmits the JOIN packet in TS</a:t>
            </a:r>
            <a:r>
              <a:rPr lang="en-US" baseline="-25000" dirty="0"/>
              <a:t>2</a:t>
            </a:r>
            <a:r>
              <a:rPr lang="en-US" dirty="0"/>
              <a:t>, but JOIN packets can collide, as shown in Figure 4a. they propose a </a:t>
            </a:r>
            <a:r>
              <a:rPr lang="en-US" b="1" u="sng" dirty="0"/>
              <a:t>packet collision–avoidance mechanism</a:t>
            </a:r>
            <a:r>
              <a:rPr lang="en-US" dirty="0"/>
              <a:t>, as explained in the next sub-section, to avoid this.</a:t>
            </a:r>
          </a:p>
          <a:p>
            <a:pPr algn="thaiDist">
              <a:lnSpc>
                <a:spcPct val="150000"/>
              </a:lnSpc>
            </a:pPr>
            <a:r>
              <a:rPr lang="en-US" dirty="0"/>
              <a:t>Collisions can happen between JOIN packets and INIT packets, as shown in Figure 4b. If a node loses contention, it tries to retransmit this packet in the next cycle.</a:t>
            </a:r>
          </a:p>
        </p:txBody>
      </p:sp>
      <p:pic>
        <p:nvPicPr>
          <p:cNvPr id="10" name="Picture 9">
            <a:extLst>
              <a:ext uri="{FF2B5EF4-FFF2-40B4-BE49-F238E27FC236}">
                <a16:creationId xmlns:a16="http://schemas.microsoft.com/office/drawing/2014/main" id="{A304ACEF-A437-4958-869D-8524CDF140A7}"/>
              </a:ext>
            </a:extLst>
          </p:cNvPr>
          <p:cNvPicPr>
            <a:picLocks noChangeAspect="1"/>
          </p:cNvPicPr>
          <p:nvPr/>
        </p:nvPicPr>
        <p:blipFill>
          <a:blip r:embed="rId3"/>
          <a:stretch>
            <a:fillRect/>
          </a:stretch>
        </p:blipFill>
        <p:spPr>
          <a:xfrm>
            <a:off x="2979009" y="4334013"/>
            <a:ext cx="6233981" cy="2456612"/>
          </a:xfrm>
          <a:prstGeom prst="rect">
            <a:avLst/>
          </a:prstGeom>
        </p:spPr>
      </p:pic>
    </p:spTree>
    <p:extLst>
      <p:ext uri="{BB962C8B-B14F-4D97-AF65-F5344CB8AC3E}">
        <p14:creationId xmlns:p14="http://schemas.microsoft.com/office/powerpoint/2010/main" val="3460931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2C15F3-A34B-406B-ABE8-A8DB74850650}"/>
              </a:ext>
            </a:extLst>
          </p:cNvPr>
          <p:cNvGrpSpPr/>
          <p:nvPr/>
        </p:nvGrpSpPr>
        <p:grpSpPr>
          <a:xfrm>
            <a:off x="9238488" y="3943350"/>
            <a:ext cx="2953512" cy="2914650"/>
            <a:chOff x="7486650" y="3308919"/>
            <a:chExt cx="3596402" cy="3549081"/>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CON</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solidFill>
                <a:srgbClr val="0070C0"/>
              </a:solidFill>
              <a:headEnd type="none" w="med" len="med"/>
              <a:tailEnd type="triangle" w="med" len="med"/>
            </a:ln>
          </p:spPr>
          <p:style>
            <a:lnRef idx="1">
              <a:schemeClr val="accent5"/>
            </a:lnRef>
            <a:fillRef idx="0">
              <a:schemeClr val="accent5"/>
            </a:fillRef>
            <a:effectRef idx="0">
              <a:schemeClr val="accent5"/>
            </a:effectRef>
            <a:fontRef idx="minor">
              <a:schemeClr val="tx1"/>
            </a:fontRef>
          </p:style>
        </p:cxnSp>
      </p:gr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078518"/>
          </a:xfrm>
          <a:prstGeom prst="rect">
            <a:avLst/>
          </a:prstGeom>
          <a:noFill/>
        </p:spPr>
        <p:txBody>
          <a:bodyPr wrap="square" rtlCol="0">
            <a:spAutoFit/>
          </a:bodyPr>
          <a:lstStyle/>
          <a:p>
            <a:pPr algn="thaiDist">
              <a:lnSpc>
                <a:spcPct val="150000"/>
              </a:lnSpc>
            </a:pPr>
            <a:r>
              <a:rPr lang="en-US" dirty="0"/>
              <a:t>After transmitting the INIT packet, if a node receives a JOIN packet from a node, this node chooses a </a:t>
            </a:r>
            <a:r>
              <a:rPr lang="en-US" b="1" u="sng" dirty="0"/>
              <a:t>timeslot and a collision-free channel</a:t>
            </a:r>
            <a:r>
              <a:rPr lang="en-US" b="1" dirty="0"/>
              <a:t> </a:t>
            </a:r>
            <a:r>
              <a:rPr lang="en-US" dirty="0"/>
              <a:t>with the U</a:t>
            </a:r>
            <a:r>
              <a:rPr lang="en-US" baseline="-25000" dirty="0"/>
              <a:t>C</a:t>
            </a:r>
            <a:r>
              <a:rPr lang="en-US" dirty="0"/>
              <a:t>, as explained in the next sub-section.</a:t>
            </a:r>
          </a:p>
          <a:p>
            <a:pPr algn="thaiDist">
              <a:lnSpc>
                <a:spcPct val="150000"/>
              </a:lnSpc>
            </a:pPr>
            <a:r>
              <a:rPr lang="en-US" dirty="0"/>
              <a:t>Then transmits a CON packet to the sender of the JOIN packet in the third timeslot (TS</a:t>
            </a:r>
            <a:r>
              <a:rPr lang="en-US" baseline="-25000" dirty="0"/>
              <a:t>3</a:t>
            </a:r>
            <a:r>
              <a:rPr lang="en-US" dirty="0"/>
              <a:t>) of the current cycle. The format of the CON packet is CON (D, S</a:t>
            </a:r>
            <a:r>
              <a:rPr lang="en-US" baseline="-25000" dirty="0"/>
              <a:t>ID</a:t>
            </a:r>
            <a:r>
              <a:rPr lang="en-US" dirty="0"/>
              <a:t>, R</a:t>
            </a:r>
            <a:r>
              <a:rPr lang="en-US" baseline="-25000" dirty="0"/>
              <a:t>ID</a:t>
            </a:r>
            <a:r>
              <a:rPr lang="en-US" dirty="0"/>
              <a:t>, Ts, Ch).</a:t>
            </a:r>
          </a:p>
          <a:p>
            <a:pPr algn="thaiDist">
              <a:lnSpc>
                <a:spcPct val="150000"/>
              </a:lnSpc>
            </a:pPr>
            <a:r>
              <a:rPr lang="en-US" sz="1400" dirty="0"/>
              <a:t>Ts and Ch indicate the assigned cell (timeslot, channel) for the receiver node to communicate with the sender node.</a:t>
            </a:r>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3000885"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graphicFrame>
        <p:nvGraphicFramePr>
          <p:cNvPr id="11" name="Table 18">
            <a:extLst>
              <a:ext uri="{FF2B5EF4-FFF2-40B4-BE49-F238E27FC236}">
                <a16:creationId xmlns:a16="http://schemas.microsoft.com/office/drawing/2014/main" id="{2B23CC5B-51E4-4081-964E-625AB354D77B}"/>
              </a:ext>
            </a:extLst>
          </p:cNvPr>
          <p:cNvGraphicFramePr>
            <a:graphicFrameLocks noGrp="1"/>
          </p:cNvGraphicFramePr>
          <p:nvPr>
            <p:extLst>
              <p:ext uri="{D42A27DB-BD31-4B8C-83A1-F6EECF244321}">
                <p14:modId xmlns:p14="http://schemas.microsoft.com/office/powerpoint/2010/main" val="156647734"/>
              </p:ext>
            </p:extLst>
          </p:nvPr>
        </p:nvGraphicFramePr>
        <p:xfrm>
          <a:off x="8152597" y="4942795"/>
          <a:ext cx="1198455" cy="741680"/>
        </p:xfrm>
        <a:graphic>
          <a:graphicData uri="http://schemas.openxmlformats.org/drawingml/2006/table">
            <a:tbl>
              <a:tblPr firstRow="1" bandRow="1">
                <a:tableStyleId>{7DF18680-E054-41AD-8BC1-D1AEF772440D}</a:tableStyleId>
              </a:tblPr>
              <a:tblGrid>
                <a:gridCol w="1198455">
                  <a:extLst>
                    <a:ext uri="{9D8B030D-6E8A-4147-A177-3AD203B41FA5}">
                      <a16:colId xmlns:a16="http://schemas.microsoft.com/office/drawing/2014/main" val="3240980490"/>
                    </a:ext>
                  </a:extLst>
                </a:gridCol>
              </a:tblGrid>
              <a:tr h="370840">
                <a:tc>
                  <a:txBody>
                    <a:bodyPr/>
                    <a:lstStyle/>
                    <a:p>
                      <a:pPr algn="ctr"/>
                      <a:r>
                        <a:rPr lang="en-US" dirty="0"/>
                        <a:t>Parents’ A</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S</a:t>
                      </a:r>
                      <a:endParaRPr lang="th-TH" dirty="0"/>
                    </a:p>
                  </a:txBody>
                  <a:tcPr anchor="ctr"/>
                </a:tc>
                <a:extLst>
                  <a:ext uri="{0D108BD9-81ED-4DB2-BD59-A6C34878D82A}">
                    <a16:rowId xmlns:a16="http://schemas.microsoft.com/office/drawing/2014/main" val="602709536"/>
                  </a:ext>
                </a:extLst>
              </a:tr>
            </a:tbl>
          </a:graphicData>
        </a:graphic>
      </p:graphicFrame>
      <p:graphicFrame>
        <p:nvGraphicFramePr>
          <p:cNvPr id="13" name="Table 18">
            <a:extLst>
              <a:ext uri="{FF2B5EF4-FFF2-40B4-BE49-F238E27FC236}">
                <a16:creationId xmlns:a16="http://schemas.microsoft.com/office/drawing/2014/main" id="{8594C8CB-8507-4EA9-ABA3-EA270F5E1E91}"/>
              </a:ext>
            </a:extLst>
          </p:cNvPr>
          <p:cNvGraphicFramePr>
            <a:graphicFrameLocks noGrp="1"/>
          </p:cNvGraphicFramePr>
          <p:nvPr>
            <p:extLst>
              <p:ext uri="{D42A27DB-BD31-4B8C-83A1-F6EECF244321}">
                <p14:modId xmlns:p14="http://schemas.microsoft.com/office/powerpoint/2010/main" val="4095938988"/>
              </p:ext>
            </p:extLst>
          </p:nvPr>
        </p:nvGraphicFramePr>
        <p:xfrm>
          <a:off x="11003256" y="3465708"/>
          <a:ext cx="1114950" cy="741680"/>
        </p:xfrm>
        <a:graphic>
          <a:graphicData uri="http://schemas.openxmlformats.org/drawingml/2006/table">
            <a:tbl>
              <a:tblPr firstRow="1" bandRow="1">
                <a:tableStyleId>{7DF18680-E054-41AD-8BC1-D1AEF772440D}</a:tableStyleId>
              </a:tblPr>
              <a:tblGrid>
                <a:gridCol w="1114950">
                  <a:extLst>
                    <a:ext uri="{9D8B030D-6E8A-4147-A177-3AD203B41FA5}">
                      <a16:colId xmlns:a16="http://schemas.microsoft.com/office/drawing/2014/main" val="3240980490"/>
                    </a:ext>
                  </a:extLst>
                </a:gridCol>
              </a:tblGrid>
              <a:tr h="370840">
                <a:tc>
                  <a:txBody>
                    <a:bodyPr/>
                    <a:lstStyle/>
                    <a:p>
                      <a:pPr algn="ctr"/>
                      <a:r>
                        <a:rPr lang="en-US" dirty="0"/>
                        <a:t>Childs’ s</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A</a:t>
                      </a:r>
                      <a:endParaRPr lang="th-TH" dirty="0"/>
                    </a:p>
                  </a:txBody>
                  <a:tcPr anchor="ctr"/>
                </a:tc>
                <a:extLst>
                  <a:ext uri="{0D108BD9-81ED-4DB2-BD59-A6C34878D82A}">
                    <a16:rowId xmlns:a16="http://schemas.microsoft.com/office/drawing/2014/main" val="602709536"/>
                  </a:ext>
                </a:extLst>
              </a:tr>
            </a:tbl>
          </a:graphicData>
        </a:graphic>
      </p:graphicFrame>
    </p:spTree>
    <p:extLst>
      <p:ext uri="{BB962C8B-B14F-4D97-AF65-F5344CB8AC3E}">
        <p14:creationId xmlns:p14="http://schemas.microsoft.com/office/powerpoint/2010/main" val="1590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9238488" y="3943350"/>
            <a:ext cx="2953512" cy="2914650"/>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9426224" y="4415557"/>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9782139" y="4377939"/>
            <a:ext cx="721283" cy="546566"/>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If the child node receives a CON packet from the parent node, it broadcasts an ADV packet, formatted as ADV (D, S</a:t>
            </a:r>
            <a:r>
              <a:rPr lang="en-US" baseline="-25000" dirty="0"/>
              <a:t>ID</a:t>
            </a:r>
            <a:r>
              <a:rPr lang="en-US" dirty="0"/>
              <a:t>, R</a:t>
            </a:r>
            <a:r>
              <a:rPr lang="en-US" baseline="-25000" dirty="0"/>
              <a:t>ID</a:t>
            </a:r>
            <a:r>
              <a:rPr lang="en-US" dirty="0"/>
              <a:t>, Ts, Ch), at timeslot TS</a:t>
            </a:r>
            <a:r>
              <a:rPr lang="en-US" baseline="-25000" dirty="0"/>
              <a:t>4</a:t>
            </a:r>
            <a:r>
              <a:rPr lang="en-US" dirty="0"/>
              <a:t> to announce its cell assignment to its neighbor nodes.</a:t>
            </a:r>
            <a:endParaRPr lang="en-US" sz="1400" dirty="0"/>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396291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
        <p:nvSpPr>
          <p:cNvPr id="8" name="Rectangle 7">
            <a:extLst>
              <a:ext uri="{FF2B5EF4-FFF2-40B4-BE49-F238E27FC236}">
                <a16:creationId xmlns:a16="http://schemas.microsoft.com/office/drawing/2014/main" id="{73C8FF8A-3432-40D7-8671-AF08A6E5CF39}"/>
              </a:ext>
            </a:extLst>
          </p:cNvPr>
          <p:cNvSpPr/>
          <p:nvPr/>
        </p:nvSpPr>
        <p:spPr>
          <a:xfrm>
            <a:off x="10454926" y="4786864"/>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sp>
        <p:nvSpPr>
          <p:cNvPr id="11" name="Rectangle 10">
            <a:extLst>
              <a:ext uri="{FF2B5EF4-FFF2-40B4-BE49-F238E27FC236}">
                <a16:creationId xmlns:a16="http://schemas.microsoft.com/office/drawing/2014/main" id="{30048819-2539-4C72-BE35-1202536C346A}"/>
              </a:ext>
            </a:extLst>
          </p:cNvPr>
          <p:cNvSpPr/>
          <p:nvPr/>
        </p:nvSpPr>
        <p:spPr>
          <a:xfrm>
            <a:off x="8787630" y="5644159"/>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sp>
        <p:nvSpPr>
          <p:cNvPr id="15" name="Rectangle 14">
            <a:extLst>
              <a:ext uri="{FF2B5EF4-FFF2-40B4-BE49-F238E27FC236}">
                <a16:creationId xmlns:a16="http://schemas.microsoft.com/office/drawing/2014/main" id="{7C2E3960-7678-4C6B-9FEB-CE72EC3CA404}"/>
              </a:ext>
            </a:extLst>
          </p:cNvPr>
          <p:cNvSpPr/>
          <p:nvPr/>
        </p:nvSpPr>
        <p:spPr>
          <a:xfrm>
            <a:off x="10503422" y="5207647"/>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cxnSp>
        <p:nvCxnSpPr>
          <p:cNvPr id="17" name="Straight Arrow Connector 16">
            <a:extLst>
              <a:ext uri="{FF2B5EF4-FFF2-40B4-BE49-F238E27FC236}">
                <a16:creationId xmlns:a16="http://schemas.microsoft.com/office/drawing/2014/main" id="{7440CD19-0CE3-4C82-ADC2-A619096F5649}"/>
              </a:ext>
            </a:extLst>
          </p:cNvPr>
          <p:cNvCxnSpPr>
            <a:cxnSpLocks/>
          </p:cNvCxnSpPr>
          <p:nvPr/>
        </p:nvCxnSpPr>
        <p:spPr>
          <a:xfrm flipH="1" flipV="1">
            <a:off x="9934540" y="5076905"/>
            <a:ext cx="1636628" cy="4274"/>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0" name="Straight Arrow Connector 19">
            <a:extLst>
              <a:ext uri="{FF2B5EF4-FFF2-40B4-BE49-F238E27FC236}">
                <a16:creationId xmlns:a16="http://schemas.microsoft.com/office/drawing/2014/main" id="{80C7E2C2-7B9F-4273-ABE0-892FF758E028}"/>
              </a:ext>
            </a:extLst>
          </p:cNvPr>
          <p:cNvCxnSpPr>
            <a:cxnSpLocks/>
          </p:cNvCxnSpPr>
          <p:nvPr/>
        </p:nvCxnSpPr>
        <p:spPr>
          <a:xfrm flipH="1" flipV="1">
            <a:off x="9923805" y="5268668"/>
            <a:ext cx="719111" cy="287240"/>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5" name="Straight Arrow Connector 24">
            <a:extLst>
              <a:ext uri="{FF2B5EF4-FFF2-40B4-BE49-F238E27FC236}">
                <a16:creationId xmlns:a16="http://schemas.microsoft.com/office/drawing/2014/main" id="{B054F14D-7734-48B9-A344-DC2215A8DBB3}"/>
              </a:ext>
            </a:extLst>
          </p:cNvPr>
          <p:cNvCxnSpPr>
            <a:cxnSpLocks/>
          </p:cNvCxnSpPr>
          <p:nvPr/>
        </p:nvCxnSpPr>
        <p:spPr>
          <a:xfrm flipV="1">
            <a:off x="9553539" y="5375676"/>
            <a:ext cx="0" cy="897721"/>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469551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Example</a:t>
            </a:r>
            <a:endParaRPr lang="th-TH" dirty="0">
              <a:solidFill>
                <a:schemeClr val="tx1"/>
              </a:solidFill>
            </a:endParaRPr>
          </a:p>
        </p:txBody>
      </p:sp>
      <p:pic>
        <p:nvPicPr>
          <p:cNvPr id="4" name="Picture 3">
            <a:extLst>
              <a:ext uri="{FF2B5EF4-FFF2-40B4-BE49-F238E27FC236}">
                <a16:creationId xmlns:a16="http://schemas.microsoft.com/office/drawing/2014/main" id="{191C2B10-A83C-48B6-875C-6702F93FBB1E}"/>
              </a:ext>
            </a:extLst>
          </p:cNvPr>
          <p:cNvPicPr>
            <a:picLocks noChangeAspect="1"/>
          </p:cNvPicPr>
          <p:nvPr/>
        </p:nvPicPr>
        <p:blipFill>
          <a:blip r:embed="rId3"/>
          <a:stretch>
            <a:fillRect/>
          </a:stretch>
        </p:blipFill>
        <p:spPr>
          <a:xfrm>
            <a:off x="2850356" y="667828"/>
            <a:ext cx="6491288" cy="2761172"/>
          </a:xfrm>
          <a:prstGeom prst="rect">
            <a:avLst/>
          </a:prstGeom>
        </p:spPr>
      </p:pic>
      <p:pic>
        <p:nvPicPr>
          <p:cNvPr id="7" name="Picture 6">
            <a:extLst>
              <a:ext uri="{FF2B5EF4-FFF2-40B4-BE49-F238E27FC236}">
                <a16:creationId xmlns:a16="http://schemas.microsoft.com/office/drawing/2014/main" id="{B7D34269-CAF0-432F-AD4F-85D5EE5DDE64}"/>
              </a:ext>
            </a:extLst>
          </p:cNvPr>
          <p:cNvPicPr>
            <a:picLocks noChangeAspect="1"/>
          </p:cNvPicPr>
          <p:nvPr/>
        </p:nvPicPr>
        <p:blipFill>
          <a:blip r:embed="rId4"/>
          <a:stretch>
            <a:fillRect/>
          </a:stretch>
        </p:blipFill>
        <p:spPr>
          <a:xfrm>
            <a:off x="2102644" y="3485071"/>
            <a:ext cx="7986712" cy="3372929"/>
          </a:xfrm>
          <a:prstGeom prst="rect">
            <a:avLst/>
          </a:prstGeom>
        </p:spPr>
      </p:pic>
      <p:sp>
        <p:nvSpPr>
          <p:cNvPr id="9" name="TextBox 8">
            <a:extLst>
              <a:ext uri="{FF2B5EF4-FFF2-40B4-BE49-F238E27FC236}">
                <a16:creationId xmlns:a16="http://schemas.microsoft.com/office/drawing/2014/main" id="{AF60CB29-7D45-4220-93C3-F2774E892237}"/>
              </a:ext>
            </a:extLst>
          </p:cNvPr>
          <p:cNvSpPr txBox="1"/>
          <p:nvPr/>
        </p:nvSpPr>
        <p:spPr>
          <a:xfrm>
            <a:off x="7496175" y="1050295"/>
            <a:ext cx="923925" cy="246221"/>
          </a:xfrm>
          <a:prstGeom prst="rect">
            <a:avLst/>
          </a:prstGeom>
          <a:noFill/>
        </p:spPr>
        <p:txBody>
          <a:bodyPr wrap="square" rtlCol="0">
            <a:spAutoFit/>
          </a:bodyPr>
          <a:lstStyle/>
          <a:p>
            <a:r>
              <a:rPr lang="en-US" sz="1000" dirty="0"/>
              <a:t>Ch0,T5</a:t>
            </a:r>
            <a:endParaRPr lang="th-TH" sz="1000" dirty="0"/>
          </a:p>
        </p:txBody>
      </p:sp>
      <p:sp>
        <p:nvSpPr>
          <p:cNvPr id="12" name="TextBox 11">
            <a:extLst>
              <a:ext uri="{FF2B5EF4-FFF2-40B4-BE49-F238E27FC236}">
                <a16:creationId xmlns:a16="http://schemas.microsoft.com/office/drawing/2014/main" id="{377F92D3-AA48-4A06-8F16-26C258CA85B8}"/>
              </a:ext>
            </a:extLst>
          </p:cNvPr>
          <p:cNvSpPr txBox="1"/>
          <p:nvPr/>
        </p:nvSpPr>
        <p:spPr>
          <a:xfrm>
            <a:off x="6372225" y="1073080"/>
            <a:ext cx="923925" cy="246221"/>
          </a:xfrm>
          <a:prstGeom prst="rect">
            <a:avLst/>
          </a:prstGeom>
          <a:noFill/>
        </p:spPr>
        <p:txBody>
          <a:bodyPr wrap="square" rtlCol="0">
            <a:spAutoFit/>
          </a:bodyPr>
          <a:lstStyle/>
          <a:p>
            <a:r>
              <a:rPr lang="en-US" sz="1000" dirty="0"/>
              <a:t>Ch0,T4</a:t>
            </a:r>
            <a:endParaRPr lang="th-TH" sz="1000" dirty="0"/>
          </a:p>
        </p:txBody>
      </p:sp>
    </p:spTree>
    <p:extLst>
      <p:ext uri="{BB962C8B-B14F-4D97-AF65-F5344CB8AC3E}">
        <p14:creationId xmlns:p14="http://schemas.microsoft.com/office/powerpoint/2010/main" val="3447066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Packet Collision Avoidance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err="1"/>
              <a:t>LoRa’s</a:t>
            </a:r>
            <a:r>
              <a:rPr lang="en-US" dirty="0"/>
              <a:t> transceiver uses the channel activity detection (CAD) mechanism to detect packets in the air.</a:t>
            </a:r>
          </a:p>
          <a:p>
            <a:pPr algn="thaiDist">
              <a:lnSpc>
                <a:spcPct val="150000"/>
              </a:lnSpc>
            </a:pPr>
            <a:r>
              <a:rPr lang="en-US" dirty="0"/>
              <a:t>They propose a packet collision avoidance mechanism based on CAD.</a:t>
            </a:r>
          </a:p>
          <a:p>
            <a:pPr algn="thaiDist">
              <a:lnSpc>
                <a:spcPct val="150000"/>
              </a:lnSpc>
            </a:pPr>
            <a:r>
              <a:rPr lang="en-US" dirty="0"/>
              <a:t>mechanism needs T</a:t>
            </a:r>
            <a:r>
              <a:rPr lang="en-US" baseline="-25000" dirty="0"/>
              <a:t>CAD</a:t>
            </a:r>
            <a:r>
              <a:rPr lang="en-US" dirty="0"/>
              <a:t> (CAD time) to detect packets.</a:t>
            </a:r>
          </a:p>
          <a:p>
            <a:pPr algn="thaiDist">
              <a:lnSpc>
                <a:spcPct val="150000"/>
              </a:lnSpc>
            </a:pPr>
            <a:r>
              <a:rPr lang="en-US" dirty="0"/>
              <a:t>T</a:t>
            </a:r>
            <a:r>
              <a:rPr lang="en-US" baseline="-25000" dirty="0"/>
              <a:t>CAD</a:t>
            </a:r>
            <a:r>
              <a:rPr lang="en-US" dirty="0"/>
              <a:t> = 2 × </a:t>
            </a:r>
            <a:r>
              <a:rPr lang="en-US" dirty="0" err="1"/>
              <a:t>T</a:t>
            </a:r>
            <a:r>
              <a:rPr lang="en-US" baseline="-25000" dirty="0" err="1"/>
              <a:t>sym</a:t>
            </a:r>
            <a:endParaRPr lang="en-US" dirty="0"/>
          </a:p>
          <a:p>
            <a:pPr algn="thaiDist">
              <a:lnSpc>
                <a:spcPct val="150000"/>
              </a:lnSpc>
            </a:pPr>
            <a:r>
              <a:rPr lang="en-US" dirty="0" err="1"/>
              <a:t>T</a:t>
            </a:r>
            <a:r>
              <a:rPr lang="en-US" baseline="-25000" dirty="0" err="1"/>
              <a:t>sym</a:t>
            </a:r>
            <a:r>
              <a:rPr lang="en-US" dirty="0"/>
              <a:t> is dependent on spreading factor (SF).</a:t>
            </a:r>
          </a:p>
        </p:txBody>
      </p:sp>
      <p:pic>
        <p:nvPicPr>
          <p:cNvPr id="4" name="Picture 3">
            <a:extLst>
              <a:ext uri="{FF2B5EF4-FFF2-40B4-BE49-F238E27FC236}">
                <a16:creationId xmlns:a16="http://schemas.microsoft.com/office/drawing/2014/main" id="{3D1017CA-E383-4A5B-9C77-02B6C961A04C}"/>
              </a:ext>
            </a:extLst>
          </p:cNvPr>
          <p:cNvPicPr>
            <a:picLocks noChangeAspect="1"/>
          </p:cNvPicPr>
          <p:nvPr/>
        </p:nvPicPr>
        <p:blipFill>
          <a:blip r:embed="rId3"/>
          <a:stretch>
            <a:fillRect/>
          </a:stretch>
        </p:blipFill>
        <p:spPr>
          <a:xfrm>
            <a:off x="8683507" y="3099335"/>
            <a:ext cx="2355968" cy="3389614"/>
          </a:xfrm>
          <a:prstGeom prst="rect">
            <a:avLst/>
          </a:prstGeom>
        </p:spPr>
      </p:pic>
    </p:spTree>
    <p:extLst>
      <p:ext uri="{BB962C8B-B14F-4D97-AF65-F5344CB8AC3E}">
        <p14:creationId xmlns:p14="http://schemas.microsoft.com/office/powerpoint/2010/main" val="3205047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41BD08-C804-41C4-85FF-1620C3E54D57}"/>
              </a:ext>
            </a:extLst>
          </p:cNvPr>
          <p:cNvPicPr>
            <a:picLocks noChangeAspect="1"/>
          </p:cNvPicPr>
          <p:nvPr/>
        </p:nvPicPr>
        <p:blipFill>
          <a:blip r:embed="rId3"/>
          <a:stretch>
            <a:fillRect/>
          </a:stretch>
        </p:blipFill>
        <p:spPr>
          <a:xfrm>
            <a:off x="3126235" y="4488304"/>
            <a:ext cx="5939529" cy="2369696"/>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Packet Collision Avoidance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349874"/>
          </a:xfrm>
          <a:prstGeom prst="rect">
            <a:avLst/>
          </a:prstGeom>
          <a:noFill/>
        </p:spPr>
        <p:txBody>
          <a:bodyPr wrap="square" rtlCol="0">
            <a:spAutoFit/>
          </a:bodyPr>
          <a:lstStyle/>
          <a:p>
            <a:pPr algn="thaiDist">
              <a:lnSpc>
                <a:spcPct val="150000"/>
              </a:lnSpc>
            </a:pPr>
            <a:r>
              <a:rPr lang="en-US" dirty="0"/>
              <a:t>In TS</a:t>
            </a:r>
            <a:r>
              <a:rPr lang="en-US" baseline="-25000" dirty="0"/>
              <a:t>1</a:t>
            </a:r>
            <a:r>
              <a:rPr lang="en-US" dirty="0"/>
              <a:t> and TS</a:t>
            </a:r>
            <a:r>
              <a:rPr lang="en-US" baseline="-25000" dirty="0"/>
              <a:t>2</a:t>
            </a:r>
            <a:r>
              <a:rPr lang="en-US" dirty="0"/>
              <a:t> of each cycle in the NCP, each node calculates a random delay time r (r = w × T</a:t>
            </a:r>
            <a:r>
              <a:rPr lang="en-US" baseline="-25000" dirty="0"/>
              <a:t>CAD</a:t>
            </a:r>
            <a:r>
              <a:rPr lang="en-US" dirty="0"/>
              <a:t>).</a:t>
            </a:r>
          </a:p>
          <a:p>
            <a:pPr algn="thaiDist">
              <a:lnSpc>
                <a:spcPct val="150000"/>
              </a:lnSpc>
            </a:pPr>
            <a:r>
              <a:rPr lang="en-US" dirty="0"/>
              <a:t>w = random{D × CW, D × CW + CW - 1}</a:t>
            </a:r>
          </a:p>
          <a:p>
            <a:pPr marL="285750" indent="-285750" algn="thaiDist">
              <a:lnSpc>
                <a:spcPct val="150000"/>
              </a:lnSpc>
              <a:buFont typeface="Arial" panose="020B0604020202020204" pitchFamily="34" charset="0"/>
              <a:buChar char="•"/>
            </a:pPr>
            <a:r>
              <a:rPr lang="en-US" sz="1400" dirty="0"/>
              <a:t>D is depth of this node.</a:t>
            </a:r>
          </a:p>
          <a:p>
            <a:pPr marL="285750" indent="-285750" algn="thaiDist">
              <a:lnSpc>
                <a:spcPct val="150000"/>
              </a:lnSpc>
              <a:buFont typeface="Arial" panose="020B0604020202020204" pitchFamily="34" charset="0"/>
              <a:buChar char="•"/>
            </a:pPr>
            <a:r>
              <a:rPr lang="en-US" sz="1400" dirty="0"/>
              <a:t>CW represents the contention window size parameter.</a:t>
            </a:r>
          </a:p>
          <a:p>
            <a:pPr algn="thaiDist">
              <a:lnSpc>
                <a:spcPct val="150000"/>
              </a:lnSpc>
            </a:pPr>
            <a:r>
              <a:rPr lang="en-US" dirty="0"/>
              <a:t>During delay time, if the CAD mechanism detects a packet. it initiates a ‘</a:t>
            </a:r>
            <a:r>
              <a:rPr lang="en-US" dirty="0" err="1"/>
              <a:t>CAD_detected</a:t>
            </a:r>
            <a:r>
              <a:rPr lang="en-US" dirty="0"/>
              <a:t>’ event to inform the node. So, node will be lost contention. It will have to try to retransmit the packet in the next cycle.</a:t>
            </a:r>
            <a:endParaRPr lang="en-US" sz="1600" dirty="0"/>
          </a:p>
        </p:txBody>
      </p:sp>
      <p:sp>
        <p:nvSpPr>
          <p:cNvPr id="3" name="TextBox 2">
            <a:extLst>
              <a:ext uri="{FF2B5EF4-FFF2-40B4-BE49-F238E27FC236}">
                <a16:creationId xmlns:a16="http://schemas.microsoft.com/office/drawing/2014/main" id="{4B6E1FF9-0A43-4DAE-8445-9CC4493EF4C1}"/>
              </a:ext>
            </a:extLst>
          </p:cNvPr>
          <p:cNvSpPr txBox="1"/>
          <p:nvPr/>
        </p:nvSpPr>
        <p:spPr>
          <a:xfrm>
            <a:off x="3859730" y="4908884"/>
            <a:ext cx="664144" cy="276999"/>
          </a:xfrm>
          <a:prstGeom prst="rect">
            <a:avLst/>
          </a:prstGeom>
          <a:noFill/>
        </p:spPr>
        <p:txBody>
          <a:bodyPr wrap="square" rtlCol="0">
            <a:spAutoFit/>
          </a:bodyPr>
          <a:lstStyle/>
          <a:p>
            <a:r>
              <a:rPr lang="en-US" sz="1200" dirty="0"/>
              <a:t>r</a:t>
            </a:r>
            <a:r>
              <a:rPr lang="en-US" sz="1200" baseline="-25000" dirty="0"/>
              <a:t>1</a:t>
            </a:r>
            <a:r>
              <a:rPr lang="en-US" sz="1200" dirty="0"/>
              <a:t> us</a:t>
            </a:r>
            <a:endParaRPr lang="th-TH" sz="1200" dirty="0"/>
          </a:p>
        </p:txBody>
      </p:sp>
      <p:sp>
        <p:nvSpPr>
          <p:cNvPr id="7" name="TextBox 6">
            <a:extLst>
              <a:ext uri="{FF2B5EF4-FFF2-40B4-BE49-F238E27FC236}">
                <a16:creationId xmlns:a16="http://schemas.microsoft.com/office/drawing/2014/main" id="{25747722-09AE-4401-B27A-D7E264C37BEA}"/>
              </a:ext>
            </a:extLst>
          </p:cNvPr>
          <p:cNvSpPr txBox="1"/>
          <p:nvPr/>
        </p:nvSpPr>
        <p:spPr>
          <a:xfrm>
            <a:off x="4191802" y="5534652"/>
            <a:ext cx="664144" cy="276999"/>
          </a:xfrm>
          <a:prstGeom prst="rect">
            <a:avLst/>
          </a:prstGeom>
          <a:noFill/>
        </p:spPr>
        <p:txBody>
          <a:bodyPr wrap="square" rtlCol="0">
            <a:spAutoFit/>
          </a:bodyPr>
          <a:lstStyle/>
          <a:p>
            <a:r>
              <a:rPr lang="en-US" sz="1200" dirty="0"/>
              <a:t>r</a:t>
            </a:r>
            <a:r>
              <a:rPr lang="en-US" sz="1200" baseline="-25000" dirty="0"/>
              <a:t>2</a:t>
            </a:r>
            <a:r>
              <a:rPr lang="en-US" sz="1200" dirty="0"/>
              <a:t> us</a:t>
            </a:r>
            <a:endParaRPr lang="th-TH" sz="1200" dirty="0"/>
          </a:p>
        </p:txBody>
      </p:sp>
    </p:spTree>
    <p:extLst>
      <p:ext uri="{BB962C8B-B14F-4D97-AF65-F5344CB8AC3E}">
        <p14:creationId xmlns:p14="http://schemas.microsoft.com/office/powerpoint/2010/main" val="4203152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5645036" cy="2119042"/>
          </a:xfrm>
          <a:prstGeom prst="rect">
            <a:avLst/>
          </a:prstGeom>
          <a:noFill/>
        </p:spPr>
        <p:txBody>
          <a:bodyPr wrap="square" rtlCol="0">
            <a:spAutoFit/>
          </a:bodyPr>
          <a:lstStyle/>
          <a:p>
            <a:pPr algn="thaiDist">
              <a:lnSpc>
                <a:spcPct val="150000"/>
              </a:lnSpc>
            </a:pPr>
            <a:r>
              <a:rPr lang="en-US" dirty="0"/>
              <a:t>After receiving JOIN packet, at the parent node, Algorithm 1 </a:t>
            </a:r>
            <a:r>
              <a:rPr lang="en-US" u="sng" dirty="0"/>
              <a:t>chooses the latest timeslot</a:t>
            </a:r>
            <a:r>
              <a:rPr lang="en-US" dirty="0"/>
              <a:t> before the </a:t>
            </a:r>
            <a:r>
              <a:rPr lang="en-US" u="sng" dirty="0"/>
              <a:t>timeslot in which this node communicates with its parent node</a:t>
            </a:r>
            <a:r>
              <a:rPr lang="en-US" dirty="0"/>
              <a:t>.</a:t>
            </a:r>
          </a:p>
          <a:p>
            <a:pPr algn="thaiDist">
              <a:lnSpc>
                <a:spcPct val="150000"/>
              </a:lnSpc>
            </a:pPr>
            <a:r>
              <a:rPr lang="en-US" dirty="0"/>
              <a:t>Until timeslot is not in Cd.</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7" name="Picture 6">
            <a:extLst>
              <a:ext uri="{FF2B5EF4-FFF2-40B4-BE49-F238E27FC236}">
                <a16:creationId xmlns:a16="http://schemas.microsoft.com/office/drawing/2014/main" id="{8D8D3224-8C3A-41EC-B69A-E3D5C174F46F}"/>
              </a:ext>
            </a:extLst>
          </p:cNvPr>
          <p:cNvPicPr>
            <a:picLocks noChangeAspect="1"/>
          </p:cNvPicPr>
          <p:nvPr/>
        </p:nvPicPr>
        <p:blipFill rotWithShape="1">
          <a:blip r:embed="rId4"/>
          <a:srcRect l="649" t="6475" r="23203" b="33508"/>
          <a:stretch/>
        </p:blipFill>
        <p:spPr>
          <a:xfrm>
            <a:off x="1590900" y="4676083"/>
            <a:ext cx="4090267" cy="1804126"/>
          </a:xfrm>
          <a:prstGeom prst="rect">
            <a:avLst/>
          </a:prstGeom>
          <a:ln>
            <a:solidFill>
              <a:schemeClr val="tx1"/>
            </a:solidFill>
          </a:ln>
        </p:spPr>
      </p:pic>
      <p:sp>
        <p:nvSpPr>
          <p:cNvPr id="10" name="Left Brace 9">
            <a:extLst>
              <a:ext uri="{FF2B5EF4-FFF2-40B4-BE49-F238E27FC236}">
                <a16:creationId xmlns:a16="http://schemas.microsoft.com/office/drawing/2014/main" id="{9AA25E34-A12B-4B16-AEAC-3DA6435450BF}"/>
              </a:ext>
            </a:extLst>
          </p:cNvPr>
          <p:cNvSpPr/>
          <p:nvPr/>
        </p:nvSpPr>
        <p:spPr>
          <a:xfrm>
            <a:off x="6458552" y="2810577"/>
            <a:ext cx="741145" cy="1722922"/>
          </a:xfrm>
          <a:prstGeom prst="leftBrace">
            <a:avLst>
              <a:gd name="adj1" fmla="val 17424"/>
              <a:gd name="adj2" fmla="val 2374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2" name="Rectangle 11">
            <a:extLst>
              <a:ext uri="{FF2B5EF4-FFF2-40B4-BE49-F238E27FC236}">
                <a16:creationId xmlns:a16="http://schemas.microsoft.com/office/drawing/2014/main" id="{06EABDD1-4744-40DF-B1F3-B2CEA6D42525}"/>
              </a:ext>
            </a:extLst>
          </p:cNvPr>
          <p:cNvSpPr/>
          <p:nvPr/>
        </p:nvSpPr>
        <p:spPr>
          <a:xfrm>
            <a:off x="5317960" y="6015790"/>
            <a:ext cx="279133" cy="389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Rectangle 12">
            <a:extLst>
              <a:ext uri="{FF2B5EF4-FFF2-40B4-BE49-F238E27FC236}">
                <a16:creationId xmlns:a16="http://schemas.microsoft.com/office/drawing/2014/main" id="{23F068F7-B387-4DF9-ADBE-0E4D789F6FDB}"/>
              </a:ext>
            </a:extLst>
          </p:cNvPr>
          <p:cNvSpPr/>
          <p:nvPr/>
        </p:nvSpPr>
        <p:spPr>
          <a:xfrm>
            <a:off x="3057007" y="6015790"/>
            <a:ext cx="279133" cy="389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cxnSp>
        <p:nvCxnSpPr>
          <p:cNvPr id="8" name="Straight Arrow Connector 7">
            <a:extLst>
              <a:ext uri="{FF2B5EF4-FFF2-40B4-BE49-F238E27FC236}">
                <a16:creationId xmlns:a16="http://schemas.microsoft.com/office/drawing/2014/main" id="{950F8FFA-C3DC-4E11-8694-A282AE68CD8E}"/>
              </a:ext>
            </a:extLst>
          </p:cNvPr>
          <p:cNvCxnSpPr>
            <a:cxnSpLocks/>
          </p:cNvCxnSpPr>
          <p:nvPr/>
        </p:nvCxnSpPr>
        <p:spPr>
          <a:xfrm>
            <a:off x="2036070" y="3792354"/>
            <a:ext cx="1020937" cy="22234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2301D35-8351-4030-87FE-E0F05A9C8D4D}"/>
              </a:ext>
            </a:extLst>
          </p:cNvPr>
          <p:cNvCxnSpPr>
            <a:cxnSpLocks/>
            <a:endCxn id="12" idx="0"/>
          </p:cNvCxnSpPr>
          <p:nvPr/>
        </p:nvCxnSpPr>
        <p:spPr>
          <a:xfrm>
            <a:off x="4352077" y="2964581"/>
            <a:ext cx="1105450" cy="30512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146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770731" y="4712436"/>
            <a:ext cx="5727032" cy="1288045"/>
          </a:xfrm>
          <a:prstGeom prst="rect">
            <a:avLst/>
          </a:prstGeom>
          <a:noFill/>
        </p:spPr>
        <p:txBody>
          <a:bodyPr wrap="square" rtlCol="0">
            <a:spAutoFit/>
          </a:bodyPr>
          <a:lstStyle/>
          <a:p>
            <a:pPr algn="thaiDist">
              <a:lnSpc>
                <a:spcPct val="150000"/>
              </a:lnSpc>
            </a:pPr>
            <a:r>
              <a:rPr lang="en-US" dirty="0"/>
              <a:t>If timeslot and channel are in </a:t>
            </a:r>
            <a:r>
              <a:rPr lang="en-US" dirty="0" err="1"/>
              <a:t>U</a:t>
            </a:r>
            <a:r>
              <a:rPr lang="en-US" baseline="-25000" dirty="0" err="1"/>
              <a:t>c</a:t>
            </a:r>
            <a:r>
              <a:rPr lang="en-US" dirty="0"/>
              <a:t>, change channel.</a:t>
            </a:r>
          </a:p>
          <a:p>
            <a:pPr algn="thaiDist">
              <a:lnSpc>
                <a:spcPct val="150000"/>
              </a:lnSpc>
            </a:pPr>
            <a:r>
              <a:rPr lang="en-US" dirty="0"/>
              <a:t>If that timeslot has not any free-channel, change timeslot.</a:t>
            </a:r>
          </a:p>
          <a:p>
            <a:pPr algn="thaiDist">
              <a:lnSpc>
                <a:spcPct val="150000"/>
              </a:lnSpc>
            </a:pPr>
            <a:r>
              <a:rPr lang="en-US" dirty="0"/>
              <a:t>Until timeslot or free-channel are not in </a:t>
            </a:r>
            <a:r>
              <a:rPr lang="en-US" dirty="0" err="1"/>
              <a:t>U</a:t>
            </a:r>
            <a:r>
              <a:rPr lang="en-US" baseline="-25000" dirty="0" err="1"/>
              <a:t>c</a:t>
            </a:r>
            <a:r>
              <a:rPr lang="en-US" dirty="0"/>
              <a:t>.</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7" name="Picture 6">
            <a:extLst>
              <a:ext uri="{FF2B5EF4-FFF2-40B4-BE49-F238E27FC236}">
                <a16:creationId xmlns:a16="http://schemas.microsoft.com/office/drawing/2014/main" id="{8D8D3224-8C3A-41EC-B69A-E3D5C174F46F}"/>
              </a:ext>
            </a:extLst>
          </p:cNvPr>
          <p:cNvPicPr>
            <a:picLocks noChangeAspect="1"/>
          </p:cNvPicPr>
          <p:nvPr/>
        </p:nvPicPr>
        <p:blipFill rotWithShape="1">
          <a:blip r:embed="rId4"/>
          <a:srcRect l="-490" t="6045" r="-423" b="33938"/>
          <a:stretch/>
        </p:blipFill>
        <p:spPr>
          <a:xfrm>
            <a:off x="924025" y="2399593"/>
            <a:ext cx="5420444" cy="1804126"/>
          </a:xfrm>
          <a:prstGeom prst="rect">
            <a:avLst/>
          </a:prstGeom>
          <a:ln>
            <a:solidFill>
              <a:schemeClr val="tx1"/>
            </a:solidFill>
          </a:ln>
        </p:spPr>
      </p:pic>
      <p:sp>
        <p:nvSpPr>
          <p:cNvPr id="10" name="Left Brace 9">
            <a:extLst>
              <a:ext uri="{FF2B5EF4-FFF2-40B4-BE49-F238E27FC236}">
                <a16:creationId xmlns:a16="http://schemas.microsoft.com/office/drawing/2014/main" id="{9AA25E34-A12B-4B16-AEAC-3DA6435450BF}"/>
              </a:ext>
            </a:extLst>
          </p:cNvPr>
          <p:cNvSpPr/>
          <p:nvPr/>
        </p:nvSpPr>
        <p:spPr>
          <a:xfrm>
            <a:off x="6855446" y="5043638"/>
            <a:ext cx="1104646" cy="625642"/>
          </a:xfrm>
          <a:prstGeom prst="leftBrace">
            <a:avLst>
              <a:gd name="adj1" fmla="val 7256"/>
              <a:gd name="adj2" fmla="val 5451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1" name="Rectangle 10">
            <a:extLst>
              <a:ext uri="{FF2B5EF4-FFF2-40B4-BE49-F238E27FC236}">
                <a16:creationId xmlns:a16="http://schemas.microsoft.com/office/drawing/2014/main" id="{11E03974-A50C-4ACC-873B-DF17CA945822}"/>
              </a:ext>
            </a:extLst>
          </p:cNvPr>
          <p:cNvSpPr/>
          <p:nvPr/>
        </p:nvSpPr>
        <p:spPr>
          <a:xfrm>
            <a:off x="2233063" y="3785134"/>
            <a:ext cx="477436" cy="3272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4" name="Rectangle 13">
            <a:extLst>
              <a:ext uri="{FF2B5EF4-FFF2-40B4-BE49-F238E27FC236}">
                <a16:creationId xmlns:a16="http://schemas.microsoft.com/office/drawing/2014/main" id="{C2A43C34-507F-42B0-B36C-C8E49EDF5945}"/>
              </a:ext>
            </a:extLst>
          </p:cNvPr>
          <p:cNvSpPr/>
          <p:nvPr/>
        </p:nvSpPr>
        <p:spPr>
          <a:xfrm>
            <a:off x="4512645" y="3775509"/>
            <a:ext cx="477436" cy="203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5" name="Rectangle 14">
            <a:extLst>
              <a:ext uri="{FF2B5EF4-FFF2-40B4-BE49-F238E27FC236}">
                <a16:creationId xmlns:a16="http://schemas.microsoft.com/office/drawing/2014/main" id="{FD106D4A-34F0-4DE3-928F-E2567AFC8C8B}"/>
              </a:ext>
            </a:extLst>
          </p:cNvPr>
          <p:cNvSpPr/>
          <p:nvPr/>
        </p:nvSpPr>
        <p:spPr>
          <a:xfrm>
            <a:off x="5743075" y="3775509"/>
            <a:ext cx="477436" cy="203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35305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770731" y="1890876"/>
            <a:ext cx="5727032" cy="2950038"/>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This minimizes the number of timeslots that are used for assignments to all the links in the network.</a:t>
            </a:r>
          </a:p>
          <a:p>
            <a:pPr marL="285750" indent="-285750" algn="thaiDist">
              <a:lnSpc>
                <a:spcPct val="150000"/>
              </a:lnSpc>
              <a:buFont typeface="Arial" panose="020B0604020202020204" pitchFamily="34" charset="0"/>
              <a:buChar char="•"/>
            </a:pPr>
            <a:r>
              <a:rPr lang="en-US" dirty="0"/>
              <a:t>With this algorithm, all child nodes transmit a data packet to their parent node before the parent transmits the data packet. </a:t>
            </a:r>
          </a:p>
          <a:p>
            <a:pPr marL="285750" indent="-285750" algn="thaiDist">
              <a:lnSpc>
                <a:spcPct val="150000"/>
              </a:lnSpc>
              <a:buFont typeface="Arial" panose="020B0604020202020204" pitchFamily="34" charset="0"/>
              <a:buChar char="•"/>
            </a:pPr>
            <a:r>
              <a:rPr lang="en-US" dirty="0"/>
              <a:t>Thus, in one UTC, all data from </a:t>
            </a:r>
            <a:r>
              <a:rPr lang="en-US" dirty="0" err="1"/>
              <a:t>LoRa</a:t>
            </a:r>
            <a:r>
              <a:rPr lang="en-US" dirty="0"/>
              <a:t> nodes were forwarded to the sink node.</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842770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a:t>Before the node receives a timeslot and channel assignment from the parent node, this node updates its parent based on the parent choice mechanism from the parent list as a priority, which is Rule 1.</a:t>
            </a:r>
          </a:p>
          <a:p>
            <a:pPr marL="285750" indent="-285750" algn="thaiDist">
              <a:lnSpc>
                <a:spcPct val="150000"/>
              </a:lnSpc>
              <a:buFont typeface="Arial" panose="020B0604020202020204" pitchFamily="34" charset="0"/>
              <a:buChar char="•"/>
            </a:pPr>
            <a:r>
              <a:rPr lang="en-US" dirty="0"/>
              <a:t>The node has the lowest depth.</a:t>
            </a:r>
          </a:p>
          <a:p>
            <a:pPr marL="285750" indent="-285750" algn="thaiDist">
              <a:lnSpc>
                <a:spcPct val="150000"/>
              </a:lnSpc>
              <a:buFont typeface="Arial" panose="020B0604020202020204" pitchFamily="34" charset="0"/>
              <a:buChar char="•"/>
            </a:pPr>
            <a:r>
              <a:rPr lang="en-US" dirty="0"/>
              <a:t>The node has the smallest number of children.</a:t>
            </a:r>
          </a:p>
          <a:p>
            <a:pPr marL="285750" indent="-285750" algn="thaiDist">
              <a:lnSpc>
                <a:spcPct val="150000"/>
              </a:lnSpc>
              <a:buFont typeface="Arial" panose="020B0604020202020204" pitchFamily="34" charset="0"/>
              <a:buChar char="•"/>
            </a:pPr>
            <a:r>
              <a:rPr lang="en-US" dirty="0"/>
              <a:t>The node has the latest timeslot assigned for communication with its parent node. </a:t>
            </a:r>
          </a:p>
        </p:txBody>
      </p:sp>
    </p:spTree>
    <p:extLst>
      <p:ext uri="{BB962C8B-B14F-4D97-AF65-F5344CB8AC3E}">
        <p14:creationId xmlns:p14="http://schemas.microsoft.com/office/powerpoint/2010/main" val="1598012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703543"/>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In Figure 8, node 6 can choose nodes 2, 3, 4 or 5 as a parent.</a:t>
            </a:r>
          </a:p>
          <a:p>
            <a:pPr marL="285750" indent="-285750" algn="thaiDist">
              <a:lnSpc>
                <a:spcPct val="150000"/>
              </a:lnSpc>
              <a:buFont typeface="Arial" panose="020B0604020202020204" pitchFamily="34" charset="0"/>
              <a:buChar char="•"/>
            </a:pPr>
            <a:r>
              <a:rPr lang="en-US" dirty="0"/>
              <a:t>Based on Rule 1, node 6 chooses node 3 as its parent node </a:t>
            </a:r>
          </a:p>
          <a:p>
            <a:pPr algn="thaiDist">
              <a:lnSpc>
                <a:spcPct val="150000"/>
              </a:lnSpc>
            </a:pPr>
            <a:r>
              <a:rPr lang="en-US" dirty="0"/>
              <a:t>(node 3 has the lowest depth at 1, and the smallest number of children at 0). </a:t>
            </a:r>
          </a:p>
          <a:p>
            <a:pPr marL="285750" indent="-285750" algn="thaiDist">
              <a:lnSpc>
                <a:spcPct val="150000"/>
              </a:lnSpc>
              <a:buFont typeface="Arial" panose="020B0604020202020204" pitchFamily="34" charset="0"/>
              <a:buChar char="•"/>
            </a:pPr>
            <a:r>
              <a:rPr lang="en-US" dirty="0"/>
              <a:t>In this case, the end-to-end latency is the lowest because node 6 will have 2 hops.</a:t>
            </a:r>
          </a:p>
        </p:txBody>
      </p:sp>
      <p:pic>
        <p:nvPicPr>
          <p:cNvPr id="9" name="Picture 8">
            <a:extLst>
              <a:ext uri="{FF2B5EF4-FFF2-40B4-BE49-F238E27FC236}">
                <a16:creationId xmlns:a16="http://schemas.microsoft.com/office/drawing/2014/main" id="{67C1A462-D906-45E5-BE1F-769519A9BE54}"/>
              </a:ext>
            </a:extLst>
          </p:cNvPr>
          <p:cNvPicPr>
            <a:picLocks noChangeAspect="1"/>
          </p:cNvPicPr>
          <p:nvPr/>
        </p:nvPicPr>
        <p:blipFill>
          <a:blip r:embed="rId3"/>
          <a:stretch>
            <a:fillRect/>
          </a:stretch>
        </p:blipFill>
        <p:spPr>
          <a:xfrm>
            <a:off x="4842836" y="4205886"/>
            <a:ext cx="2506328" cy="2524424"/>
          </a:xfrm>
          <a:prstGeom prst="rect">
            <a:avLst/>
          </a:prstGeom>
        </p:spPr>
      </p:pic>
      <p:cxnSp>
        <p:nvCxnSpPr>
          <p:cNvPr id="10" name="Straight Connector 9">
            <a:extLst>
              <a:ext uri="{FF2B5EF4-FFF2-40B4-BE49-F238E27FC236}">
                <a16:creationId xmlns:a16="http://schemas.microsoft.com/office/drawing/2014/main" id="{97B611AC-618C-459E-A065-3D874041ABEE}"/>
              </a:ext>
            </a:extLst>
          </p:cNvPr>
          <p:cNvCxnSpPr/>
          <p:nvPr/>
        </p:nvCxnSpPr>
        <p:spPr>
          <a:xfrm flipH="1" flipV="1">
            <a:off x="6583680" y="5218732"/>
            <a:ext cx="182880" cy="34650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010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pic>
        <p:nvPicPr>
          <p:cNvPr id="7" name="Picture 6">
            <a:extLst>
              <a:ext uri="{FF2B5EF4-FFF2-40B4-BE49-F238E27FC236}">
                <a16:creationId xmlns:a16="http://schemas.microsoft.com/office/drawing/2014/main" id="{83BACE90-6084-407B-B7F0-4B4210F6D500}"/>
              </a:ext>
            </a:extLst>
          </p:cNvPr>
          <p:cNvPicPr>
            <a:picLocks noChangeAspect="1"/>
          </p:cNvPicPr>
          <p:nvPr/>
        </p:nvPicPr>
        <p:blipFill>
          <a:blip r:embed="rId3"/>
          <a:stretch>
            <a:fillRect/>
          </a:stretch>
        </p:blipFill>
        <p:spPr>
          <a:xfrm>
            <a:off x="4842836" y="4205886"/>
            <a:ext cx="2506328" cy="2524424"/>
          </a:xfrm>
          <a:prstGeom prst="rect">
            <a:avLst/>
          </a:prstGeom>
        </p:spPr>
      </p:pic>
      <p:cxnSp>
        <p:nvCxnSpPr>
          <p:cNvPr id="8" name="Straight Connector 7">
            <a:extLst>
              <a:ext uri="{FF2B5EF4-FFF2-40B4-BE49-F238E27FC236}">
                <a16:creationId xmlns:a16="http://schemas.microsoft.com/office/drawing/2014/main" id="{85567AF2-06F1-446B-B975-D6FE980B210C}"/>
              </a:ext>
            </a:extLst>
          </p:cNvPr>
          <p:cNvCxnSpPr/>
          <p:nvPr/>
        </p:nvCxnSpPr>
        <p:spPr>
          <a:xfrm flipH="1" flipV="1">
            <a:off x="6583680" y="5218732"/>
            <a:ext cx="182880" cy="34650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534540"/>
          </a:xfrm>
          <a:prstGeom prst="rect">
            <a:avLst/>
          </a:prstGeom>
          <a:noFill/>
        </p:spPr>
        <p:txBody>
          <a:bodyPr wrap="square" rtlCol="0">
            <a:spAutoFit/>
          </a:bodyPr>
          <a:lstStyle/>
          <a:p>
            <a:pPr algn="thaiDist">
              <a:lnSpc>
                <a:spcPct val="150000"/>
              </a:lnSpc>
            </a:pPr>
            <a:r>
              <a:rPr lang="en-US" dirty="0"/>
              <a:t>In data aggregation, we assume that every node has 60 bytes as the data size.</a:t>
            </a:r>
          </a:p>
          <a:p>
            <a:pPr marL="285750" indent="-285750" algn="thaiDist">
              <a:lnSpc>
                <a:spcPct val="150000"/>
              </a:lnSpc>
              <a:buFont typeface="Arial" panose="020B0604020202020204" pitchFamily="34" charset="0"/>
              <a:buChar char="•"/>
            </a:pPr>
            <a:r>
              <a:rPr lang="en-US" dirty="0"/>
              <a:t>If node 2 is chosen, it will have 240 bytes packet size, </a:t>
            </a:r>
          </a:p>
          <a:p>
            <a:pPr marL="285750" indent="-285750" algn="thaiDist">
              <a:lnSpc>
                <a:spcPct val="150000"/>
              </a:lnSpc>
              <a:buFont typeface="Arial" panose="020B0604020202020204" pitchFamily="34" charset="0"/>
              <a:buChar char="•"/>
            </a:pPr>
            <a:r>
              <a:rPr lang="en-US" dirty="0"/>
              <a:t>but if node 3 is chosen it will have 120 bytes as the packet size. </a:t>
            </a:r>
          </a:p>
          <a:p>
            <a:pPr algn="thaiDist">
              <a:lnSpc>
                <a:spcPct val="150000"/>
              </a:lnSpc>
            </a:pPr>
            <a:r>
              <a:rPr lang="en-US" dirty="0"/>
              <a:t>To avoid exceeding the packet size, node 6 rejects node 2 as its parent to avoid exceeding the packet size. For that reason, node 6 chooses node 3, proving that Rule 1 will minimize the end-to-end latency as well as the packet size distribution</a:t>
            </a:r>
          </a:p>
        </p:txBody>
      </p:sp>
      <p:cxnSp>
        <p:nvCxnSpPr>
          <p:cNvPr id="9" name="Straight Connector 8">
            <a:extLst>
              <a:ext uri="{FF2B5EF4-FFF2-40B4-BE49-F238E27FC236}">
                <a16:creationId xmlns:a16="http://schemas.microsoft.com/office/drawing/2014/main" id="{03775AAC-1DD3-4776-BA15-9D3A29534C87}"/>
              </a:ext>
            </a:extLst>
          </p:cNvPr>
          <p:cNvCxnSpPr>
            <a:cxnSpLocks/>
          </p:cNvCxnSpPr>
          <p:nvPr/>
        </p:nvCxnSpPr>
        <p:spPr>
          <a:xfrm flipH="1" flipV="1">
            <a:off x="5909912" y="5078962"/>
            <a:ext cx="765208" cy="562391"/>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7CB973E-8C13-4A2F-BE3F-F67DBE48F144}"/>
              </a:ext>
            </a:extLst>
          </p:cNvPr>
          <p:cNvSpPr txBox="1"/>
          <p:nvPr/>
        </p:nvSpPr>
        <p:spPr>
          <a:xfrm>
            <a:off x="4697128" y="4606171"/>
            <a:ext cx="1039529" cy="307777"/>
          </a:xfrm>
          <a:prstGeom prst="rect">
            <a:avLst/>
          </a:prstGeom>
          <a:noFill/>
        </p:spPr>
        <p:txBody>
          <a:bodyPr wrap="square" rtlCol="0">
            <a:spAutoFit/>
          </a:bodyPr>
          <a:lstStyle/>
          <a:p>
            <a:r>
              <a:rPr lang="en-US" sz="1400" dirty="0">
                <a:solidFill>
                  <a:srgbClr val="0070C0"/>
                </a:solidFill>
              </a:rPr>
              <a:t>4x60 bytes</a:t>
            </a:r>
            <a:endParaRPr lang="th-TH" sz="1400" dirty="0">
              <a:solidFill>
                <a:srgbClr val="0070C0"/>
              </a:solidFill>
            </a:endParaRPr>
          </a:p>
        </p:txBody>
      </p:sp>
      <p:sp>
        <p:nvSpPr>
          <p:cNvPr id="11" name="TextBox 10">
            <a:extLst>
              <a:ext uri="{FF2B5EF4-FFF2-40B4-BE49-F238E27FC236}">
                <a16:creationId xmlns:a16="http://schemas.microsoft.com/office/drawing/2014/main" id="{4BDC6158-FEF8-4622-8DE1-DFD98D0E44C3}"/>
              </a:ext>
            </a:extLst>
          </p:cNvPr>
          <p:cNvSpPr txBox="1"/>
          <p:nvPr/>
        </p:nvSpPr>
        <p:spPr>
          <a:xfrm>
            <a:off x="6675120" y="4681611"/>
            <a:ext cx="1039529" cy="307777"/>
          </a:xfrm>
          <a:prstGeom prst="rect">
            <a:avLst/>
          </a:prstGeom>
          <a:noFill/>
        </p:spPr>
        <p:txBody>
          <a:bodyPr wrap="square" rtlCol="0">
            <a:spAutoFit/>
          </a:bodyPr>
          <a:lstStyle/>
          <a:p>
            <a:r>
              <a:rPr lang="en-US" sz="1400" dirty="0">
                <a:solidFill>
                  <a:srgbClr val="FF0000"/>
                </a:solidFill>
              </a:rPr>
              <a:t>2x60 bytes</a:t>
            </a:r>
            <a:endParaRPr lang="th-TH" sz="1400" dirty="0">
              <a:solidFill>
                <a:srgbClr val="FF0000"/>
              </a:solidFill>
            </a:endParaRPr>
          </a:p>
        </p:txBody>
      </p:sp>
    </p:spTree>
    <p:extLst>
      <p:ext uri="{BB962C8B-B14F-4D97-AF65-F5344CB8AC3E}">
        <p14:creationId xmlns:p14="http://schemas.microsoft.com/office/powerpoint/2010/main" val="3892378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988952-6A52-4E94-AAE8-DB3FC009741E}"/>
              </a:ext>
            </a:extLst>
          </p:cNvPr>
          <p:cNvPicPr>
            <a:picLocks noChangeAspect="1"/>
          </p:cNvPicPr>
          <p:nvPr/>
        </p:nvPicPr>
        <p:blipFill>
          <a:blip r:embed="rId3"/>
          <a:stretch>
            <a:fillRect/>
          </a:stretch>
        </p:blipFill>
        <p:spPr>
          <a:xfrm>
            <a:off x="7430703" y="1622635"/>
            <a:ext cx="4761297" cy="5235365"/>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REDUCE command packet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6463183" cy="2119042"/>
          </a:xfrm>
          <a:prstGeom prst="rect">
            <a:avLst/>
          </a:prstGeom>
          <a:noFill/>
        </p:spPr>
        <p:txBody>
          <a:bodyPr wrap="square" rtlCol="0">
            <a:spAutoFit/>
          </a:bodyPr>
          <a:lstStyle/>
          <a:p>
            <a:pPr algn="thaiDist">
              <a:lnSpc>
                <a:spcPct val="150000"/>
              </a:lnSpc>
            </a:pPr>
            <a:r>
              <a:rPr lang="en-US" dirty="0"/>
              <a:t>In Figure 9, we can see that two timeslots, T1 and T2, are not used; thus, to minimize the delay time and maximize the data rate, they removed these timeslots by REDUCE command packet. </a:t>
            </a:r>
          </a:p>
          <a:p>
            <a:pPr algn="thaiDist">
              <a:lnSpc>
                <a:spcPct val="150000"/>
              </a:lnSpc>
            </a:pPr>
            <a:r>
              <a:rPr lang="en-US" dirty="0"/>
              <a:t>Figure 10 shows data transmissions after all the nodes received the REDUCE command packet.</a:t>
            </a:r>
          </a:p>
        </p:txBody>
      </p:sp>
      <p:sp>
        <p:nvSpPr>
          <p:cNvPr id="3" name="TextBox 2">
            <a:extLst>
              <a:ext uri="{FF2B5EF4-FFF2-40B4-BE49-F238E27FC236}">
                <a16:creationId xmlns:a16="http://schemas.microsoft.com/office/drawing/2014/main" id="{3A5FD984-7949-4813-926F-9DC30CDB07E6}"/>
              </a:ext>
            </a:extLst>
          </p:cNvPr>
          <p:cNvSpPr txBox="1"/>
          <p:nvPr/>
        </p:nvSpPr>
        <p:spPr>
          <a:xfrm>
            <a:off x="8903370" y="6642556"/>
            <a:ext cx="529389" cy="215444"/>
          </a:xfrm>
          <a:prstGeom prst="rect">
            <a:avLst/>
          </a:prstGeom>
          <a:solidFill>
            <a:schemeClr val="bg1"/>
          </a:solidFill>
        </p:spPr>
        <p:txBody>
          <a:bodyPr wrap="square" rtlCol="0">
            <a:spAutoFit/>
          </a:bodyPr>
          <a:lstStyle/>
          <a:p>
            <a:r>
              <a:rPr lang="en-US" sz="800" dirty="0"/>
              <a:t>DTC</a:t>
            </a:r>
            <a:endParaRPr lang="th-TH" sz="800" dirty="0"/>
          </a:p>
        </p:txBody>
      </p:sp>
    </p:spTree>
    <p:extLst>
      <p:ext uri="{BB962C8B-B14F-4D97-AF65-F5344CB8AC3E}">
        <p14:creationId xmlns:p14="http://schemas.microsoft.com/office/powerpoint/2010/main" val="2298318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How to insert the New Node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53920" cy="2534540"/>
          </a:xfrm>
          <a:prstGeom prst="rect">
            <a:avLst/>
          </a:prstGeom>
          <a:noFill/>
        </p:spPr>
        <p:txBody>
          <a:bodyPr wrap="square" rtlCol="0">
            <a:spAutoFit/>
          </a:bodyPr>
          <a:lstStyle/>
          <a:p>
            <a:pPr algn="thaiDist">
              <a:lnSpc>
                <a:spcPct val="150000"/>
              </a:lnSpc>
            </a:pPr>
            <a:r>
              <a:rPr lang="en-US" dirty="0"/>
              <a:t>During the UTCs, All nodes forward a data packet to the sink node. So, the sink node can know the number of joined nodes in the network.</a:t>
            </a:r>
          </a:p>
          <a:p>
            <a:pPr algn="thaiDist">
              <a:lnSpc>
                <a:spcPct val="150000"/>
              </a:lnSpc>
            </a:pPr>
            <a:r>
              <a:rPr lang="en-US" dirty="0"/>
              <a:t>Base on this information, in the DTP, if the sink node determines that other nodes need to join the network, the sink node transmits the ADD command packet to notify all joined nodes to allow new nodes to join the network. Thus, before one UTC, we add one NCP cycle.</a:t>
            </a:r>
          </a:p>
          <a:p>
            <a:pPr algn="thaiDist">
              <a:lnSpc>
                <a:spcPct val="150000"/>
              </a:lnSpc>
            </a:pPr>
            <a:endParaRPr lang="en-US" dirty="0"/>
          </a:p>
        </p:txBody>
      </p:sp>
      <p:pic>
        <p:nvPicPr>
          <p:cNvPr id="7" name="Picture 6">
            <a:extLst>
              <a:ext uri="{FF2B5EF4-FFF2-40B4-BE49-F238E27FC236}">
                <a16:creationId xmlns:a16="http://schemas.microsoft.com/office/drawing/2014/main" id="{224F2F98-ECB6-49A3-8427-CFEE0EC89CAC}"/>
              </a:ext>
            </a:extLst>
          </p:cNvPr>
          <p:cNvPicPr>
            <a:picLocks noChangeAspect="1"/>
          </p:cNvPicPr>
          <p:nvPr/>
        </p:nvPicPr>
        <p:blipFill>
          <a:blip r:embed="rId3"/>
          <a:stretch>
            <a:fillRect/>
          </a:stretch>
        </p:blipFill>
        <p:spPr>
          <a:xfrm>
            <a:off x="2290762" y="4221000"/>
            <a:ext cx="7610475" cy="2209800"/>
          </a:xfrm>
          <a:prstGeom prst="rect">
            <a:avLst/>
          </a:prstGeom>
        </p:spPr>
      </p:pic>
      <p:pic>
        <p:nvPicPr>
          <p:cNvPr id="8" name="Picture 7">
            <a:extLst>
              <a:ext uri="{FF2B5EF4-FFF2-40B4-BE49-F238E27FC236}">
                <a16:creationId xmlns:a16="http://schemas.microsoft.com/office/drawing/2014/main" id="{BE313314-1E87-475B-8078-A51E2D308C81}"/>
              </a:ext>
            </a:extLst>
          </p:cNvPr>
          <p:cNvPicPr>
            <a:picLocks noChangeAspect="1"/>
          </p:cNvPicPr>
          <p:nvPr/>
        </p:nvPicPr>
        <p:blipFill rotWithShape="1">
          <a:blip r:embed="rId3"/>
          <a:srcRect l="2172" t="58207" r="85813" b="24370"/>
          <a:stretch/>
        </p:blipFill>
        <p:spPr>
          <a:xfrm>
            <a:off x="6545177" y="4284671"/>
            <a:ext cx="914401" cy="385011"/>
          </a:xfrm>
          <a:prstGeom prst="rect">
            <a:avLst/>
          </a:prstGeom>
        </p:spPr>
      </p:pic>
      <p:cxnSp>
        <p:nvCxnSpPr>
          <p:cNvPr id="9" name="Straight Arrow Connector 8">
            <a:extLst>
              <a:ext uri="{FF2B5EF4-FFF2-40B4-BE49-F238E27FC236}">
                <a16:creationId xmlns:a16="http://schemas.microsoft.com/office/drawing/2014/main" id="{41C343BD-DA6A-4DEB-98BC-5788956F812E}"/>
              </a:ext>
            </a:extLst>
          </p:cNvPr>
          <p:cNvCxnSpPr/>
          <p:nvPr/>
        </p:nvCxnSpPr>
        <p:spPr>
          <a:xfrm flipH="1">
            <a:off x="6400800"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9448F44-AA91-4960-9F1D-F2854ADB9CA4}"/>
              </a:ext>
            </a:extLst>
          </p:cNvPr>
          <p:cNvPicPr>
            <a:picLocks noChangeAspect="1"/>
          </p:cNvPicPr>
          <p:nvPr/>
        </p:nvPicPr>
        <p:blipFill rotWithShape="1">
          <a:blip r:embed="rId3"/>
          <a:srcRect l="2172" t="58207" r="85813" b="24370"/>
          <a:stretch/>
        </p:blipFill>
        <p:spPr>
          <a:xfrm>
            <a:off x="7836540" y="4284671"/>
            <a:ext cx="914401" cy="385011"/>
          </a:xfrm>
          <a:prstGeom prst="rect">
            <a:avLst/>
          </a:prstGeom>
        </p:spPr>
      </p:pic>
      <p:cxnSp>
        <p:nvCxnSpPr>
          <p:cNvPr id="11" name="Straight Arrow Connector 10">
            <a:extLst>
              <a:ext uri="{FF2B5EF4-FFF2-40B4-BE49-F238E27FC236}">
                <a16:creationId xmlns:a16="http://schemas.microsoft.com/office/drawing/2014/main" id="{D28DA09C-3CA6-4C14-816B-4045A82750A6}"/>
              </a:ext>
            </a:extLst>
          </p:cNvPr>
          <p:cNvCxnSpPr/>
          <p:nvPr/>
        </p:nvCxnSpPr>
        <p:spPr>
          <a:xfrm flipH="1">
            <a:off x="7692163"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allout: Down Arrow 11">
            <a:extLst>
              <a:ext uri="{FF2B5EF4-FFF2-40B4-BE49-F238E27FC236}">
                <a16:creationId xmlns:a16="http://schemas.microsoft.com/office/drawing/2014/main" id="{9C34AAA2-6E29-49C7-B91F-F51A1FCB4B27}"/>
              </a:ext>
            </a:extLst>
          </p:cNvPr>
          <p:cNvSpPr/>
          <p:nvPr/>
        </p:nvSpPr>
        <p:spPr>
          <a:xfrm>
            <a:off x="5646824" y="4327521"/>
            <a:ext cx="609599" cy="1172853"/>
          </a:xfrm>
          <a:prstGeom prst="downArrowCallout">
            <a:avLst>
              <a:gd name="adj1" fmla="val 25000"/>
              <a:gd name="adj2" fmla="val 25000"/>
              <a:gd name="adj3" fmla="val 25000"/>
              <a:gd name="adj4" fmla="val 33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endParaRPr lang="th-TH" dirty="0"/>
          </a:p>
        </p:txBody>
      </p:sp>
    </p:spTree>
    <p:extLst>
      <p:ext uri="{BB962C8B-B14F-4D97-AF65-F5344CB8AC3E}">
        <p14:creationId xmlns:p14="http://schemas.microsoft.com/office/powerpoint/2010/main" val="193553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How to insert the New Node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53920" cy="1288045"/>
          </a:xfrm>
          <a:prstGeom prst="rect">
            <a:avLst/>
          </a:prstGeom>
          <a:noFill/>
        </p:spPr>
        <p:txBody>
          <a:bodyPr wrap="square" rtlCol="0">
            <a:spAutoFit/>
          </a:bodyPr>
          <a:lstStyle/>
          <a:p>
            <a:pPr algn="thaiDist">
              <a:lnSpc>
                <a:spcPct val="150000"/>
              </a:lnSpc>
            </a:pPr>
            <a:r>
              <a:rPr lang="en-US" dirty="0"/>
              <a:t>After that, in the next DTC, if the sink node determines that all nodes have already joined the network, the sink node will transmit a REMOVE_ADD command packet to notify all the nodes to remove the NCP cycle before the UTC.</a:t>
            </a:r>
          </a:p>
        </p:txBody>
      </p:sp>
      <p:pic>
        <p:nvPicPr>
          <p:cNvPr id="12" name="Picture 11">
            <a:extLst>
              <a:ext uri="{FF2B5EF4-FFF2-40B4-BE49-F238E27FC236}">
                <a16:creationId xmlns:a16="http://schemas.microsoft.com/office/drawing/2014/main" id="{C6944CEF-BF2F-40CB-B129-D24E254DDCE7}"/>
              </a:ext>
            </a:extLst>
          </p:cNvPr>
          <p:cNvPicPr>
            <a:picLocks noChangeAspect="1"/>
          </p:cNvPicPr>
          <p:nvPr/>
        </p:nvPicPr>
        <p:blipFill>
          <a:blip r:embed="rId3"/>
          <a:stretch>
            <a:fillRect/>
          </a:stretch>
        </p:blipFill>
        <p:spPr>
          <a:xfrm>
            <a:off x="2290762" y="4221000"/>
            <a:ext cx="7610475" cy="2209800"/>
          </a:xfrm>
          <a:prstGeom prst="rect">
            <a:avLst/>
          </a:prstGeom>
        </p:spPr>
      </p:pic>
      <p:pic>
        <p:nvPicPr>
          <p:cNvPr id="13" name="Picture 12">
            <a:extLst>
              <a:ext uri="{FF2B5EF4-FFF2-40B4-BE49-F238E27FC236}">
                <a16:creationId xmlns:a16="http://schemas.microsoft.com/office/drawing/2014/main" id="{20FAAED1-9252-4BDE-8675-A4A7013EC18D}"/>
              </a:ext>
            </a:extLst>
          </p:cNvPr>
          <p:cNvPicPr>
            <a:picLocks noChangeAspect="1"/>
          </p:cNvPicPr>
          <p:nvPr/>
        </p:nvPicPr>
        <p:blipFill rotWithShape="1">
          <a:blip r:embed="rId3"/>
          <a:srcRect l="2172" t="58207" r="85813" b="24370"/>
          <a:stretch/>
        </p:blipFill>
        <p:spPr>
          <a:xfrm>
            <a:off x="6545177" y="4284671"/>
            <a:ext cx="914401" cy="385011"/>
          </a:xfrm>
          <a:prstGeom prst="rect">
            <a:avLst/>
          </a:prstGeom>
        </p:spPr>
      </p:pic>
      <p:cxnSp>
        <p:nvCxnSpPr>
          <p:cNvPr id="14" name="Straight Arrow Connector 13">
            <a:extLst>
              <a:ext uri="{FF2B5EF4-FFF2-40B4-BE49-F238E27FC236}">
                <a16:creationId xmlns:a16="http://schemas.microsoft.com/office/drawing/2014/main" id="{168FC4E1-0587-4E26-9DEA-A1532DB1B98C}"/>
              </a:ext>
            </a:extLst>
          </p:cNvPr>
          <p:cNvCxnSpPr/>
          <p:nvPr/>
        </p:nvCxnSpPr>
        <p:spPr>
          <a:xfrm flipH="1">
            <a:off x="6400800"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D47DCE06-74C7-4AEF-BB94-CC76F1B69C7A}"/>
              </a:ext>
            </a:extLst>
          </p:cNvPr>
          <p:cNvPicPr>
            <a:picLocks noChangeAspect="1"/>
          </p:cNvPicPr>
          <p:nvPr/>
        </p:nvPicPr>
        <p:blipFill rotWithShape="1">
          <a:blip r:embed="rId3"/>
          <a:srcRect l="2172" t="58207" r="85813" b="24370"/>
          <a:stretch/>
        </p:blipFill>
        <p:spPr>
          <a:xfrm>
            <a:off x="7836540" y="4284671"/>
            <a:ext cx="914401" cy="385011"/>
          </a:xfrm>
          <a:prstGeom prst="rect">
            <a:avLst/>
          </a:prstGeom>
        </p:spPr>
      </p:pic>
      <p:cxnSp>
        <p:nvCxnSpPr>
          <p:cNvPr id="16" name="Straight Arrow Connector 15">
            <a:extLst>
              <a:ext uri="{FF2B5EF4-FFF2-40B4-BE49-F238E27FC236}">
                <a16:creationId xmlns:a16="http://schemas.microsoft.com/office/drawing/2014/main" id="{96B05E73-3695-43D4-9A3D-1401B841E073}"/>
              </a:ext>
            </a:extLst>
          </p:cNvPr>
          <p:cNvCxnSpPr/>
          <p:nvPr/>
        </p:nvCxnSpPr>
        <p:spPr>
          <a:xfrm flipH="1">
            <a:off x="7692163"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allout: Down Arrow 16">
            <a:extLst>
              <a:ext uri="{FF2B5EF4-FFF2-40B4-BE49-F238E27FC236}">
                <a16:creationId xmlns:a16="http://schemas.microsoft.com/office/drawing/2014/main" id="{0AE4B5D9-A858-4A96-A70C-19EB4877A415}"/>
              </a:ext>
            </a:extLst>
          </p:cNvPr>
          <p:cNvSpPr/>
          <p:nvPr/>
        </p:nvSpPr>
        <p:spPr>
          <a:xfrm>
            <a:off x="5414212" y="4284671"/>
            <a:ext cx="914400" cy="1172853"/>
          </a:xfrm>
          <a:prstGeom prst="downArrowCallout">
            <a:avLst>
              <a:gd name="adj1" fmla="val 25000"/>
              <a:gd name="adj2" fmla="val 25000"/>
              <a:gd name="adj3" fmla="val 25000"/>
              <a:gd name="adj4" fmla="val 33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remove</a:t>
            </a:r>
            <a:endParaRPr lang="th-TH" dirty="0"/>
          </a:p>
        </p:txBody>
      </p:sp>
      <p:sp>
        <p:nvSpPr>
          <p:cNvPr id="4" name="Multiplication Sign 3">
            <a:extLst>
              <a:ext uri="{FF2B5EF4-FFF2-40B4-BE49-F238E27FC236}">
                <a16:creationId xmlns:a16="http://schemas.microsoft.com/office/drawing/2014/main" id="{B12DDD4E-C5D6-4D68-A34E-8F35112F653E}"/>
              </a:ext>
            </a:extLst>
          </p:cNvPr>
          <p:cNvSpPr/>
          <p:nvPr/>
        </p:nvSpPr>
        <p:spPr>
          <a:xfrm>
            <a:off x="6642991" y="4030316"/>
            <a:ext cx="747574" cy="85521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8" name="Multiplication Sign 17">
            <a:extLst>
              <a:ext uri="{FF2B5EF4-FFF2-40B4-BE49-F238E27FC236}">
                <a16:creationId xmlns:a16="http://schemas.microsoft.com/office/drawing/2014/main" id="{5B6ED2D9-B520-4A31-9DBF-9F7082BCCFB3}"/>
              </a:ext>
            </a:extLst>
          </p:cNvPr>
          <p:cNvSpPr/>
          <p:nvPr/>
        </p:nvSpPr>
        <p:spPr>
          <a:xfrm>
            <a:off x="7891945" y="4009244"/>
            <a:ext cx="747574" cy="85521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762992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Resynchronize Time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If we knew the time on air, then we can estimate when the next timeslot starts, as shown in Figure 13, to resynchronize the timeslot between the child nodes and the parent nodes.</a:t>
            </a:r>
          </a:p>
        </p:txBody>
      </p:sp>
      <p:pic>
        <p:nvPicPr>
          <p:cNvPr id="5" name="Picture 4">
            <a:extLst>
              <a:ext uri="{FF2B5EF4-FFF2-40B4-BE49-F238E27FC236}">
                <a16:creationId xmlns:a16="http://schemas.microsoft.com/office/drawing/2014/main" id="{E15B352A-A68A-4B96-9274-CA46ECDD1642}"/>
              </a:ext>
            </a:extLst>
          </p:cNvPr>
          <p:cNvPicPr>
            <a:picLocks noChangeAspect="1"/>
          </p:cNvPicPr>
          <p:nvPr/>
        </p:nvPicPr>
        <p:blipFill>
          <a:blip r:embed="rId3"/>
          <a:stretch>
            <a:fillRect/>
          </a:stretch>
        </p:blipFill>
        <p:spPr>
          <a:xfrm>
            <a:off x="1425249" y="3457552"/>
            <a:ext cx="9341502" cy="2698292"/>
          </a:xfrm>
          <a:prstGeom prst="rect">
            <a:avLst/>
          </a:prstGeom>
        </p:spPr>
      </p:pic>
    </p:spTree>
    <p:extLst>
      <p:ext uri="{BB962C8B-B14F-4D97-AF65-F5344CB8AC3E}">
        <p14:creationId xmlns:p14="http://schemas.microsoft.com/office/powerpoint/2010/main" val="2392052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Resynchronize Time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After receiving a command packet, based on Equation (1), they calculated the time on air based on the received packet size, Spreading Factor (SF) and Coding Rate (CR).</a:t>
            </a:r>
          </a:p>
        </p:txBody>
      </p:sp>
      <p:pic>
        <p:nvPicPr>
          <p:cNvPr id="4" name="Picture 3">
            <a:extLst>
              <a:ext uri="{FF2B5EF4-FFF2-40B4-BE49-F238E27FC236}">
                <a16:creationId xmlns:a16="http://schemas.microsoft.com/office/drawing/2014/main" id="{34D4D017-E006-4478-8812-A457D0336F6A}"/>
              </a:ext>
            </a:extLst>
          </p:cNvPr>
          <p:cNvPicPr>
            <a:picLocks noChangeAspect="1"/>
          </p:cNvPicPr>
          <p:nvPr/>
        </p:nvPicPr>
        <p:blipFill>
          <a:blip r:embed="rId3"/>
          <a:stretch>
            <a:fillRect/>
          </a:stretch>
        </p:blipFill>
        <p:spPr>
          <a:xfrm>
            <a:off x="1287203" y="3251955"/>
            <a:ext cx="9617593" cy="1083554"/>
          </a:xfrm>
          <a:prstGeom prst="rect">
            <a:avLst/>
          </a:prstGeom>
        </p:spPr>
      </p:pic>
      <p:pic>
        <p:nvPicPr>
          <p:cNvPr id="7" name="Picture 6">
            <a:extLst>
              <a:ext uri="{FF2B5EF4-FFF2-40B4-BE49-F238E27FC236}">
                <a16:creationId xmlns:a16="http://schemas.microsoft.com/office/drawing/2014/main" id="{FE2A7AE1-F35D-49BC-871C-4E928B15F5ED}"/>
              </a:ext>
            </a:extLst>
          </p:cNvPr>
          <p:cNvPicPr>
            <a:picLocks noChangeAspect="1"/>
          </p:cNvPicPr>
          <p:nvPr/>
        </p:nvPicPr>
        <p:blipFill>
          <a:blip r:embed="rId4"/>
          <a:stretch>
            <a:fillRect/>
          </a:stretch>
        </p:blipFill>
        <p:spPr>
          <a:xfrm>
            <a:off x="1911511" y="4480641"/>
            <a:ext cx="5795065" cy="1756611"/>
          </a:xfrm>
          <a:prstGeom prst="rect">
            <a:avLst/>
          </a:prstGeom>
        </p:spPr>
      </p:pic>
    </p:spTree>
    <p:extLst>
      <p:ext uri="{BB962C8B-B14F-4D97-AF65-F5344CB8AC3E}">
        <p14:creationId xmlns:p14="http://schemas.microsoft.com/office/powerpoint/2010/main" val="4219928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Experiment Evaluation</a:t>
            </a:r>
            <a:endParaRPr lang="th-TH" dirty="0">
              <a:solidFill>
                <a:schemeClr val="tx1"/>
              </a:solidFill>
            </a:endParaRPr>
          </a:p>
        </p:txBody>
      </p:sp>
      <p:grpSp>
        <p:nvGrpSpPr>
          <p:cNvPr id="3" name="Group 2">
            <a:extLst>
              <a:ext uri="{FF2B5EF4-FFF2-40B4-BE49-F238E27FC236}">
                <a16:creationId xmlns:a16="http://schemas.microsoft.com/office/drawing/2014/main" id="{99EFFEEB-E1E2-40BE-935A-5601FEC87E83}"/>
              </a:ext>
            </a:extLst>
          </p:cNvPr>
          <p:cNvGrpSpPr/>
          <p:nvPr/>
        </p:nvGrpSpPr>
        <p:grpSpPr>
          <a:xfrm>
            <a:off x="7218947" y="1296516"/>
            <a:ext cx="3603028" cy="1637740"/>
            <a:chOff x="2905827" y="1673351"/>
            <a:chExt cx="6286500" cy="2857500"/>
          </a:xfrm>
        </p:grpSpPr>
        <p:pic>
          <p:nvPicPr>
            <p:cNvPr id="4" name="Picture 2" descr="Semtech_SX1272_f">
              <a:extLst>
                <a:ext uri="{FF2B5EF4-FFF2-40B4-BE49-F238E27FC236}">
                  <a16:creationId xmlns:a16="http://schemas.microsoft.com/office/drawing/2014/main" id="{A54E9BF8-1BB4-4493-81DB-BCB3A85D5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827" y="1673351"/>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ultiTech Developer Resources » mDot">
              <a:extLst>
                <a:ext uri="{FF2B5EF4-FFF2-40B4-BE49-F238E27FC236}">
                  <a16:creationId xmlns:a16="http://schemas.microsoft.com/office/drawing/2014/main" id="{F2B0D70D-08B8-4DCB-BB84-76E7D251BC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327" y="2256022"/>
              <a:ext cx="3429000" cy="2076450"/>
            </a:xfrm>
            <a:prstGeom prst="rect">
              <a:avLst/>
            </a:prstGeom>
            <a:noFill/>
            <a:extLst>
              <a:ext uri="{909E8E84-426E-40DD-AFC4-6F175D3DCCD1}">
                <a14:hiddenFill xmlns:a14="http://schemas.microsoft.com/office/drawing/2010/main">
                  <a:solidFill>
                    <a:srgbClr val="FFFFFF"/>
                  </a:solidFill>
                </a14:hiddenFill>
              </a:ext>
            </a:extLst>
          </p:spPr>
        </p:pic>
        <p:sp>
          <p:nvSpPr>
            <p:cNvPr id="7" name="Isosceles Triangle 6">
              <a:extLst>
                <a:ext uri="{FF2B5EF4-FFF2-40B4-BE49-F238E27FC236}">
                  <a16:creationId xmlns:a16="http://schemas.microsoft.com/office/drawing/2014/main" id="{AFFC1620-6427-4BC3-9A23-792AAFCBACFE}"/>
                </a:ext>
              </a:extLst>
            </p:cNvPr>
            <p:cNvSpPr/>
            <p:nvPr/>
          </p:nvSpPr>
          <p:spPr>
            <a:xfrm rot="5400000">
              <a:off x="4778856" y="2129877"/>
              <a:ext cx="1990393" cy="1985012"/>
            </a:xfrm>
            <a:prstGeom prst="triangle">
              <a:avLst>
                <a:gd name="adj" fmla="val 5628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grpSp>
      <p:pic>
        <p:nvPicPr>
          <p:cNvPr id="9" name="Picture 8">
            <a:extLst>
              <a:ext uri="{FF2B5EF4-FFF2-40B4-BE49-F238E27FC236}">
                <a16:creationId xmlns:a16="http://schemas.microsoft.com/office/drawing/2014/main" id="{71AC416E-2AFD-44F1-BCCB-9C07DE0D022A}"/>
              </a:ext>
            </a:extLst>
          </p:cNvPr>
          <p:cNvPicPr>
            <a:picLocks noChangeAspect="1"/>
          </p:cNvPicPr>
          <p:nvPr/>
        </p:nvPicPr>
        <p:blipFill rotWithShape="1">
          <a:blip r:embed="rId5"/>
          <a:srcRect l="50323"/>
          <a:stretch/>
        </p:blipFill>
        <p:spPr>
          <a:xfrm>
            <a:off x="9182939" y="3194366"/>
            <a:ext cx="2566737" cy="3012426"/>
          </a:xfrm>
          <a:prstGeom prst="rect">
            <a:avLst/>
          </a:prstGeom>
        </p:spPr>
      </p:pic>
      <p:sp>
        <p:nvSpPr>
          <p:cNvPr id="10" name="Isosceles Triangle 9">
            <a:extLst>
              <a:ext uri="{FF2B5EF4-FFF2-40B4-BE49-F238E27FC236}">
                <a16:creationId xmlns:a16="http://schemas.microsoft.com/office/drawing/2014/main" id="{2BE959BC-4785-4F9C-A483-CA4817B545AB}"/>
              </a:ext>
            </a:extLst>
          </p:cNvPr>
          <p:cNvSpPr/>
          <p:nvPr/>
        </p:nvSpPr>
        <p:spPr>
          <a:xfrm rot="9347001">
            <a:off x="10082175" y="2672718"/>
            <a:ext cx="1140769" cy="1805000"/>
          </a:xfrm>
          <a:prstGeom prst="triangle">
            <a:avLst>
              <a:gd name="adj" fmla="val 8864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1" name="TextBox 10">
            <a:extLst>
              <a:ext uri="{FF2B5EF4-FFF2-40B4-BE49-F238E27FC236}">
                <a16:creationId xmlns:a16="http://schemas.microsoft.com/office/drawing/2014/main" id="{959086FD-40CF-436A-883D-1C034DBA463C}"/>
              </a:ext>
            </a:extLst>
          </p:cNvPr>
          <p:cNvSpPr txBox="1"/>
          <p:nvPr/>
        </p:nvSpPr>
        <p:spPr>
          <a:xfrm>
            <a:off x="813516" y="2135142"/>
            <a:ext cx="6405431" cy="2119042"/>
          </a:xfrm>
          <a:prstGeom prst="rect">
            <a:avLst/>
          </a:prstGeom>
          <a:noFill/>
        </p:spPr>
        <p:txBody>
          <a:bodyPr wrap="square" rtlCol="0">
            <a:spAutoFit/>
          </a:bodyPr>
          <a:lstStyle/>
          <a:p>
            <a:pPr algn="thaiDist">
              <a:lnSpc>
                <a:spcPct val="150000"/>
              </a:lnSpc>
            </a:pPr>
            <a:r>
              <a:rPr lang="en-US" dirty="0"/>
              <a:t>They developed the proposed protocol using the MultiTech </a:t>
            </a:r>
            <a:r>
              <a:rPr lang="en-US" dirty="0" err="1"/>
              <a:t>mDot</a:t>
            </a:r>
            <a:r>
              <a:rPr lang="en-US" dirty="0"/>
              <a:t> module, which consists of a </a:t>
            </a:r>
            <a:r>
              <a:rPr lang="en-US" dirty="0" err="1"/>
              <a:t>Semtech</a:t>
            </a:r>
            <a:r>
              <a:rPr lang="en-US" dirty="0"/>
              <a:t> SX1272 </a:t>
            </a:r>
            <a:r>
              <a:rPr lang="en-US" dirty="0" err="1"/>
              <a:t>LoRa</a:t>
            </a:r>
            <a:r>
              <a:rPr lang="en-US" dirty="0"/>
              <a:t> transceiver (</a:t>
            </a:r>
            <a:r>
              <a:rPr lang="en-US" dirty="0" err="1"/>
              <a:t>Semtech</a:t>
            </a:r>
            <a:r>
              <a:rPr lang="en-US" dirty="0"/>
              <a:t>, Camarillo, CA, USA), and an STM32F411RET processor (STMicroelectronics, Geneva, Switzerland) based on </a:t>
            </a:r>
            <a:r>
              <a:rPr lang="en-US" dirty="0" err="1"/>
              <a:t>Mbed</a:t>
            </a:r>
            <a:r>
              <a:rPr lang="en-US" dirty="0"/>
              <a:t> OS.</a:t>
            </a:r>
          </a:p>
        </p:txBody>
      </p:sp>
    </p:spTree>
    <p:extLst>
      <p:ext uri="{BB962C8B-B14F-4D97-AF65-F5344CB8AC3E}">
        <p14:creationId xmlns:p14="http://schemas.microsoft.com/office/powerpoint/2010/main" val="34974505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parameters</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457048"/>
          </a:xfrm>
          <a:prstGeom prst="rect">
            <a:avLst/>
          </a:prstGeom>
          <a:noFill/>
        </p:spPr>
        <p:txBody>
          <a:bodyPr wrap="square" rtlCol="0">
            <a:spAutoFit/>
          </a:bodyPr>
          <a:lstStyle/>
          <a:p>
            <a:pPr algn="thaiDist">
              <a:lnSpc>
                <a:spcPct val="150000"/>
              </a:lnSpc>
            </a:pPr>
            <a:r>
              <a:rPr lang="en-US" dirty="0"/>
              <a:t>They conducted an experiment by deploying 16 nodes with the set of parameters in Table 2.</a:t>
            </a:r>
          </a:p>
        </p:txBody>
      </p:sp>
      <p:pic>
        <p:nvPicPr>
          <p:cNvPr id="5" name="Picture 4">
            <a:extLst>
              <a:ext uri="{FF2B5EF4-FFF2-40B4-BE49-F238E27FC236}">
                <a16:creationId xmlns:a16="http://schemas.microsoft.com/office/drawing/2014/main" id="{F99ACA89-DB6D-42A1-B42D-7B55E7866D4A}"/>
              </a:ext>
            </a:extLst>
          </p:cNvPr>
          <p:cNvPicPr>
            <a:picLocks noChangeAspect="1"/>
          </p:cNvPicPr>
          <p:nvPr/>
        </p:nvPicPr>
        <p:blipFill>
          <a:blip r:embed="rId3"/>
          <a:stretch>
            <a:fillRect/>
          </a:stretch>
        </p:blipFill>
        <p:spPr>
          <a:xfrm>
            <a:off x="1574557" y="3144464"/>
            <a:ext cx="9042885" cy="1912014"/>
          </a:xfrm>
          <a:prstGeom prst="rect">
            <a:avLst/>
          </a:prstGeom>
        </p:spPr>
      </p:pic>
    </p:spTree>
    <p:extLst>
      <p:ext uri="{BB962C8B-B14F-4D97-AF65-F5344CB8AC3E}">
        <p14:creationId xmlns:p14="http://schemas.microsoft.com/office/powerpoint/2010/main" val="29322622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performance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703543"/>
          </a:xfrm>
          <a:prstGeom prst="rect">
            <a:avLst/>
          </a:prstGeom>
          <a:noFill/>
        </p:spPr>
        <p:txBody>
          <a:bodyPr wrap="square" rtlCol="0">
            <a:spAutoFit/>
          </a:bodyPr>
          <a:lstStyle/>
          <a:p>
            <a:pPr algn="thaiDist">
              <a:lnSpc>
                <a:spcPct val="150000"/>
              </a:lnSpc>
            </a:pPr>
            <a:r>
              <a:rPr lang="en-US" dirty="0"/>
              <a:t>They measured the performance from a successful tree construction of the proposed protocol in terms of </a:t>
            </a:r>
          </a:p>
          <a:p>
            <a:pPr marL="285750" indent="-285750" algn="thaiDist">
              <a:lnSpc>
                <a:spcPct val="150000"/>
              </a:lnSpc>
              <a:buFont typeface="Arial" panose="020B0604020202020204" pitchFamily="34" charset="0"/>
              <a:buChar char="•"/>
            </a:pPr>
            <a:r>
              <a:rPr lang="en-US" dirty="0"/>
              <a:t>contention window size</a:t>
            </a:r>
          </a:p>
          <a:p>
            <a:pPr marL="285750" indent="-285750" algn="thaiDist">
              <a:lnSpc>
                <a:spcPct val="150000"/>
              </a:lnSpc>
              <a:buFont typeface="Arial" panose="020B0604020202020204" pitchFamily="34" charset="0"/>
              <a:buChar char="•"/>
            </a:pPr>
            <a:r>
              <a:rPr lang="en-US" dirty="0"/>
              <a:t>successful data reception ratio at the sink after tree construction</a:t>
            </a:r>
          </a:p>
          <a:p>
            <a:pPr marL="285750" indent="-285750" algn="thaiDist">
              <a:lnSpc>
                <a:spcPct val="150000"/>
              </a:lnSpc>
              <a:buFont typeface="Arial" panose="020B0604020202020204" pitchFamily="34" charset="0"/>
              <a:buChar char="•"/>
            </a:pPr>
            <a:r>
              <a:rPr lang="en-US" dirty="0"/>
              <a:t>the end-to-end (E2E) delay average</a:t>
            </a:r>
          </a:p>
        </p:txBody>
      </p:sp>
    </p:spTree>
    <p:extLst>
      <p:ext uri="{BB962C8B-B14F-4D97-AF65-F5344CB8AC3E}">
        <p14:creationId xmlns:p14="http://schemas.microsoft.com/office/powerpoint/2010/main" val="3582678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Scenario</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4509255" cy="2534540"/>
          </a:xfrm>
          <a:prstGeom prst="rect">
            <a:avLst/>
          </a:prstGeom>
          <a:noFill/>
        </p:spPr>
        <p:txBody>
          <a:bodyPr wrap="square" rtlCol="0">
            <a:spAutoFit/>
          </a:bodyPr>
          <a:lstStyle/>
          <a:p>
            <a:pPr algn="thaiDist">
              <a:lnSpc>
                <a:spcPct val="150000"/>
              </a:lnSpc>
            </a:pPr>
            <a:r>
              <a:rPr lang="en-US" dirty="0"/>
              <a:t>The experiment was performed under the following scenario. </a:t>
            </a:r>
          </a:p>
          <a:p>
            <a:pPr algn="thaiDist">
              <a:lnSpc>
                <a:spcPct val="150000"/>
              </a:lnSpc>
            </a:pPr>
            <a:r>
              <a:rPr lang="en-US" dirty="0"/>
              <a:t>	Scenario: nodes are deployed on the university campus area (400 m × 400 m) as shown in Figure 14, and the density of the nodes is 1 node/10,000 m</a:t>
            </a:r>
            <a:r>
              <a:rPr lang="en-US" baseline="30000" dirty="0"/>
              <a:t>2</a:t>
            </a:r>
          </a:p>
        </p:txBody>
      </p:sp>
      <p:pic>
        <p:nvPicPr>
          <p:cNvPr id="7" name="Picture 6">
            <a:extLst>
              <a:ext uri="{FF2B5EF4-FFF2-40B4-BE49-F238E27FC236}">
                <a16:creationId xmlns:a16="http://schemas.microsoft.com/office/drawing/2014/main" id="{720DCAD8-976D-4B2F-B2B8-B2B1F1C5EC2F}"/>
              </a:ext>
            </a:extLst>
          </p:cNvPr>
          <p:cNvPicPr>
            <a:picLocks noChangeAspect="1"/>
          </p:cNvPicPr>
          <p:nvPr/>
        </p:nvPicPr>
        <p:blipFill rotWithShape="1">
          <a:blip r:embed="rId3"/>
          <a:srcRect l="283" r="36349"/>
          <a:stretch/>
        </p:blipFill>
        <p:spPr>
          <a:xfrm>
            <a:off x="5322771" y="1139634"/>
            <a:ext cx="5934187" cy="5459845"/>
          </a:xfrm>
          <a:prstGeom prst="rect">
            <a:avLst/>
          </a:prstGeom>
        </p:spPr>
      </p:pic>
    </p:spTree>
    <p:extLst>
      <p:ext uri="{BB962C8B-B14F-4D97-AF65-F5344CB8AC3E}">
        <p14:creationId xmlns:p14="http://schemas.microsoft.com/office/powerpoint/2010/main" val="134525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Figure 15 shows the percentages of joined nodes after the NCP for 16 nodes when they increase the contention window size, the percentages of joined nodes as the NCP increased.</a:t>
            </a:r>
          </a:p>
        </p:txBody>
      </p:sp>
      <p:pic>
        <p:nvPicPr>
          <p:cNvPr id="4" name="Picture 3">
            <a:extLst>
              <a:ext uri="{FF2B5EF4-FFF2-40B4-BE49-F238E27FC236}">
                <a16:creationId xmlns:a16="http://schemas.microsoft.com/office/drawing/2014/main" id="{04E97FA3-A8E0-4689-BA6A-BFAC1399EA59}"/>
              </a:ext>
            </a:extLst>
          </p:cNvPr>
          <p:cNvPicPr>
            <a:picLocks noChangeAspect="1"/>
          </p:cNvPicPr>
          <p:nvPr/>
        </p:nvPicPr>
        <p:blipFill>
          <a:blip r:embed="rId3"/>
          <a:stretch>
            <a:fillRect/>
          </a:stretch>
        </p:blipFill>
        <p:spPr>
          <a:xfrm>
            <a:off x="2450744" y="3251955"/>
            <a:ext cx="7290511" cy="3503730"/>
          </a:xfrm>
          <a:prstGeom prst="rect">
            <a:avLst/>
          </a:prstGeom>
        </p:spPr>
      </p:pic>
    </p:spTree>
    <p:extLst>
      <p:ext uri="{BB962C8B-B14F-4D97-AF65-F5344CB8AC3E}">
        <p14:creationId xmlns:p14="http://schemas.microsoft.com/office/powerpoint/2010/main" val="2713112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88045"/>
          </a:xfrm>
          <a:prstGeom prst="rect">
            <a:avLst/>
          </a:prstGeom>
          <a:noFill/>
        </p:spPr>
        <p:txBody>
          <a:bodyPr wrap="square" rtlCol="0">
            <a:spAutoFit/>
          </a:bodyPr>
          <a:lstStyle/>
          <a:p>
            <a:pPr algn="thaiDist">
              <a:lnSpc>
                <a:spcPct val="150000"/>
              </a:lnSpc>
            </a:pPr>
            <a:r>
              <a:rPr lang="en-US" dirty="0"/>
              <a:t>The number of timeslots is low. the proposed protocol can increase the </a:t>
            </a:r>
            <a:r>
              <a:rPr lang="en-US" dirty="0" err="1"/>
              <a:t>LoRa</a:t>
            </a:r>
            <a:r>
              <a:rPr lang="en-US" dirty="0"/>
              <a:t> data rate. The result is better than the </a:t>
            </a:r>
            <a:r>
              <a:rPr lang="en-US" dirty="0" err="1"/>
              <a:t>LoRa</a:t>
            </a:r>
            <a:r>
              <a:rPr lang="en-US" dirty="0"/>
              <a:t> linear multi-hop protocol because the </a:t>
            </a:r>
            <a:r>
              <a:rPr lang="en-US" dirty="0" err="1"/>
              <a:t>LoRa</a:t>
            </a:r>
            <a:r>
              <a:rPr lang="en-US" dirty="0"/>
              <a:t> linear multi-hop protocol needs the number of timeslots and the number of nodes in the same.</a:t>
            </a:r>
          </a:p>
        </p:txBody>
      </p:sp>
      <p:pic>
        <p:nvPicPr>
          <p:cNvPr id="5" name="Picture 4">
            <a:extLst>
              <a:ext uri="{FF2B5EF4-FFF2-40B4-BE49-F238E27FC236}">
                <a16:creationId xmlns:a16="http://schemas.microsoft.com/office/drawing/2014/main" id="{E7325C2D-EE76-495F-9FAF-2C725E4097F4}"/>
              </a:ext>
            </a:extLst>
          </p:cNvPr>
          <p:cNvPicPr>
            <a:picLocks noChangeAspect="1"/>
          </p:cNvPicPr>
          <p:nvPr/>
        </p:nvPicPr>
        <p:blipFill>
          <a:blip r:embed="rId3"/>
          <a:stretch>
            <a:fillRect/>
          </a:stretch>
        </p:blipFill>
        <p:spPr>
          <a:xfrm>
            <a:off x="2680410" y="3767418"/>
            <a:ext cx="6831179" cy="1637656"/>
          </a:xfrm>
          <a:prstGeom prst="rect">
            <a:avLst/>
          </a:prstGeom>
        </p:spPr>
      </p:pic>
    </p:spTree>
    <p:extLst>
      <p:ext uri="{BB962C8B-B14F-4D97-AF65-F5344CB8AC3E}">
        <p14:creationId xmlns:p14="http://schemas.microsoft.com/office/powerpoint/2010/main" val="31692997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The proposed protocol has a low E2E delay average because it uses parallel transmissions; therefore, the proposed protocol can be applied to low-latency applications.</a:t>
            </a:r>
          </a:p>
        </p:txBody>
      </p:sp>
      <p:pic>
        <p:nvPicPr>
          <p:cNvPr id="8" name="Picture 7">
            <a:extLst>
              <a:ext uri="{FF2B5EF4-FFF2-40B4-BE49-F238E27FC236}">
                <a16:creationId xmlns:a16="http://schemas.microsoft.com/office/drawing/2014/main" id="{6565ED73-580E-4D5F-A0E6-D3EAF6581730}"/>
              </a:ext>
            </a:extLst>
          </p:cNvPr>
          <p:cNvPicPr>
            <a:picLocks noChangeAspect="1"/>
          </p:cNvPicPr>
          <p:nvPr/>
        </p:nvPicPr>
        <p:blipFill>
          <a:blip r:embed="rId3"/>
          <a:stretch>
            <a:fillRect/>
          </a:stretch>
        </p:blipFill>
        <p:spPr>
          <a:xfrm>
            <a:off x="2693459" y="3792562"/>
            <a:ext cx="6805081" cy="1598509"/>
          </a:xfrm>
          <a:prstGeom prst="rect">
            <a:avLst/>
          </a:prstGeom>
        </p:spPr>
      </p:pic>
    </p:spTree>
    <p:extLst>
      <p:ext uri="{BB962C8B-B14F-4D97-AF65-F5344CB8AC3E}">
        <p14:creationId xmlns:p14="http://schemas.microsoft.com/office/powerpoint/2010/main" val="79387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Conclusions</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950038"/>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This protocol is more suitable for </a:t>
            </a:r>
            <a:r>
              <a:rPr lang="en-US" dirty="0" err="1"/>
              <a:t>LoRa</a:t>
            </a:r>
            <a:r>
              <a:rPr lang="en-US" dirty="0"/>
              <a:t> communication technology because the time they transmit a packet is much longer than with other technologies in WSNs.</a:t>
            </a:r>
          </a:p>
          <a:p>
            <a:pPr marL="285750" indent="-285750" algn="thaiDist">
              <a:lnSpc>
                <a:spcPct val="150000"/>
              </a:lnSpc>
              <a:buFont typeface="Arial" panose="020B0604020202020204" pitchFamily="34" charset="0"/>
              <a:buChar char="•"/>
            </a:pPr>
            <a:r>
              <a:rPr lang="en-US" dirty="0"/>
              <a:t>In the proposed protocol, each node can reliably transmit data by eliminating data packet collisions with neighbor nodes.</a:t>
            </a:r>
          </a:p>
          <a:p>
            <a:pPr marL="285750" indent="-285750" algn="thaiDist">
              <a:lnSpc>
                <a:spcPct val="150000"/>
              </a:lnSpc>
              <a:buFont typeface="Arial" panose="020B0604020202020204" pitchFamily="34" charset="0"/>
              <a:buChar char="•"/>
            </a:pPr>
            <a:r>
              <a:rPr lang="en-US" dirty="0"/>
              <a:t>The experiments show that the proposed protocol has high data reliability and low latency.</a:t>
            </a:r>
          </a:p>
          <a:p>
            <a:pPr marL="285750" indent="-285750" algn="thaiDist">
              <a:lnSpc>
                <a:spcPct val="150000"/>
              </a:lnSpc>
              <a:buFont typeface="Arial" panose="020B0604020202020204" pitchFamily="34" charset="0"/>
              <a:buChar char="•"/>
            </a:pPr>
            <a:r>
              <a:rPr lang="en-US" dirty="0"/>
              <a:t>In future research, they will analyze the energy consumption of our protocol, and improve its performance in terms of energy consumption.</a:t>
            </a:r>
          </a:p>
        </p:txBody>
      </p:sp>
    </p:spTree>
    <p:extLst>
      <p:ext uri="{BB962C8B-B14F-4D97-AF65-F5344CB8AC3E}">
        <p14:creationId xmlns:p14="http://schemas.microsoft.com/office/powerpoint/2010/main" val="4059343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88045"/>
          </a:xfrm>
          <a:prstGeom prst="rect">
            <a:avLst/>
          </a:prstGeom>
          <a:noFill/>
        </p:spPr>
        <p:txBody>
          <a:bodyPr wrap="square" rtlCol="0">
            <a:spAutoFit/>
          </a:bodyPr>
          <a:lstStyle/>
          <a:p>
            <a:pPr algn="thaiDist">
              <a:lnSpc>
                <a:spcPct val="150000"/>
              </a:lnSpc>
            </a:pPr>
            <a:r>
              <a:rPr lang="en-US" dirty="0"/>
              <a:t>In each UTC, each node transmits one data packet. If the parent node receives all the data packets from its child, it combines its own data, then transmits the packet using the channel and timeslot that is assigned during the NCP.</a:t>
            </a:r>
          </a:p>
        </p:txBody>
      </p:sp>
    </p:spTree>
    <p:extLst>
      <p:ext uri="{BB962C8B-B14F-4D97-AF65-F5344CB8AC3E}">
        <p14:creationId xmlns:p14="http://schemas.microsoft.com/office/powerpoint/2010/main" val="12892824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mtech_SX1272_f">
            <a:extLst>
              <a:ext uri="{FF2B5EF4-FFF2-40B4-BE49-F238E27FC236}">
                <a16:creationId xmlns:a16="http://schemas.microsoft.com/office/drawing/2014/main" id="{62D178E3-9156-497F-A1F0-E90B14BFF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827" y="1673351"/>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4530851"/>
            <a:ext cx="10564968" cy="1287917"/>
          </a:xfrm>
          <a:prstGeom prst="rect">
            <a:avLst/>
          </a:prstGeom>
          <a:noFill/>
        </p:spPr>
        <p:txBody>
          <a:bodyPr wrap="square" rtlCol="0">
            <a:spAutoFit/>
          </a:bodyPr>
          <a:lstStyle/>
          <a:p>
            <a:pPr algn="thaiDist">
              <a:lnSpc>
                <a:spcPct val="150000"/>
              </a:lnSpc>
            </a:pPr>
            <a:r>
              <a:rPr lang="en-US" dirty="0"/>
              <a:t>An SX1272 </a:t>
            </a:r>
            <a:r>
              <a:rPr lang="en-US" dirty="0" err="1"/>
              <a:t>LoRa</a:t>
            </a:r>
            <a:r>
              <a:rPr lang="en-US" dirty="0"/>
              <a:t> transceiver has a maximum Rx buffer of 256B.</a:t>
            </a:r>
          </a:p>
          <a:p>
            <a:pPr algn="thaiDist">
              <a:lnSpc>
                <a:spcPct val="150000"/>
              </a:lnSpc>
            </a:pPr>
            <a:r>
              <a:rPr lang="en-US" dirty="0"/>
              <a:t>To allow data aggregation, we restrict the degree (d) and depth (m) of the tree as follows: d × m ≤ ⌊256/L⌋, where L is the size of the data generated in each node.</a:t>
            </a:r>
          </a:p>
        </p:txBody>
      </p:sp>
      <p:pic>
        <p:nvPicPr>
          <p:cNvPr id="3074" name="Picture 2" descr="MultiTech Developer Resources » mDot">
            <a:extLst>
              <a:ext uri="{FF2B5EF4-FFF2-40B4-BE49-F238E27FC236}">
                <a16:creationId xmlns:a16="http://schemas.microsoft.com/office/drawing/2014/main" id="{DF4398B7-F51E-4011-A4B0-EA23A9384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327" y="2256022"/>
            <a:ext cx="3429000" cy="2076450"/>
          </a:xfrm>
          <a:prstGeom prst="rect">
            <a:avLst/>
          </a:prstGeom>
          <a:noFill/>
          <a:extLst>
            <a:ext uri="{909E8E84-426E-40DD-AFC4-6F175D3DCCD1}">
              <a14:hiddenFill xmlns:a14="http://schemas.microsoft.com/office/drawing/2010/main">
                <a:solidFill>
                  <a:srgbClr val="FFFFFF"/>
                </a:solidFill>
              </a14:hiddenFill>
            </a:ext>
          </a:extLst>
        </p:spPr>
      </p:pic>
      <p:sp>
        <p:nvSpPr>
          <p:cNvPr id="3" name="Isosceles Triangle 2">
            <a:extLst>
              <a:ext uri="{FF2B5EF4-FFF2-40B4-BE49-F238E27FC236}">
                <a16:creationId xmlns:a16="http://schemas.microsoft.com/office/drawing/2014/main" id="{511C5811-8957-4756-AE97-BA8A20F29971}"/>
              </a:ext>
            </a:extLst>
          </p:cNvPr>
          <p:cNvSpPr/>
          <p:nvPr/>
        </p:nvSpPr>
        <p:spPr>
          <a:xfrm rot="5400000">
            <a:off x="4778856" y="2129877"/>
            <a:ext cx="1990393" cy="1985012"/>
          </a:xfrm>
          <a:prstGeom prst="triangle">
            <a:avLst>
              <a:gd name="adj" fmla="val 5628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3797471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Research methodology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3797193"/>
          </a:xfrm>
          <a:prstGeom prst="rect">
            <a:avLst/>
          </a:prstGeom>
          <a:noFill/>
        </p:spPr>
        <p:txBody>
          <a:bodyPr wrap="square" rtlCol="0">
            <a:spAutoFit/>
          </a:bodyPr>
          <a:lstStyle/>
          <a:p>
            <a:pPr marL="342900" indent="-342900" algn="thaiDist">
              <a:lnSpc>
                <a:spcPct val="150000"/>
              </a:lnSpc>
              <a:buFont typeface="+mj-lt"/>
              <a:buAutoNum type="arabicPeriod"/>
            </a:pPr>
            <a:r>
              <a:rPr lang="en-US" dirty="0"/>
              <a:t>The protocol uses </a:t>
            </a:r>
            <a:r>
              <a:rPr lang="en-US" b="1" u="sng" dirty="0">
                <a:solidFill>
                  <a:srgbClr val="C00000"/>
                </a:solidFill>
              </a:rPr>
              <a:t>distributed aggregation scheduling</a:t>
            </a:r>
            <a:r>
              <a:rPr lang="en-US" dirty="0"/>
              <a:t> to eliminates all collisions when transmitting data.</a:t>
            </a:r>
          </a:p>
          <a:p>
            <a:pPr marL="742950" lvl="1" indent="-285750" algn="thaiDist">
              <a:lnSpc>
                <a:spcPct val="150000"/>
              </a:lnSpc>
              <a:buFont typeface="Wingdings" panose="05000000000000000000" pitchFamily="2" charset="2"/>
              <a:buChar char="Ø"/>
            </a:pPr>
            <a:r>
              <a:rPr lang="en-US" dirty="0"/>
              <a:t>the reliability of data transmission is high.</a:t>
            </a:r>
          </a:p>
          <a:p>
            <a:pPr marL="342900" indent="-342900" algn="thaiDist">
              <a:lnSpc>
                <a:spcPct val="150000"/>
              </a:lnSpc>
              <a:buFont typeface="+mj-lt"/>
              <a:buAutoNum type="arabicPeriod"/>
            </a:pPr>
            <a:r>
              <a:rPr lang="en-US" dirty="0"/>
              <a:t>The protocol uses </a:t>
            </a:r>
            <a:r>
              <a:rPr lang="en-US" b="1" u="sng" dirty="0">
                <a:solidFill>
                  <a:srgbClr val="C00000"/>
                </a:solidFill>
              </a:rPr>
              <a:t>parallel transmissions</a:t>
            </a:r>
            <a:r>
              <a:rPr lang="en-US" dirty="0"/>
              <a:t> to maximize utilized channel.</a:t>
            </a:r>
          </a:p>
          <a:p>
            <a:pPr marL="800100" lvl="1" indent="-342900" algn="thaiDist">
              <a:lnSpc>
                <a:spcPct val="150000"/>
              </a:lnSpc>
              <a:buFont typeface="Wingdings" panose="05000000000000000000" pitchFamily="2" charset="2"/>
              <a:buChar char="Ø"/>
            </a:pPr>
            <a:r>
              <a:rPr lang="en-US" dirty="0"/>
              <a:t>The channel utilization is increased.</a:t>
            </a:r>
          </a:p>
          <a:p>
            <a:pPr marL="342900" indent="-342900" algn="thaiDist">
              <a:lnSpc>
                <a:spcPct val="150000"/>
              </a:lnSpc>
              <a:buFont typeface="+mj-lt"/>
              <a:buAutoNum type="arabicPeriod"/>
            </a:pPr>
            <a:r>
              <a:rPr lang="en-US" dirty="0"/>
              <a:t>The protocol uses a </a:t>
            </a:r>
            <a:r>
              <a:rPr lang="en-US" b="1" u="sng" dirty="0">
                <a:solidFill>
                  <a:srgbClr val="C00000"/>
                </a:solidFill>
              </a:rPr>
              <a:t>tree construction algorithm</a:t>
            </a:r>
            <a:r>
              <a:rPr lang="en-US" dirty="0"/>
              <a:t>, which achieves a high balance load.</a:t>
            </a:r>
          </a:p>
          <a:p>
            <a:pPr marL="800100" lvl="1" indent="-342900" algn="thaiDist">
              <a:lnSpc>
                <a:spcPct val="150000"/>
              </a:lnSpc>
              <a:buFont typeface="Wingdings" panose="05000000000000000000" pitchFamily="2" charset="2"/>
              <a:buChar char="Ø"/>
            </a:pPr>
            <a:r>
              <a:rPr lang="en-US" dirty="0"/>
              <a:t>All packet size of nodes are balanced.</a:t>
            </a:r>
          </a:p>
          <a:p>
            <a:pPr marL="342900" indent="-342900" algn="thaiDist">
              <a:lnSpc>
                <a:spcPct val="150000"/>
              </a:lnSpc>
              <a:buFont typeface="+mj-lt"/>
              <a:buAutoNum type="arabicPeriod"/>
            </a:pPr>
            <a:r>
              <a:rPr lang="en-US" dirty="0"/>
              <a:t>The protocol uses a </a:t>
            </a:r>
            <a:r>
              <a:rPr lang="en-US" b="1" u="sng" dirty="0">
                <a:solidFill>
                  <a:srgbClr val="C00000"/>
                </a:solidFill>
              </a:rPr>
              <a:t>timeslot and channel assignment algorithm</a:t>
            </a:r>
            <a:r>
              <a:rPr lang="en-US" dirty="0"/>
              <a:t> to support the parallel node transmit data.</a:t>
            </a:r>
          </a:p>
          <a:p>
            <a:pPr marL="800100" lvl="1" indent="-342900" algn="thaiDist">
              <a:lnSpc>
                <a:spcPct val="150000"/>
              </a:lnSpc>
              <a:buFont typeface="Wingdings" panose="05000000000000000000" pitchFamily="2" charset="2"/>
              <a:buChar char="Ø"/>
            </a:pPr>
            <a:r>
              <a:rPr lang="en-US" dirty="0"/>
              <a:t>Any source nodes can send data to any destination nodes at the same timeslot. </a:t>
            </a:r>
          </a:p>
        </p:txBody>
      </p:sp>
    </p:spTree>
    <p:extLst>
      <p:ext uri="{BB962C8B-B14F-4D97-AF65-F5344CB8AC3E}">
        <p14:creationId xmlns:p14="http://schemas.microsoft.com/office/powerpoint/2010/main" val="4456782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grpSp>
        <p:nvGrpSpPr>
          <p:cNvPr id="3" name="Group 2">
            <a:extLst>
              <a:ext uri="{FF2B5EF4-FFF2-40B4-BE49-F238E27FC236}">
                <a16:creationId xmlns:a16="http://schemas.microsoft.com/office/drawing/2014/main" id="{A5128D5E-3B06-4622-8F2D-2D02A09D03D8}"/>
              </a:ext>
            </a:extLst>
          </p:cNvPr>
          <p:cNvGrpSpPr/>
          <p:nvPr/>
        </p:nvGrpSpPr>
        <p:grpSpPr>
          <a:xfrm>
            <a:off x="4056108" y="2223081"/>
            <a:ext cx="4079783" cy="3638704"/>
            <a:chOff x="4842836" y="2848724"/>
            <a:chExt cx="2506328" cy="2235360"/>
          </a:xfrm>
        </p:grpSpPr>
        <p:pic>
          <p:nvPicPr>
            <p:cNvPr id="5" name="Picture 4">
              <a:extLst>
                <a:ext uri="{FF2B5EF4-FFF2-40B4-BE49-F238E27FC236}">
                  <a16:creationId xmlns:a16="http://schemas.microsoft.com/office/drawing/2014/main" id="{BA9FEE85-D606-4DC5-BCFD-ED91D3B5768A}"/>
                </a:ext>
              </a:extLst>
            </p:cNvPr>
            <p:cNvPicPr>
              <a:picLocks noChangeAspect="1"/>
            </p:cNvPicPr>
            <p:nvPr/>
          </p:nvPicPr>
          <p:blipFill rotWithShape="1">
            <a:blip r:embed="rId3"/>
            <a:srcRect b="11451"/>
            <a:stretch/>
          </p:blipFill>
          <p:spPr>
            <a:xfrm>
              <a:off x="4842836" y="2848724"/>
              <a:ext cx="2506328" cy="2235360"/>
            </a:xfrm>
            <a:prstGeom prst="rect">
              <a:avLst/>
            </a:prstGeom>
          </p:spPr>
        </p:pic>
        <p:cxnSp>
          <p:nvCxnSpPr>
            <p:cNvPr id="7" name="Straight Connector 6">
              <a:extLst>
                <a:ext uri="{FF2B5EF4-FFF2-40B4-BE49-F238E27FC236}">
                  <a16:creationId xmlns:a16="http://schemas.microsoft.com/office/drawing/2014/main" id="{C74ED233-92B2-4DB5-9318-764E4F04D620}"/>
                </a:ext>
              </a:extLst>
            </p:cNvPr>
            <p:cNvCxnSpPr/>
            <p:nvPr/>
          </p:nvCxnSpPr>
          <p:spPr>
            <a:xfrm flipH="1" flipV="1">
              <a:off x="6583680" y="3861570"/>
              <a:ext cx="182880" cy="346509"/>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TextBox 3">
            <a:extLst>
              <a:ext uri="{FF2B5EF4-FFF2-40B4-BE49-F238E27FC236}">
                <a16:creationId xmlns:a16="http://schemas.microsoft.com/office/drawing/2014/main" id="{3D128F0D-BDA1-4690-A6C0-89EC9E0EC37F}"/>
              </a:ext>
            </a:extLst>
          </p:cNvPr>
          <p:cNvSpPr txBox="1"/>
          <p:nvPr/>
        </p:nvSpPr>
        <p:spPr>
          <a:xfrm>
            <a:off x="5736657" y="2038415"/>
            <a:ext cx="1049153" cy="369332"/>
          </a:xfrm>
          <a:prstGeom prst="rect">
            <a:avLst/>
          </a:prstGeom>
          <a:noFill/>
        </p:spPr>
        <p:txBody>
          <a:bodyPr wrap="square" rtlCol="0">
            <a:spAutoFit/>
          </a:bodyPr>
          <a:lstStyle/>
          <a:p>
            <a:r>
              <a:rPr lang="en-US" dirty="0"/>
              <a:t>d:2, m:0</a:t>
            </a:r>
            <a:endParaRPr lang="th-TH" dirty="0"/>
          </a:p>
        </p:txBody>
      </p:sp>
      <p:sp>
        <p:nvSpPr>
          <p:cNvPr id="9" name="TextBox 8">
            <a:extLst>
              <a:ext uri="{FF2B5EF4-FFF2-40B4-BE49-F238E27FC236}">
                <a16:creationId xmlns:a16="http://schemas.microsoft.com/office/drawing/2014/main" id="{1CB6FDD8-C92E-441F-AE12-91EFD91FFFCE}"/>
              </a:ext>
            </a:extLst>
          </p:cNvPr>
          <p:cNvSpPr txBox="1"/>
          <p:nvPr/>
        </p:nvSpPr>
        <p:spPr>
          <a:xfrm>
            <a:off x="4687504" y="2883833"/>
            <a:ext cx="1049153" cy="369332"/>
          </a:xfrm>
          <a:prstGeom prst="rect">
            <a:avLst/>
          </a:prstGeom>
          <a:noFill/>
        </p:spPr>
        <p:txBody>
          <a:bodyPr wrap="square" rtlCol="0">
            <a:spAutoFit/>
          </a:bodyPr>
          <a:lstStyle/>
          <a:p>
            <a:r>
              <a:rPr lang="en-US" dirty="0"/>
              <a:t>d:2, m:1</a:t>
            </a:r>
            <a:endParaRPr lang="th-TH" dirty="0"/>
          </a:p>
        </p:txBody>
      </p:sp>
      <p:sp>
        <p:nvSpPr>
          <p:cNvPr id="10" name="TextBox 9">
            <a:extLst>
              <a:ext uri="{FF2B5EF4-FFF2-40B4-BE49-F238E27FC236}">
                <a16:creationId xmlns:a16="http://schemas.microsoft.com/office/drawing/2014/main" id="{AE6A119B-3758-41D2-8A78-3D62D0E18981}"/>
              </a:ext>
            </a:extLst>
          </p:cNvPr>
          <p:cNvSpPr txBox="1"/>
          <p:nvPr/>
        </p:nvSpPr>
        <p:spPr>
          <a:xfrm>
            <a:off x="6662956" y="2915115"/>
            <a:ext cx="1049153" cy="369332"/>
          </a:xfrm>
          <a:prstGeom prst="rect">
            <a:avLst/>
          </a:prstGeom>
          <a:noFill/>
        </p:spPr>
        <p:txBody>
          <a:bodyPr wrap="square" rtlCol="0">
            <a:spAutoFit/>
          </a:bodyPr>
          <a:lstStyle/>
          <a:p>
            <a:r>
              <a:rPr lang="en-US" dirty="0"/>
              <a:t>d:1, m:1</a:t>
            </a:r>
            <a:endParaRPr lang="th-TH" dirty="0"/>
          </a:p>
        </p:txBody>
      </p:sp>
      <p:sp>
        <p:nvSpPr>
          <p:cNvPr id="11" name="TextBox 10">
            <a:extLst>
              <a:ext uri="{FF2B5EF4-FFF2-40B4-BE49-F238E27FC236}">
                <a16:creationId xmlns:a16="http://schemas.microsoft.com/office/drawing/2014/main" id="{5A16788A-9446-4784-B769-58CD34D1A048}"/>
              </a:ext>
            </a:extLst>
          </p:cNvPr>
          <p:cNvSpPr txBox="1"/>
          <p:nvPr/>
        </p:nvSpPr>
        <p:spPr>
          <a:xfrm>
            <a:off x="4056108" y="4093035"/>
            <a:ext cx="1049153" cy="369332"/>
          </a:xfrm>
          <a:prstGeom prst="rect">
            <a:avLst/>
          </a:prstGeom>
          <a:noFill/>
        </p:spPr>
        <p:txBody>
          <a:bodyPr wrap="square" rtlCol="0">
            <a:spAutoFit/>
          </a:bodyPr>
          <a:lstStyle/>
          <a:p>
            <a:r>
              <a:rPr lang="en-US" dirty="0"/>
              <a:t>d:0, m:2</a:t>
            </a:r>
            <a:endParaRPr lang="th-TH" dirty="0"/>
          </a:p>
        </p:txBody>
      </p:sp>
      <p:sp>
        <p:nvSpPr>
          <p:cNvPr id="12" name="TextBox 11">
            <a:extLst>
              <a:ext uri="{FF2B5EF4-FFF2-40B4-BE49-F238E27FC236}">
                <a16:creationId xmlns:a16="http://schemas.microsoft.com/office/drawing/2014/main" id="{93440285-BB15-4D4F-8BCB-B86B64CDD49A}"/>
              </a:ext>
            </a:extLst>
          </p:cNvPr>
          <p:cNvSpPr txBox="1"/>
          <p:nvPr/>
        </p:nvSpPr>
        <p:spPr>
          <a:xfrm>
            <a:off x="5464951" y="4066498"/>
            <a:ext cx="1049153" cy="369332"/>
          </a:xfrm>
          <a:prstGeom prst="rect">
            <a:avLst/>
          </a:prstGeom>
          <a:noFill/>
        </p:spPr>
        <p:txBody>
          <a:bodyPr wrap="square" rtlCol="0">
            <a:spAutoFit/>
          </a:bodyPr>
          <a:lstStyle/>
          <a:p>
            <a:r>
              <a:rPr lang="en-US" dirty="0"/>
              <a:t>d:0, m:2</a:t>
            </a:r>
            <a:endParaRPr lang="th-TH" dirty="0"/>
          </a:p>
        </p:txBody>
      </p:sp>
      <p:sp>
        <p:nvSpPr>
          <p:cNvPr id="13" name="TextBox 12">
            <a:extLst>
              <a:ext uri="{FF2B5EF4-FFF2-40B4-BE49-F238E27FC236}">
                <a16:creationId xmlns:a16="http://schemas.microsoft.com/office/drawing/2014/main" id="{F38A4F54-3174-42AD-9B7F-60AA1909D2F8}"/>
              </a:ext>
            </a:extLst>
          </p:cNvPr>
          <p:cNvSpPr txBox="1"/>
          <p:nvPr/>
        </p:nvSpPr>
        <p:spPr>
          <a:xfrm>
            <a:off x="7132666" y="4048026"/>
            <a:ext cx="1049153" cy="369332"/>
          </a:xfrm>
          <a:prstGeom prst="rect">
            <a:avLst/>
          </a:prstGeom>
          <a:noFill/>
        </p:spPr>
        <p:txBody>
          <a:bodyPr wrap="square" rtlCol="0">
            <a:spAutoFit/>
          </a:bodyPr>
          <a:lstStyle/>
          <a:p>
            <a:r>
              <a:rPr lang="en-US" dirty="0"/>
              <a:t>d:0, m:2</a:t>
            </a:r>
            <a:endParaRPr lang="th-TH" dirty="0"/>
          </a:p>
        </p:txBody>
      </p:sp>
      <p:sp>
        <p:nvSpPr>
          <p:cNvPr id="15" name="TextBox 14">
            <a:extLst>
              <a:ext uri="{FF2B5EF4-FFF2-40B4-BE49-F238E27FC236}">
                <a16:creationId xmlns:a16="http://schemas.microsoft.com/office/drawing/2014/main" id="{B4D5F4D2-A211-4BC9-ACBE-95E7BA0A1697}"/>
              </a:ext>
            </a:extLst>
          </p:cNvPr>
          <p:cNvSpPr txBox="1"/>
          <p:nvPr/>
        </p:nvSpPr>
        <p:spPr>
          <a:xfrm>
            <a:off x="835588" y="2010507"/>
            <a:ext cx="1870439" cy="369332"/>
          </a:xfrm>
          <a:prstGeom prst="rect">
            <a:avLst/>
          </a:prstGeom>
          <a:noFill/>
          <a:ln>
            <a:solidFill>
              <a:schemeClr val="tx1"/>
            </a:solidFill>
          </a:ln>
        </p:spPr>
        <p:txBody>
          <a:bodyPr wrap="square">
            <a:spAutoFit/>
          </a:bodyPr>
          <a:lstStyle/>
          <a:p>
            <a:pPr algn="ctr"/>
            <a:r>
              <a:rPr lang="en-US" dirty="0"/>
              <a:t>d × m ≤ ⌊256/L⌋</a:t>
            </a:r>
            <a:endParaRPr lang="th-TH" dirty="0"/>
          </a:p>
        </p:txBody>
      </p:sp>
      <p:sp>
        <p:nvSpPr>
          <p:cNvPr id="16" name="TextBox 15">
            <a:extLst>
              <a:ext uri="{FF2B5EF4-FFF2-40B4-BE49-F238E27FC236}">
                <a16:creationId xmlns:a16="http://schemas.microsoft.com/office/drawing/2014/main" id="{C0AFC5A4-3057-4E91-9820-32B06F58DBED}"/>
              </a:ext>
            </a:extLst>
          </p:cNvPr>
          <p:cNvSpPr txBox="1"/>
          <p:nvPr/>
        </p:nvSpPr>
        <p:spPr>
          <a:xfrm>
            <a:off x="4475748" y="4932905"/>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2" name="TextBox 21">
            <a:extLst>
              <a:ext uri="{FF2B5EF4-FFF2-40B4-BE49-F238E27FC236}">
                <a16:creationId xmlns:a16="http://schemas.microsoft.com/office/drawing/2014/main" id="{D9731920-DFE9-4CA0-80BC-A0B669574CE1}"/>
              </a:ext>
            </a:extLst>
          </p:cNvPr>
          <p:cNvSpPr txBox="1"/>
          <p:nvPr/>
        </p:nvSpPr>
        <p:spPr>
          <a:xfrm>
            <a:off x="5719681" y="4928279"/>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3" name="TextBox 22">
            <a:extLst>
              <a:ext uri="{FF2B5EF4-FFF2-40B4-BE49-F238E27FC236}">
                <a16:creationId xmlns:a16="http://schemas.microsoft.com/office/drawing/2014/main" id="{9CF64774-7737-44D0-B510-AAD3F4870E8F}"/>
              </a:ext>
            </a:extLst>
          </p:cNvPr>
          <p:cNvSpPr txBox="1"/>
          <p:nvPr/>
        </p:nvSpPr>
        <p:spPr>
          <a:xfrm>
            <a:off x="6995373" y="4923602"/>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4" name="TextBox 23">
            <a:extLst>
              <a:ext uri="{FF2B5EF4-FFF2-40B4-BE49-F238E27FC236}">
                <a16:creationId xmlns:a16="http://schemas.microsoft.com/office/drawing/2014/main" id="{E2895D32-5607-458F-A765-D59BDEC82BE3}"/>
              </a:ext>
            </a:extLst>
          </p:cNvPr>
          <p:cNvSpPr txBox="1"/>
          <p:nvPr/>
        </p:nvSpPr>
        <p:spPr>
          <a:xfrm>
            <a:off x="7132666" y="3276022"/>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5" name="TextBox 24">
            <a:extLst>
              <a:ext uri="{FF2B5EF4-FFF2-40B4-BE49-F238E27FC236}">
                <a16:creationId xmlns:a16="http://schemas.microsoft.com/office/drawing/2014/main" id="{E32DC973-63F9-4463-AE86-16CDDB47AF61}"/>
              </a:ext>
            </a:extLst>
          </p:cNvPr>
          <p:cNvSpPr txBox="1"/>
          <p:nvPr/>
        </p:nvSpPr>
        <p:spPr>
          <a:xfrm>
            <a:off x="4263722" y="3203159"/>
            <a:ext cx="948088" cy="369332"/>
          </a:xfrm>
          <a:prstGeom prst="rect">
            <a:avLst/>
          </a:prstGeom>
          <a:noFill/>
          <a:ln>
            <a:solidFill>
              <a:srgbClr val="00B050"/>
            </a:solidFill>
          </a:ln>
        </p:spPr>
        <p:txBody>
          <a:bodyPr wrap="square">
            <a:spAutoFit/>
          </a:bodyPr>
          <a:lstStyle/>
          <a:p>
            <a:pPr algn="ctr"/>
            <a:r>
              <a:rPr lang="en-US" dirty="0">
                <a:solidFill>
                  <a:srgbClr val="00B050"/>
                </a:solidFill>
              </a:rPr>
              <a:t>L ≤ 128</a:t>
            </a:r>
            <a:endParaRPr lang="th-TH" dirty="0">
              <a:solidFill>
                <a:srgbClr val="00B050"/>
              </a:solidFill>
            </a:endParaRPr>
          </a:p>
        </p:txBody>
      </p:sp>
      <p:sp>
        <p:nvSpPr>
          <p:cNvPr id="26" name="TextBox 25">
            <a:extLst>
              <a:ext uri="{FF2B5EF4-FFF2-40B4-BE49-F238E27FC236}">
                <a16:creationId xmlns:a16="http://schemas.microsoft.com/office/drawing/2014/main" id="{7E90AE00-F603-42C1-AC0D-2DEE38A9CA7A}"/>
              </a:ext>
            </a:extLst>
          </p:cNvPr>
          <p:cNvSpPr txBox="1"/>
          <p:nvPr/>
        </p:nvSpPr>
        <p:spPr>
          <a:xfrm>
            <a:off x="4990907" y="2324285"/>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Tree>
    <p:extLst>
      <p:ext uri="{BB962C8B-B14F-4D97-AF65-F5344CB8AC3E}">
        <p14:creationId xmlns:p14="http://schemas.microsoft.com/office/powerpoint/2010/main" val="28302493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lstStyle/>
          <a:p>
            <a:r>
              <a:rPr lang="en-US" dirty="0"/>
              <a:t>Title Lorem Ipsum Dolor Sit Amet</a:t>
            </a:r>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2834250016"/>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78465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{4EA0FB54-D899-4B8B-989F-EC94098D0D13}tf33552983_win32</Template>
  <TotalTime>1017</TotalTime>
  <Words>3556</Words>
  <Application>Microsoft Office PowerPoint</Application>
  <PresentationFormat>Widescreen</PresentationFormat>
  <Paragraphs>314</Paragraphs>
  <Slides>49</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Franklin Gothic Book</vt:lpstr>
      <vt:lpstr>Franklin Gothic Demi</vt:lpstr>
      <vt:lpstr>Wingdings</vt:lpstr>
      <vt:lpstr>Wingdings 2</vt:lpstr>
      <vt:lpstr>DividendVTI</vt:lpstr>
      <vt:lpstr>Multi-Hop LoRa Network Protocol with  Minimized Latency</vt:lpstr>
      <vt:lpstr>Introduction</vt:lpstr>
      <vt:lpstr>Introduction</vt:lpstr>
      <vt:lpstr>Introduction</vt:lpstr>
      <vt:lpstr>LoRa network</vt:lpstr>
      <vt:lpstr>challenge</vt:lpstr>
      <vt:lpstr>Objective</vt:lpstr>
      <vt:lpstr>scope of the study</vt:lpstr>
      <vt:lpstr>scope of the study</vt:lpstr>
      <vt:lpstr>Research methodology</vt:lpstr>
      <vt:lpstr>Minimized Latency Multi-hop LoRa Network Protocol</vt:lpstr>
      <vt:lpstr>Major cycles (MC)</vt:lpstr>
      <vt:lpstr>The upward transmission period (UTP)</vt:lpstr>
      <vt:lpstr>The downward transmission period (DTP)</vt:lpstr>
      <vt:lpstr>Example</vt:lpstr>
      <vt:lpstr>Protocol packets</vt:lpstr>
      <vt:lpstr>Network Construction Period (NCP)</vt:lpstr>
      <vt:lpstr>Network Construction Period (NCP)</vt:lpstr>
      <vt:lpstr>Network Construction Period (NCP)</vt:lpstr>
      <vt:lpstr>Network Construction Period (NCP)</vt:lpstr>
      <vt:lpstr>Network Construction Period (NCP)</vt:lpstr>
      <vt:lpstr>Network Construction Period (NCP)</vt:lpstr>
      <vt:lpstr>Example</vt:lpstr>
      <vt:lpstr>Packet Collision Avoidance Mechanism</vt:lpstr>
      <vt:lpstr>Packet Collision Avoidance Mechanism</vt:lpstr>
      <vt:lpstr>Timeslot and Channel Assignment </vt:lpstr>
      <vt:lpstr>Timeslot and Channel Assignment </vt:lpstr>
      <vt:lpstr>Timeslot and Channel Assignment </vt:lpstr>
      <vt:lpstr>Parent Choice Mechanism</vt:lpstr>
      <vt:lpstr>Parent Choice Mechanism</vt:lpstr>
      <vt:lpstr>Parent Choice Mechanism</vt:lpstr>
      <vt:lpstr>REDUCE command packet</vt:lpstr>
      <vt:lpstr>How to insert the New Node</vt:lpstr>
      <vt:lpstr>How to insert the New Node</vt:lpstr>
      <vt:lpstr>Resynchronize Time Mechanism</vt:lpstr>
      <vt:lpstr>Resynchronize Time Mechanism</vt:lpstr>
      <vt:lpstr>Experiment Evaluation</vt:lpstr>
      <vt:lpstr>parameters</vt:lpstr>
      <vt:lpstr>performance</vt:lpstr>
      <vt:lpstr>Scenario</vt:lpstr>
      <vt:lpstr>result</vt:lpstr>
      <vt:lpstr>result</vt:lpstr>
      <vt:lpstr>result</vt:lpstr>
      <vt:lpstr>Conclusions</vt:lpstr>
      <vt:lpstr>Data Transmission in the Proposed Protocol</vt:lpstr>
      <vt:lpstr>Data Transmission in the Proposed Protocol</vt:lpstr>
      <vt:lpstr>Research methodology</vt:lpstr>
      <vt:lpstr>Data Transmission in the Proposed Protocol</vt:lpstr>
      <vt:lpstr>Title Lorem Ipsum Dolor Sit Amet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Multi-Hop LoRa Network Protocol with Minimized Latency</dc:title>
  <dc:creator>WANARUT BOONYUNG</dc:creator>
  <cp:lastModifiedBy>WANARUT BOONYUNG</cp:lastModifiedBy>
  <cp:revision>228</cp:revision>
  <dcterms:created xsi:type="dcterms:W3CDTF">2020-11-05T11:45:38Z</dcterms:created>
  <dcterms:modified xsi:type="dcterms:W3CDTF">2020-12-03T13:18:18Z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
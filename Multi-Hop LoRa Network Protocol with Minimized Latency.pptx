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51"/>
  </p:notesMasterIdLst>
  <p:sldIdLst>
    <p:sldId id="257" r:id="rId5"/>
    <p:sldId id="260" r:id="rId6"/>
    <p:sldId id="261" r:id="rId7"/>
    <p:sldId id="262" r:id="rId8"/>
    <p:sldId id="269" r:id="rId9"/>
    <p:sldId id="264" r:id="rId10"/>
    <p:sldId id="263" r:id="rId11"/>
    <p:sldId id="265" r:id="rId12"/>
    <p:sldId id="266" r:id="rId13"/>
    <p:sldId id="290" r:id="rId14"/>
    <p:sldId id="267" r:id="rId15"/>
    <p:sldId id="270" r:id="rId16"/>
    <p:sldId id="271" r:id="rId17"/>
    <p:sldId id="272" r:id="rId18"/>
    <p:sldId id="268" r:id="rId19"/>
    <p:sldId id="273" r:id="rId20"/>
    <p:sldId id="274" r:id="rId21"/>
    <p:sldId id="275" r:id="rId22"/>
    <p:sldId id="276" r:id="rId23"/>
    <p:sldId id="279" r:id="rId24"/>
    <p:sldId id="277" r:id="rId25"/>
    <p:sldId id="278" r:id="rId26"/>
    <p:sldId id="280" r:id="rId27"/>
    <p:sldId id="281" r:id="rId28"/>
    <p:sldId id="282" r:id="rId29"/>
    <p:sldId id="283" r:id="rId30"/>
    <p:sldId id="284" r:id="rId31"/>
    <p:sldId id="291" r:id="rId32"/>
    <p:sldId id="292" r:id="rId33"/>
    <p:sldId id="285" r:id="rId34"/>
    <p:sldId id="293" r:id="rId35"/>
    <p:sldId id="294" r:id="rId36"/>
    <p:sldId id="286" r:id="rId37"/>
    <p:sldId id="297" r:id="rId38"/>
    <p:sldId id="287" r:id="rId39"/>
    <p:sldId id="298" r:id="rId40"/>
    <p:sldId id="288" r:id="rId41"/>
    <p:sldId id="300" r:id="rId42"/>
    <p:sldId id="301" r:id="rId43"/>
    <p:sldId id="302" r:id="rId44"/>
    <p:sldId id="304" r:id="rId45"/>
    <p:sldId id="303" r:id="rId46"/>
    <p:sldId id="289" r:id="rId47"/>
    <p:sldId id="295" r:id="rId48"/>
    <p:sldId id="296" r:id="rId49"/>
    <p:sldId id="258"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25" autoAdjust="0"/>
    <p:restoredTop sz="87333" autoAdjust="0"/>
  </p:normalViewPr>
  <p:slideViewPr>
    <p:cSldViewPr snapToGrid="0">
      <p:cViewPr varScale="1">
        <p:scale>
          <a:sx n="99" d="100"/>
          <a:sy n="99" d="100"/>
        </p:scale>
        <p:origin x="858"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70FD8F-0050-42E3-8B3A-6ED7CFB9852E}" type="doc">
      <dgm:prSet loTypeId="urn:microsoft.com/office/officeart/2016/7/layout/RoundedRectangleTimeline" loCatId="process" qsTypeId="urn:microsoft.com/office/officeart/2005/8/quickstyle/simple1" qsCatId="simple" csTypeId="urn:microsoft.com/office/officeart/2005/8/colors/accent1_3" csCatId="accent1" phldr="1"/>
      <dgm:spPr/>
      <dgm:t>
        <a:bodyPr/>
        <a:lstStyle/>
        <a:p>
          <a:endParaRPr lang="en-US"/>
        </a:p>
      </dgm:t>
    </dgm:pt>
    <dgm:pt modelId="{8DB5D7D5-6A1C-4ABC-8850-759A9D876047}">
      <dgm:prSet/>
      <dgm:spPr/>
      <dgm:t>
        <a:bodyPr/>
        <a:lstStyle/>
        <a:p>
          <a:r>
            <a:rPr lang="en-US" dirty="0"/>
            <a:t>2017</a:t>
          </a:r>
        </a:p>
      </dgm:t>
    </dgm:pt>
    <dgm:pt modelId="{D8874F40-D7B0-41DE-BB6F-A6014FEAB2D7}" type="parTrans" cxnId="{C5202EE1-10E9-4076-9D55-9E0CF8B152AF}">
      <dgm:prSet/>
      <dgm:spPr/>
      <dgm:t>
        <a:bodyPr/>
        <a:lstStyle/>
        <a:p>
          <a:endParaRPr lang="en-US"/>
        </a:p>
      </dgm:t>
    </dgm:pt>
    <dgm:pt modelId="{BD6E0A2E-99C8-4F5A-971A-CD211D1099FF}" type="sibTrans" cxnId="{C5202EE1-10E9-4076-9D55-9E0CF8B152AF}">
      <dgm:prSet/>
      <dgm:spPr/>
      <dgm:t>
        <a:bodyPr/>
        <a:lstStyle/>
        <a:p>
          <a:endParaRPr lang="en-US"/>
        </a:p>
      </dgm:t>
    </dgm:pt>
    <dgm:pt modelId="{96262926-A67D-4E4E-9515-5EBC67F0B634}">
      <dgm:prSet/>
      <dgm:spPr/>
      <dgm:t>
        <a:bodyPr/>
        <a:lstStyle/>
        <a:p>
          <a:r>
            <a:rPr lang="en-US" dirty="0"/>
            <a:t>Lorem ipsum dolor sit amet</a:t>
          </a:r>
        </a:p>
      </dgm:t>
    </dgm:pt>
    <dgm:pt modelId="{EC74E552-C501-4B0E-9400-E8B410F53D50}" type="parTrans" cxnId="{8C5B110A-FBC3-4CBF-BED2-413E87D4DAD5}">
      <dgm:prSet/>
      <dgm:spPr/>
      <dgm:t>
        <a:bodyPr/>
        <a:lstStyle/>
        <a:p>
          <a:endParaRPr lang="en-US"/>
        </a:p>
      </dgm:t>
    </dgm:pt>
    <dgm:pt modelId="{1DA7ACEB-F642-43C1-BCB5-F580B9B985B9}" type="sibTrans" cxnId="{8C5B110A-FBC3-4CBF-BED2-413E87D4DAD5}">
      <dgm:prSet/>
      <dgm:spPr/>
      <dgm:t>
        <a:bodyPr/>
        <a:lstStyle/>
        <a:p>
          <a:endParaRPr lang="en-US"/>
        </a:p>
      </dgm:t>
    </dgm:pt>
    <dgm:pt modelId="{C5146535-FD3D-4589-98A3-623B8DA4B8DB}">
      <dgm:prSet/>
      <dgm:spPr/>
      <dgm:t>
        <a:bodyPr/>
        <a:lstStyle/>
        <a:p>
          <a:r>
            <a:rPr lang="en-US" dirty="0"/>
            <a:t>2018</a:t>
          </a:r>
        </a:p>
      </dgm:t>
    </dgm:pt>
    <dgm:pt modelId="{20848F78-EC70-4162-96CE-CC68006930F0}" type="parTrans" cxnId="{8EBF857E-7408-4941-91E4-293B0F59EEF7}">
      <dgm:prSet/>
      <dgm:spPr/>
      <dgm:t>
        <a:bodyPr/>
        <a:lstStyle/>
        <a:p>
          <a:endParaRPr lang="en-US"/>
        </a:p>
      </dgm:t>
    </dgm:pt>
    <dgm:pt modelId="{7A3CCAF8-AC3A-401E-AEDD-44BBC1AA9C31}" type="sibTrans" cxnId="{8EBF857E-7408-4941-91E4-293B0F59EEF7}">
      <dgm:prSet/>
      <dgm:spPr/>
      <dgm:t>
        <a:bodyPr/>
        <a:lstStyle/>
        <a:p>
          <a:endParaRPr lang="en-US"/>
        </a:p>
      </dgm:t>
    </dgm:pt>
    <dgm:pt modelId="{E80CA270-6C90-4E17-ACEA-46B56AD54DD1}">
      <dgm:prSet/>
      <dgm:spPr/>
      <dgm:t>
        <a:bodyPr/>
        <a:lstStyle/>
        <a:p>
          <a:r>
            <a:rPr lang="en-US" dirty="0"/>
            <a:t>Lorem ipsum dolor sit amet</a:t>
          </a:r>
        </a:p>
      </dgm:t>
    </dgm:pt>
    <dgm:pt modelId="{7EEC8067-96EF-4BE0-8BE3-BA59ED78A31F}" type="parTrans" cxnId="{2DC28DF8-5C1B-4F53-A4C1-D5B63FB54BAF}">
      <dgm:prSet/>
      <dgm:spPr/>
      <dgm:t>
        <a:bodyPr/>
        <a:lstStyle/>
        <a:p>
          <a:endParaRPr lang="en-US"/>
        </a:p>
      </dgm:t>
    </dgm:pt>
    <dgm:pt modelId="{1AFE46E5-6B07-4894-8ECB-21BD7E7B8AF1}" type="sibTrans" cxnId="{2DC28DF8-5C1B-4F53-A4C1-D5B63FB54BAF}">
      <dgm:prSet/>
      <dgm:spPr/>
      <dgm:t>
        <a:bodyPr/>
        <a:lstStyle/>
        <a:p>
          <a:endParaRPr lang="en-US"/>
        </a:p>
      </dgm:t>
    </dgm:pt>
    <dgm:pt modelId="{09C152DA-7620-4852-8162-A77EC3609F3F}">
      <dgm:prSet/>
      <dgm:spPr/>
      <dgm:t>
        <a:bodyPr/>
        <a:lstStyle/>
        <a:p>
          <a:r>
            <a:rPr lang="en-US" dirty="0"/>
            <a:t>2019</a:t>
          </a:r>
        </a:p>
      </dgm:t>
    </dgm:pt>
    <dgm:pt modelId="{9F6D14C0-6C82-4CBD-8D6D-B0E117B6F2ED}" type="parTrans" cxnId="{23ECAC8B-17A4-4883-AA0E-06D66B7E788A}">
      <dgm:prSet/>
      <dgm:spPr/>
      <dgm:t>
        <a:bodyPr/>
        <a:lstStyle/>
        <a:p>
          <a:endParaRPr lang="en-US"/>
        </a:p>
      </dgm:t>
    </dgm:pt>
    <dgm:pt modelId="{0AE8D36D-0F0F-4206-AE39-0A2D73987B68}" type="sibTrans" cxnId="{23ECAC8B-17A4-4883-AA0E-06D66B7E788A}">
      <dgm:prSet/>
      <dgm:spPr/>
      <dgm:t>
        <a:bodyPr/>
        <a:lstStyle/>
        <a:p>
          <a:endParaRPr lang="en-US"/>
        </a:p>
      </dgm:t>
    </dgm:pt>
    <dgm:pt modelId="{6C8937BE-93F8-4DED-8538-1C601DAEBA66}">
      <dgm:prSet/>
      <dgm:spPr/>
      <dgm:t>
        <a:bodyPr/>
        <a:lstStyle/>
        <a:p>
          <a:r>
            <a:rPr lang="en-US" dirty="0"/>
            <a:t>Lorem ipsum dolor sit amet</a:t>
          </a:r>
        </a:p>
      </dgm:t>
    </dgm:pt>
    <dgm:pt modelId="{77D169C6-D77F-456D-B18B-D7BE016AD87A}" type="parTrans" cxnId="{FAA8D3DD-12E8-457D-9144-B037C5678347}">
      <dgm:prSet/>
      <dgm:spPr/>
      <dgm:t>
        <a:bodyPr/>
        <a:lstStyle/>
        <a:p>
          <a:endParaRPr lang="en-US"/>
        </a:p>
      </dgm:t>
    </dgm:pt>
    <dgm:pt modelId="{A97BE953-FA9D-4BA6-A92C-494DB1F3BA59}" type="sibTrans" cxnId="{FAA8D3DD-12E8-457D-9144-B037C5678347}">
      <dgm:prSet/>
      <dgm:spPr/>
      <dgm:t>
        <a:bodyPr/>
        <a:lstStyle/>
        <a:p>
          <a:endParaRPr lang="en-US"/>
        </a:p>
      </dgm:t>
    </dgm:pt>
    <dgm:pt modelId="{AB52B3CC-6563-466D-BFC3-9B6B5AFA0881}" type="pres">
      <dgm:prSet presAssocID="{6A70FD8F-0050-42E3-8B3A-6ED7CFB9852E}" presName="Name0" presStyleCnt="0">
        <dgm:presLayoutVars>
          <dgm:chMax/>
          <dgm:chPref/>
          <dgm:animLvl val="lvl"/>
        </dgm:presLayoutVars>
      </dgm:prSet>
      <dgm:spPr/>
    </dgm:pt>
    <dgm:pt modelId="{815EDF7B-AC93-4A61-87AA-CAA5D85C31A8}" type="pres">
      <dgm:prSet presAssocID="{8DB5D7D5-6A1C-4ABC-8850-759A9D876047}" presName="composite1" presStyleCnt="0"/>
      <dgm:spPr/>
    </dgm:pt>
    <dgm:pt modelId="{954381E7-0584-46DD-8108-E9BF4F2B5005}" type="pres">
      <dgm:prSet presAssocID="{8DB5D7D5-6A1C-4ABC-8850-759A9D876047}" presName="parent1" presStyleLbl="alignNode1" presStyleIdx="0" presStyleCnt="3">
        <dgm:presLayoutVars>
          <dgm:chMax val="1"/>
          <dgm:chPref val="1"/>
          <dgm:bulletEnabled val="1"/>
        </dgm:presLayoutVars>
      </dgm:prSet>
      <dgm:spPr/>
    </dgm:pt>
    <dgm:pt modelId="{5A1B764B-0DC5-47CD-BDEA-9E67799496EC}" type="pres">
      <dgm:prSet presAssocID="{8DB5D7D5-6A1C-4ABC-8850-759A9D876047}" presName="Childtext1" presStyleLbl="revTx" presStyleIdx="0" presStyleCnt="3">
        <dgm:presLayoutVars>
          <dgm:bulletEnabled val="1"/>
        </dgm:presLayoutVars>
      </dgm:prSet>
      <dgm:spPr/>
    </dgm:pt>
    <dgm:pt modelId="{122B38A3-0442-4747-820C-1F37877E2B0E}" type="pres">
      <dgm:prSet presAssocID="{8DB5D7D5-6A1C-4ABC-8850-759A9D876047}" presName="ConnectLine1" presStyleLbl="sibTrans1D1" presStyleIdx="0" presStyleCnt="3"/>
      <dgm:spPr>
        <a:noFill/>
        <a:ln w="12700" cap="rnd" cmpd="sng" algn="ctr">
          <a:solidFill>
            <a:schemeClr val="accent1">
              <a:shade val="90000"/>
              <a:hueOff val="93466"/>
              <a:satOff val="1924"/>
              <a:lumOff val="8231"/>
              <a:alphaOff val="0"/>
            </a:schemeClr>
          </a:solidFill>
          <a:prstDash val="dash"/>
        </a:ln>
        <a:effectLst/>
      </dgm:spPr>
    </dgm:pt>
    <dgm:pt modelId="{A73181F6-69BB-4A47-8277-4671A45AC8C8}" type="pres">
      <dgm:prSet presAssocID="{8DB5D7D5-6A1C-4ABC-8850-759A9D876047}" presName="ConnectLineEnd1" presStyleLbl="lnNode1" presStyleIdx="0" presStyleCnt="3"/>
      <dgm:spPr/>
    </dgm:pt>
    <dgm:pt modelId="{6E76EADA-5F61-4A59-B2F8-FA10112079FC}" type="pres">
      <dgm:prSet presAssocID="{8DB5D7D5-6A1C-4ABC-8850-759A9D876047}" presName="EmptyPane1" presStyleCnt="0"/>
      <dgm:spPr/>
    </dgm:pt>
    <dgm:pt modelId="{A8189248-0785-43F1-844C-4DE92841F254}" type="pres">
      <dgm:prSet presAssocID="{BD6E0A2E-99C8-4F5A-971A-CD211D1099FF}" presName="spaceBetweenRectangles1" presStyleCnt="0"/>
      <dgm:spPr/>
    </dgm:pt>
    <dgm:pt modelId="{218D9CD7-D48D-464C-9A1C-0F322EC540B3}" type="pres">
      <dgm:prSet presAssocID="{C5146535-FD3D-4589-98A3-623B8DA4B8DB}" presName="composite1" presStyleCnt="0"/>
      <dgm:spPr/>
    </dgm:pt>
    <dgm:pt modelId="{30804A27-188E-4A17-8FFE-97BCCA0597B8}" type="pres">
      <dgm:prSet presAssocID="{C5146535-FD3D-4589-98A3-623B8DA4B8DB}" presName="parent1" presStyleLbl="alignNode1" presStyleIdx="1" presStyleCnt="3">
        <dgm:presLayoutVars>
          <dgm:chMax val="1"/>
          <dgm:chPref val="1"/>
          <dgm:bulletEnabled val="1"/>
        </dgm:presLayoutVars>
      </dgm:prSet>
      <dgm:spPr/>
    </dgm:pt>
    <dgm:pt modelId="{DF65791B-462E-4589-B98D-F60587330CA8}" type="pres">
      <dgm:prSet presAssocID="{C5146535-FD3D-4589-98A3-623B8DA4B8DB}" presName="Childtext1" presStyleLbl="revTx" presStyleIdx="1" presStyleCnt="3">
        <dgm:presLayoutVars>
          <dgm:bulletEnabled val="1"/>
        </dgm:presLayoutVars>
      </dgm:prSet>
      <dgm:spPr/>
    </dgm:pt>
    <dgm:pt modelId="{DBA410EB-5F61-4F46-92D9-C5B0AA59EE15}" type="pres">
      <dgm:prSet presAssocID="{C5146535-FD3D-4589-98A3-623B8DA4B8DB}" presName="ConnectLine1" presStyleLbl="sibTrans1D1" presStyleIdx="1" presStyleCnt="3"/>
      <dgm:spPr>
        <a:noFill/>
        <a:ln w="12700" cap="rnd" cmpd="sng" algn="ctr">
          <a:solidFill>
            <a:schemeClr val="accent1">
              <a:shade val="90000"/>
              <a:hueOff val="140199"/>
              <a:satOff val="2886"/>
              <a:lumOff val="12346"/>
              <a:alphaOff val="0"/>
            </a:schemeClr>
          </a:solidFill>
          <a:prstDash val="dash"/>
        </a:ln>
        <a:effectLst/>
      </dgm:spPr>
    </dgm:pt>
    <dgm:pt modelId="{E1220EDB-B75C-43A5-B862-97E4C09130A7}" type="pres">
      <dgm:prSet presAssocID="{C5146535-FD3D-4589-98A3-623B8DA4B8DB}" presName="ConnectLineEnd1" presStyleLbl="lnNode1" presStyleIdx="1" presStyleCnt="3"/>
      <dgm:spPr/>
    </dgm:pt>
    <dgm:pt modelId="{D8849157-215F-4E70-9735-315E97B5AC5C}" type="pres">
      <dgm:prSet presAssocID="{C5146535-FD3D-4589-98A3-623B8DA4B8DB}" presName="EmptyPane1" presStyleCnt="0"/>
      <dgm:spPr/>
    </dgm:pt>
    <dgm:pt modelId="{7C467054-22FE-4C18-9934-29D7168DFF63}" type="pres">
      <dgm:prSet presAssocID="{7A3CCAF8-AC3A-401E-AEDD-44BBC1AA9C31}" presName="spaceBetweenRectangles1" presStyleCnt="0"/>
      <dgm:spPr/>
    </dgm:pt>
    <dgm:pt modelId="{3E3E944D-A6EC-4962-9AC1-C585A4F97BDA}" type="pres">
      <dgm:prSet presAssocID="{09C152DA-7620-4852-8162-A77EC3609F3F}" presName="composite1" presStyleCnt="0"/>
      <dgm:spPr/>
    </dgm:pt>
    <dgm:pt modelId="{566B79CB-1A41-4F5C-BF91-58D94BF93913}" type="pres">
      <dgm:prSet presAssocID="{09C152DA-7620-4852-8162-A77EC3609F3F}" presName="parent1" presStyleLbl="alignNode1" presStyleIdx="2" presStyleCnt="3">
        <dgm:presLayoutVars>
          <dgm:chMax val="1"/>
          <dgm:chPref val="1"/>
          <dgm:bulletEnabled val="1"/>
        </dgm:presLayoutVars>
      </dgm:prSet>
      <dgm:spPr/>
    </dgm:pt>
    <dgm:pt modelId="{B4723E2A-4FF1-452A-BD25-8EC364F15A6F}" type="pres">
      <dgm:prSet presAssocID="{09C152DA-7620-4852-8162-A77EC3609F3F}" presName="Childtext1" presStyleLbl="revTx" presStyleIdx="2" presStyleCnt="3">
        <dgm:presLayoutVars>
          <dgm:bulletEnabled val="1"/>
        </dgm:presLayoutVars>
      </dgm:prSet>
      <dgm:spPr/>
    </dgm:pt>
    <dgm:pt modelId="{440E9361-37D2-4157-AF38-7B49AD23708B}" type="pres">
      <dgm:prSet presAssocID="{09C152DA-7620-4852-8162-A77EC3609F3F}" presName="ConnectLine1" presStyleLbl="sibTrans1D1" presStyleIdx="2" presStyleCnt="3"/>
      <dgm:spPr>
        <a:noFill/>
        <a:ln w="12700" cap="rnd" cmpd="sng" algn="ctr">
          <a:solidFill>
            <a:schemeClr val="accent1">
              <a:shade val="90000"/>
              <a:hueOff val="186931"/>
              <a:satOff val="3848"/>
              <a:lumOff val="16461"/>
              <a:alphaOff val="0"/>
            </a:schemeClr>
          </a:solidFill>
          <a:prstDash val="dash"/>
        </a:ln>
        <a:effectLst/>
      </dgm:spPr>
    </dgm:pt>
    <dgm:pt modelId="{C45E7B63-1C71-483E-A3A8-705CE86D4D8E}" type="pres">
      <dgm:prSet presAssocID="{09C152DA-7620-4852-8162-A77EC3609F3F}" presName="ConnectLineEnd1" presStyleLbl="lnNode1" presStyleIdx="2" presStyleCnt="3"/>
      <dgm:spPr/>
    </dgm:pt>
    <dgm:pt modelId="{4174F691-D9D3-451C-9893-D177DC3AED58}" type="pres">
      <dgm:prSet presAssocID="{09C152DA-7620-4852-8162-A77EC3609F3F}" presName="EmptyPane1" presStyleCnt="0"/>
      <dgm:spPr/>
    </dgm:pt>
  </dgm:ptLst>
  <dgm:cxnLst>
    <dgm:cxn modelId="{5C25BB02-FA66-40A4-9DA6-9E1CAE3A8D4E}" type="presOf" srcId="{C5146535-FD3D-4589-98A3-623B8DA4B8DB}" destId="{30804A27-188E-4A17-8FFE-97BCCA0597B8}" srcOrd="0" destOrd="0" presId="urn:microsoft.com/office/officeart/2016/7/layout/RoundedRectangleTimeline"/>
    <dgm:cxn modelId="{8C5B110A-FBC3-4CBF-BED2-413E87D4DAD5}" srcId="{8DB5D7D5-6A1C-4ABC-8850-759A9D876047}" destId="{96262926-A67D-4E4E-9515-5EBC67F0B634}" srcOrd="0" destOrd="0" parTransId="{EC74E552-C501-4B0E-9400-E8B410F53D50}" sibTransId="{1DA7ACEB-F642-43C1-BCB5-F580B9B985B9}"/>
    <dgm:cxn modelId="{84C67813-55CE-4EBC-9032-03BD847DC17E}" type="presOf" srcId="{6A70FD8F-0050-42E3-8B3A-6ED7CFB9852E}" destId="{AB52B3CC-6563-466D-BFC3-9B6B5AFA0881}" srcOrd="0" destOrd="0" presId="urn:microsoft.com/office/officeart/2016/7/layout/RoundedRectangleTimeline"/>
    <dgm:cxn modelId="{22ECA226-C4EA-44F1-BCB5-77F78841DA6F}" type="presOf" srcId="{09C152DA-7620-4852-8162-A77EC3609F3F}" destId="{566B79CB-1A41-4F5C-BF91-58D94BF93913}" srcOrd="0" destOrd="0" presId="urn:microsoft.com/office/officeart/2016/7/layout/RoundedRectangleTimeline"/>
    <dgm:cxn modelId="{E2BBA750-A5E4-4F50-BE16-016934379F81}" type="presOf" srcId="{6C8937BE-93F8-4DED-8538-1C601DAEBA66}" destId="{B4723E2A-4FF1-452A-BD25-8EC364F15A6F}" srcOrd="0" destOrd="0" presId="urn:microsoft.com/office/officeart/2016/7/layout/RoundedRectangleTimeline"/>
    <dgm:cxn modelId="{F9B2D375-40BE-4E5D-AA88-61805FBFF819}" type="presOf" srcId="{8DB5D7D5-6A1C-4ABC-8850-759A9D876047}" destId="{954381E7-0584-46DD-8108-E9BF4F2B5005}" srcOrd="0" destOrd="0" presId="urn:microsoft.com/office/officeart/2016/7/layout/RoundedRectangleTimeline"/>
    <dgm:cxn modelId="{8EBF857E-7408-4941-91E4-293B0F59EEF7}" srcId="{6A70FD8F-0050-42E3-8B3A-6ED7CFB9852E}" destId="{C5146535-FD3D-4589-98A3-623B8DA4B8DB}" srcOrd="1" destOrd="0" parTransId="{20848F78-EC70-4162-96CE-CC68006930F0}" sibTransId="{7A3CCAF8-AC3A-401E-AEDD-44BBC1AA9C31}"/>
    <dgm:cxn modelId="{23ECAC8B-17A4-4883-AA0E-06D66B7E788A}" srcId="{6A70FD8F-0050-42E3-8B3A-6ED7CFB9852E}" destId="{09C152DA-7620-4852-8162-A77EC3609F3F}" srcOrd="2" destOrd="0" parTransId="{9F6D14C0-6C82-4CBD-8D6D-B0E117B6F2ED}" sibTransId="{0AE8D36D-0F0F-4206-AE39-0A2D73987B68}"/>
    <dgm:cxn modelId="{F9540599-A193-456C-A9A9-8962E3855B0B}" type="presOf" srcId="{96262926-A67D-4E4E-9515-5EBC67F0B634}" destId="{5A1B764B-0DC5-47CD-BDEA-9E67799496EC}" srcOrd="0" destOrd="0" presId="urn:microsoft.com/office/officeart/2016/7/layout/RoundedRectangleTimeline"/>
    <dgm:cxn modelId="{E13585A2-54F2-486A-B317-F4D6AF7E83B9}" type="presOf" srcId="{E80CA270-6C90-4E17-ACEA-46B56AD54DD1}" destId="{DF65791B-462E-4589-B98D-F60587330CA8}" srcOrd="0" destOrd="0" presId="urn:microsoft.com/office/officeart/2016/7/layout/RoundedRectangleTimeline"/>
    <dgm:cxn modelId="{FAA8D3DD-12E8-457D-9144-B037C5678347}" srcId="{09C152DA-7620-4852-8162-A77EC3609F3F}" destId="{6C8937BE-93F8-4DED-8538-1C601DAEBA66}" srcOrd="0" destOrd="0" parTransId="{77D169C6-D77F-456D-B18B-D7BE016AD87A}" sibTransId="{A97BE953-FA9D-4BA6-A92C-494DB1F3BA59}"/>
    <dgm:cxn modelId="{C5202EE1-10E9-4076-9D55-9E0CF8B152AF}" srcId="{6A70FD8F-0050-42E3-8B3A-6ED7CFB9852E}" destId="{8DB5D7D5-6A1C-4ABC-8850-759A9D876047}" srcOrd="0" destOrd="0" parTransId="{D8874F40-D7B0-41DE-BB6F-A6014FEAB2D7}" sibTransId="{BD6E0A2E-99C8-4F5A-971A-CD211D1099FF}"/>
    <dgm:cxn modelId="{2DC28DF8-5C1B-4F53-A4C1-D5B63FB54BAF}" srcId="{C5146535-FD3D-4589-98A3-623B8DA4B8DB}" destId="{E80CA270-6C90-4E17-ACEA-46B56AD54DD1}" srcOrd="0" destOrd="0" parTransId="{7EEC8067-96EF-4BE0-8BE3-BA59ED78A31F}" sibTransId="{1AFE46E5-6B07-4894-8ECB-21BD7E7B8AF1}"/>
    <dgm:cxn modelId="{76459B4A-BC95-4631-A3CC-1410E80D5DFD}" type="presParOf" srcId="{AB52B3CC-6563-466D-BFC3-9B6B5AFA0881}" destId="{815EDF7B-AC93-4A61-87AA-CAA5D85C31A8}" srcOrd="0" destOrd="0" presId="urn:microsoft.com/office/officeart/2016/7/layout/RoundedRectangleTimeline"/>
    <dgm:cxn modelId="{4238FA88-CE43-4680-BFB0-73DED5612698}" type="presParOf" srcId="{815EDF7B-AC93-4A61-87AA-CAA5D85C31A8}" destId="{954381E7-0584-46DD-8108-E9BF4F2B5005}" srcOrd="0" destOrd="0" presId="urn:microsoft.com/office/officeart/2016/7/layout/RoundedRectangleTimeline"/>
    <dgm:cxn modelId="{6497CE05-0893-4952-B18A-28D71D90B841}" type="presParOf" srcId="{815EDF7B-AC93-4A61-87AA-CAA5D85C31A8}" destId="{5A1B764B-0DC5-47CD-BDEA-9E67799496EC}" srcOrd="1" destOrd="0" presId="urn:microsoft.com/office/officeart/2016/7/layout/RoundedRectangleTimeline"/>
    <dgm:cxn modelId="{CB8BA570-C0D4-4400-BED8-C9BC961A6553}" type="presParOf" srcId="{815EDF7B-AC93-4A61-87AA-CAA5D85C31A8}" destId="{122B38A3-0442-4747-820C-1F37877E2B0E}" srcOrd="2" destOrd="0" presId="urn:microsoft.com/office/officeart/2016/7/layout/RoundedRectangleTimeline"/>
    <dgm:cxn modelId="{82FC1E36-99F3-4E1F-8BD1-229D77A82EB1}" type="presParOf" srcId="{815EDF7B-AC93-4A61-87AA-CAA5D85C31A8}" destId="{A73181F6-69BB-4A47-8277-4671A45AC8C8}" srcOrd="3" destOrd="0" presId="urn:microsoft.com/office/officeart/2016/7/layout/RoundedRectangleTimeline"/>
    <dgm:cxn modelId="{7EAD7967-836C-4AB6-AAA2-ED2EF3F29E78}" type="presParOf" srcId="{815EDF7B-AC93-4A61-87AA-CAA5D85C31A8}" destId="{6E76EADA-5F61-4A59-B2F8-FA10112079FC}" srcOrd="4" destOrd="0" presId="urn:microsoft.com/office/officeart/2016/7/layout/RoundedRectangleTimeline"/>
    <dgm:cxn modelId="{3783DE09-7B3D-423E-960C-ED9DB81E314E}" type="presParOf" srcId="{AB52B3CC-6563-466D-BFC3-9B6B5AFA0881}" destId="{A8189248-0785-43F1-844C-4DE92841F254}" srcOrd="1" destOrd="0" presId="urn:microsoft.com/office/officeart/2016/7/layout/RoundedRectangleTimeline"/>
    <dgm:cxn modelId="{38B07C9C-D21D-4E2B-A78B-C30877B2689A}" type="presParOf" srcId="{AB52B3CC-6563-466D-BFC3-9B6B5AFA0881}" destId="{218D9CD7-D48D-464C-9A1C-0F322EC540B3}" srcOrd="2" destOrd="0" presId="urn:microsoft.com/office/officeart/2016/7/layout/RoundedRectangleTimeline"/>
    <dgm:cxn modelId="{E6790483-7B9E-44FB-9EAE-A282A4B9AB73}" type="presParOf" srcId="{218D9CD7-D48D-464C-9A1C-0F322EC540B3}" destId="{30804A27-188E-4A17-8FFE-97BCCA0597B8}" srcOrd="0" destOrd="0" presId="urn:microsoft.com/office/officeart/2016/7/layout/RoundedRectangleTimeline"/>
    <dgm:cxn modelId="{B31BDB48-FB8E-47F4-8F76-B90009D28A96}" type="presParOf" srcId="{218D9CD7-D48D-464C-9A1C-0F322EC540B3}" destId="{DF65791B-462E-4589-B98D-F60587330CA8}" srcOrd="1" destOrd="0" presId="urn:microsoft.com/office/officeart/2016/7/layout/RoundedRectangleTimeline"/>
    <dgm:cxn modelId="{517AE913-68B2-41AC-BE20-5D4195845D6F}" type="presParOf" srcId="{218D9CD7-D48D-464C-9A1C-0F322EC540B3}" destId="{DBA410EB-5F61-4F46-92D9-C5B0AA59EE15}" srcOrd="2" destOrd="0" presId="urn:microsoft.com/office/officeart/2016/7/layout/RoundedRectangleTimeline"/>
    <dgm:cxn modelId="{0F089045-7542-47F1-8B17-68354869406A}" type="presParOf" srcId="{218D9CD7-D48D-464C-9A1C-0F322EC540B3}" destId="{E1220EDB-B75C-43A5-B862-97E4C09130A7}" srcOrd="3" destOrd="0" presId="urn:microsoft.com/office/officeart/2016/7/layout/RoundedRectangleTimeline"/>
    <dgm:cxn modelId="{79B44ECC-99D2-49DD-9DEE-58B1D2AE6C6C}" type="presParOf" srcId="{218D9CD7-D48D-464C-9A1C-0F322EC540B3}" destId="{D8849157-215F-4E70-9735-315E97B5AC5C}" srcOrd="4" destOrd="0" presId="urn:microsoft.com/office/officeart/2016/7/layout/RoundedRectangleTimeline"/>
    <dgm:cxn modelId="{6930EC12-FB60-44F8-973F-19AC06AA90BB}" type="presParOf" srcId="{AB52B3CC-6563-466D-BFC3-9B6B5AFA0881}" destId="{7C467054-22FE-4C18-9934-29D7168DFF63}" srcOrd="3" destOrd="0" presId="urn:microsoft.com/office/officeart/2016/7/layout/RoundedRectangleTimeline"/>
    <dgm:cxn modelId="{1F4A4777-E935-453F-A5B9-015C6946FC6A}" type="presParOf" srcId="{AB52B3CC-6563-466D-BFC3-9B6B5AFA0881}" destId="{3E3E944D-A6EC-4962-9AC1-C585A4F97BDA}" srcOrd="4" destOrd="0" presId="urn:microsoft.com/office/officeart/2016/7/layout/RoundedRectangleTimeline"/>
    <dgm:cxn modelId="{94AC8B5D-A9B9-4EF3-AD1C-6024606B5BF8}" type="presParOf" srcId="{3E3E944D-A6EC-4962-9AC1-C585A4F97BDA}" destId="{566B79CB-1A41-4F5C-BF91-58D94BF93913}" srcOrd="0" destOrd="0" presId="urn:microsoft.com/office/officeart/2016/7/layout/RoundedRectangleTimeline"/>
    <dgm:cxn modelId="{A151554E-10B3-429A-9E0D-D40262ED6857}" type="presParOf" srcId="{3E3E944D-A6EC-4962-9AC1-C585A4F97BDA}" destId="{B4723E2A-4FF1-452A-BD25-8EC364F15A6F}" srcOrd="1" destOrd="0" presId="urn:microsoft.com/office/officeart/2016/7/layout/RoundedRectangleTimeline"/>
    <dgm:cxn modelId="{329635D9-081F-4DC9-88AA-E074B7400415}" type="presParOf" srcId="{3E3E944D-A6EC-4962-9AC1-C585A4F97BDA}" destId="{440E9361-37D2-4157-AF38-7B49AD23708B}" srcOrd="2" destOrd="0" presId="urn:microsoft.com/office/officeart/2016/7/layout/RoundedRectangleTimeline"/>
    <dgm:cxn modelId="{0F0D3AEA-9F0C-400E-A955-6CD1F474B6A4}" type="presParOf" srcId="{3E3E944D-A6EC-4962-9AC1-C585A4F97BDA}" destId="{C45E7B63-1C71-483E-A3A8-705CE86D4D8E}" srcOrd="3" destOrd="0" presId="urn:microsoft.com/office/officeart/2016/7/layout/RoundedRectangleTimeline"/>
    <dgm:cxn modelId="{91F0BE33-39D4-4457-A5CC-3F1682DB166D}" type="presParOf" srcId="{3E3E944D-A6EC-4962-9AC1-C585A4F97BDA}" destId="{4174F691-D9D3-451C-9893-D177DC3AED58}" srcOrd="4" destOrd="0" presId="urn:microsoft.com/office/officeart/2016/7/layout/RoundedRectangle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4381E7-0584-46DD-8108-E9BF4F2B5005}">
      <dsp:nvSpPr>
        <dsp:cNvPr id="0" name=""/>
        <dsp:cNvSpPr/>
      </dsp:nvSpPr>
      <dsp:spPr>
        <a:xfrm rot="16200000">
          <a:off x="2328055" y="314278"/>
          <a:ext cx="363378" cy="3005230"/>
        </a:xfrm>
        <a:prstGeom prst="round2SameRect">
          <a:avLst/>
        </a:prstGeom>
        <a:solidFill>
          <a:schemeClr val="accent1">
            <a:shade val="80000"/>
            <a:hueOff val="0"/>
            <a:satOff val="0"/>
            <a:lumOff val="0"/>
            <a:alphaOff val="0"/>
          </a:schemeClr>
        </a:solidFill>
        <a:ln w="22225" cap="rnd"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2017</a:t>
          </a:r>
        </a:p>
      </dsp:txBody>
      <dsp:txXfrm rot="5400000">
        <a:off x="1024869" y="1652943"/>
        <a:ext cx="2987491" cy="327900"/>
      </dsp:txXfrm>
    </dsp:sp>
    <dsp:sp modelId="{5A1B764B-0DC5-47CD-BDEA-9E67799496EC}">
      <dsp:nvSpPr>
        <dsp:cNvPr id="0" name=""/>
        <dsp:cNvSpPr/>
      </dsp:nvSpPr>
      <dsp:spPr>
        <a:xfrm>
          <a:off x="5385" y="0"/>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83820" numCol="1" spcCol="1270" anchor="b"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5385" y="0"/>
        <a:ext cx="5008717" cy="1271825"/>
      </dsp:txXfrm>
    </dsp:sp>
    <dsp:sp modelId="{122B38A3-0442-4747-820C-1F37877E2B0E}">
      <dsp:nvSpPr>
        <dsp:cNvPr id="0" name=""/>
        <dsp:cNvSpPr/>
      </dsp:nvSpPr>
      <dsp:spPr>
        <a:xfrm>
          <a:off x="2509744" y="1344501"/>
          <a:ext cx="0" cy="290702"/>
        </a:xfrm>
        <a:prstGeom prst="line">
          <a:avLst/>
        </a:prstGeom>
        <a:noFill/>
        <a:ln w="12700" cap="rnd" cmpd="sng" algn="ctr">
          <a:solidFill>
            <a:schemeClr val="accent1">
              <a:shade val="90000"/>
              <a:hueOff val="93466"/>
              <a:satOff val="1924"/>
              <a:lumOff val="8231"/>
              <a:alphaOff val="0"/>
            </a:schemeClr>
          </a:solidFill>
          <a:prstDash val="dash"/>
        </a:ln>
        <a:effectLst/>
      </dsp:spPr>
      <dsp:style>
        <a:lnRef idx="1">
          <a:scrgbClr r="0" g="0" b="0"/>
        </a:lnRef>
        <a:fillRef idx="0">
          <a:scrgbClr r="0" g="0" b="0"/>
        </a:fillRef>
        <a:effectRef idx="0">
          <a:scrgbClr r="0" g="0" b="0"/>
        </a:effectRef>
        <a:fontRef idx="minor"/>
      </dsp:style>
    </dsp:sp>
    <dsp:sp modelId="{A73181F6-69BB-4A47-8277-4671A45AC8C8}">
      <dsp:nvSpPr>
        <dsp:cNvPr id="0" name=""/>
        <dsp:cNvSpPr/>
      </dsp:nvSpPr>
      <dsp:spPr>
        <a:xfrm>
          <a:off x="2473406" y="1271825"/>
          <a:ext cx="72675" cy="72675"/>
        </a:xfrm>
        <a:prstGeom prst="ellipse">
          <a:avLst/>
        </a:prstGeom>
        <a:solidFill>
          <a:schemeClr val="accent1">
            <a:shade val="80000"/>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0804A27-188E-4A17-8FFE-97BCCA0597B8}">
      <dsp:nvSpPr>
        <dsp:cNvPr id="0" name=""/>
        <dsp:cNvSpPr/>
      </dsp:nvSpPr>
      <dsp:spPr>
        <a:xfrm>
          <a:off x="4012359" y="1635204"/>
          <a:ext cx="3005230" cy="363378"/>
        </a:xfrm>
        <a:prstGeom prst="rect">
          <a:avLst/>
        </a:prstGeom>
        <a:solidFill>
          <a:schemeClr val="accent1">
            <a:shade val="80000"/>
            <a:hueOff val="223096"/>
            <a:satOff val="-4529"/>
            <a:lumOff val="15339"/>
            <a:alphaOff val="0"/>
          </a:schemeClr>
        </a:solidFill>
        <a:ln w="22225" cap="rnd" cmpd="sng" algn="ctr">
          <a:solidFill>
            <a:schemeClr val="accent1">
              <a:shade val="80000"/>
              <a:hueOff val="223096"/>
              <a:satOff val="-4529"/>
              <a:lumOff val="1533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2018</a:t>
          </a:r>
        </a:p>
      </dsp:txBody>
      <dsp:txXfrm>
        <a:off x="4012359" y="1635204"/>
        <a:ext cx="3005230" cy="363378"/>
      </dsp:txXfrm>
    </dsp:sp>
    <dsp:sp modelId="{DF65791B-462E-4589-B98D-F60587330CA8}">
      <dsp:nvSpPr>
        <dsp:cNvPr id="0" name=""/>
        <dsp:cNvSpPr/>
      </dsp:nvSpPr>
      <dsp:spPr>
        <a:xfrm>
          <a:off x="3010616" y="2361961"/>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83820" rIns="0" bIns="0" numCol="1" spcCol="1270" anchor="t"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3010616" y="2361961"/>
        <a:ext cx="5008717" cy="1271825"/>
      </dsp:txXfrm>
    </dsp:sp>
    <dsp:sp modelId="{DBA410EB-5F61-4F46-92D9-C5B0AA59EE15}">
      <dsp:nvSpPr>
        <dsp:cNvPr id="0" name=""/>
        <dsp:cNvSpPr/>
      </dsp:nvSpPr>
      <dsp:spPr>
        <a:xfrm>
          <a:off x="5514975" y="1998582"/>
          <a:ext cx="0" cy="290702"/>
        </a:xfrm>
        <a:prstGeom prst="line">
          <a:avLst/>
        </a:prstGeom>
        <a:noFill/>
        <a:ln w="12700" cap="rnd" cmpd="sng" algn="ctr">
          <a:solidFill>
            <a:schemeClr val="accent1">
              <a:shade val="90000"/>
              <a:hueOff val="140199"/>
              <a:satOff val="2886"/>
              <a:lumOff val="12346"/>
              <a:alphaOff val="0"/>
            </a:schemeClr>
          </a:solidFill>
          <a:prstDash val="dash"/>
        </a:ln>
        <a:effectLst/>
      </dsp:spPr>
      <dsp:style>
        <a:lnRef idx="1">
          <a:scrgbClr r="0" g="0" b="0"/>
        </a:lnRef>
        <a:fillRef idx="0">
          <a:scrgbClr r="0" g="0" b="0"/>
        </a:fillRef>
        <a:effectRef idx="0">
          <a:scrgbClr r="0" g="0" b="0"/>
        </a:effectRef>
        <a:fontRef idx="minor"/>
      </dsp:style>
    </dsp:sp>
    <dsp:sp modelId="{E1220EDB-B75C-43A5-B862-97E4C09130A7}">
      <dsp:nvSpPr>
        <dsp:cNvPr id="0" name=""/>
        <dsp:cNvSpPr/>
      </dsp:nvSpPr>
      <dsp:spPr>
        <a:xfrm>
          <a:off x="5478637" y="2289285"/>
          <a:ext cx="72675" cy="72675"/>
        </a:xfrm>
        <a:prstGeom prst="ellipse">
          <a:avLst/>
        </a:prstGeom>
        <a:solidFill>
          <a:schemeClr val="accent1">
            <a:shade val="80000"/>
            <a:hueOff val="223096"/>
            <a:satOff val="-4529"/>
            <a:lumOff val="15339"/>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66B79CB-1A41-4F5C-BF91-58D94BF93913}">
      <dsp:nvSpPr>
        <dsp:cNvPr id="0" name=""/>
        <dsp:cNvSpPr/>
      </dsp:nvSpPr>
      <dsp:spPr>
        <a:xfrm rot="5400000">
          <a:off x="8338516" y="314278"/>
          <a:ext cx="363378" cy="3005230"/>
        </a:xfrm>
        <a:prstGeom prst="round2SameRect">
          <a:avLst/>
        </a:prstGeom>
        <a:solidFill>
          <a:schemeClr val="accent1">
            <a:shade val="80000"/>
            <a:hueOff val="446191"/>
            <a:satOff val="-9058"/>
            <a:lumOff val="30677"/>
            <a:alphaOff val="0"/>
          </a:schemeClr>
        </a:solidFill>
        <a:ln w="22225" cap="rnd" cmpd="sng" algn="ctr">
          <a:solidFill>
            <a:schemeClr val="accent1">
              <a:shade val="80000"/>
              <a:hueOff val="446191"/>
              <a:satOff val="-9058"/>
              <a:lumOff val="306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1">
          <a:noAutofit/>
        </a:bodyPr>
        <a:lstStyle/>
        <a:p>
          <a:pPr marL="0" lvl="0" indent="0" algn="ctr" defTabSz="488950">
            <a:lnSpc>
              <a:spcPct val="90000"/>
            </a:lnSpc>
            <a:spcBef>
              <a:spcPct val="0"/>
            </a:spcBef>
            <a:spcAft>
              <a:spcPct val="35000"/>
            </a:spcAft>
            <a:buNone/>
          </a:pPr>
          <a:r>
            <a:rPr lang="en-US" sz="1100" kern="1200" dirty="0"/>
            <a:t>2019</a:t>
          </a:r>
        </a:p>
      </dsp:txBody>
      <dsp:txXfrm rot="-5400000">
        <a:off x="7017591" y="1652943"/>
        <a:ext cx="2987491" cy="327900"/>
      </dsp:txXfrm>
    </dsp:sp>
    <dsp:sp modelId="{B4723E2A-4FF1-452A-BD25-8EC364F15A6F}">
      <dsp:nvSpPr>
        <dsp:cNvPr id="0" name=""/>
        <dsp:cNvSpPr/>
      </dsp:nvSpPr>
      <dsp:spPr>
        <a:xfrm>
          <a:off x="6015846" y="0"/>
          <a:ext cx="5008717"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83820" numCol="1" spcCol="1270" anchor="b" anchorCtr="1">
          <a:noAutofit/>
        </a:bodyPr>
        <a:lstStyle/>
        <a:p>
          <a:pPr marL="0" lvl="0" indent="0" algn="ctr" defTabSz="488950">
            <a:lnSpc>
              <a:spcPct val="90000"/>
            </a:lnSpc>
            <a:spcBef>
              <a:spcPct val="0"/>
            </a:spcBef>
            <a:spcAft>
              <a:spcPct val="35000"/>
            </a:spcAft>
            <a:buNone/>
          </a:pPr>
          <a:r>
            <a:rPr lang="en-US" sz="1100" kern="1200" dirty="0"/>
            <a:t>Lorem ipsum dolor sit amet</a:t>
          </a:r>
        </a:p>
      </dsp:txBody>
      <dsp:txXfrm>
        <a:off x="6015846" y="0"/>
        <a:ext cx="5008717" cy="1271825"/>
      </dsp:txXfrm>
    </dsp:sp>
    <dsp:sp modelId="{440E9361-37D2-4157-AF38-7B49AD23708B}">
      <dsp:nvSpPr>
        <dsp:cNvPr id="0" name=""/>
        <dsp:cNvSpPr/>
      </dsp:nvSpPr>
      <dsp:spPr>
        <a:xfrm>
          <a:off x="8520205" y="1344501"/>
          <a:ext cx="0" cy="290702"/>
        </a:xfrm>
        <a:prstGeom prst="line">
          <a:avLst/>
        </a:prstGeom>
        <a:noFill/>
        <a:ln w="12700" cap="rnd" cmpd="sng" algn="ctr">
          <a:solidFill>
            <a:schemeClr val="accent1">
              <a:shade val="90000"/>
              <a:hueOff val="186931"/>
              <a:satOff val="3848"/>
              <a:lumOff val="16461"/>
              <a:alphaOff val="0"/>
            </a:schemeClr>
          </a:solidFill>
          <a:prstDash val="dash"/>
        </a:ln>
        <a:effectLst/>
      </dsp:spPr>
      <dsp:style>
        <a:lnRef idx="1">
          <a:scrgbClr r="0" g="0" b="0"/>
        </a:lnRef>
        <a:fillRef idx="0">
          <a:scrgbClr r="0" g="0" b="0"/>
        </a:fillRef>
        <a:effectRef idx="0">
          <a:scrgbClr r="0" g="0" b="0"/>
        </a:effectRef>
        <a:fontRef idx="minor"/>
      </dsp:style>
    </dsp:sp>
    <dsp:sp modelId="{C45E7B63-1C71-483E-A3A8-705CE86D4D8E}">
      <dsp:nvSpPr>
        <dsp:cNvPr id="0" name=""/>
        <dsp:cNvSpPr/>
      </dsp:nvSpPr>
      <dsp:spPr>
        <a:xfrm>
          <a:off x="8483867" y="1271825"/>
          <a:ext cx="72675" cy="72675"/>
        </a:xfrm>
        <a:prstGeom prst="ellipse">
          <a:avLst/>
        </a:prstGeom>
        <a:solidFill>
          <a:schemeClr val="accent1">
            <a:shade val="80000"/>
            <a:hueOff val="446191"/>
            <a:satOff val="-9058"/>
            <a:lumOff val="30677"/>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 val="18"/>
      <dgm:constr type="primFontSz" for="des" forName="Childtext" val="18"/>
      <dgm:constr type="primFontSz" for="des" forName="Childtext" refType="primFontSz" refFor="des" refForName="parent"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 op="equ"/>
      <dgm:constr type="primFontSz" for="des" forName="Childtext" op="equ"/>
      <dgm:constr type="primFontSz" for="des" forName="parent1" val="18"/>
      <dgm:constr type="primFontSz" for="des" forName="Childtext1" val="18"/>
      <dgm:constr type="primFontSz" for="des" forName="Childtext1" refType="primFontSz" refFor="des" refForName="parent1" op="lte"/>
      <dgm:constr type="w" for="ch" forName="composite1" refType="w"/>
      <dgm:constr type="h" for="ch" forName="composite1" refType="h"/>
      <dgm:constr type="w" for="ch" forName="spaceBetweenRectangles1" refType="w" refFor="ch" refForName="composite1" fact="-0.4"/>
      <dgm:constr type="primFontSz" for="des" forName="parent1" op="equ"/>
      <dgm:constr type="primFontSz" for="des" forName="Childtext1" op="equ"/>
    </dgm:constrLst>
    <dgm:choose name="layoutByNodeCnt">
      <dgm:if name="twoOrLessNodes" axis="ch" ptType="node" func="cnt" op="lte" val="2">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parent" refType="w" fact="0.95"/>
                      <dgm:constr type="l" for="ch" forName="parent" refType="w" fact="0.025"/>
                      <dgm:constr type="t" for="ch" forName="parent" refType="h" fact="0.45"/>
                      <dgm:constr type="h" for="ch" forName="parent" refType="h" fact="0.1"/>
                      <dgm:constr type="l" for="ch" forName="Childtext" refType="w" fact="0.025"/>
                      <dgm:constr type="w" for="ch" forName="Childtext" refType="w" fact="0.95"/>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if>
                  <dgm:else name="ifMoreThanOne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else>
                </dgm:choose>
              </dgm:if>
              <dgm:else name="notStart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t" for="ch" forName="Childtext" refType="h" fact="0.65"/>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EmptyPane" refType="w"/>
                  <dgm:constr type="h" for="ch" forName="EmptyPane" refType="h" fact="0.45"/>
                </dgm:constrLst>
              </dgm:else>
            </dgm:choose>
            <dgm:layoutNode name="parent"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 styleLbl="revTx">
              <dgm:varLst>
                <dgm:bulletEnabled val="1"/>
              </dgm:varLst>
              <dgm:choose name="casesForTxtDirLogic">
                <dgm:if name="Name77"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if>
      <dgm:else name="moreThanTwoNodes">
        <dgm:forEach name="nodesForEach1" axis="ch" ptType="node">
          <dgm:layoutNode name="composite1">
            <dgm:alg type="composite"/>
            <dgm:shape xmlns:r="http://schemas.openxmlformats.org/officeDocument/2006/relationships" r:blip="">
              <dgm:adjLst/>
            </dgm:shape>
            <dgm:choose name="casesForSnakingLogic21">
              <dgm:if name="oddNode21" axis="self" ptType="node" func="posOdd" op="equ" val="1">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w" for="ch" forName="ConnectLine1"/>
                  <dgm:constr type="h" for="ch" forName="ConnectLine1" refType="h" fact="0.08"/>
                  <dgm:constr type="t" for="ch" forName="ConnectLine1" refType="h" fact="0.37"/>
                  <dgm:constr type="ctrX" for="ch" forName="ConnectLine1" refType="w" fact="0.5"/>
                  <dgm:constr type="w" for="ch" forName="ConnectLineEnd1" refType="h" fact="0.02"/>
                  <dgm:constr type="h" for="ch" forName="ConnectLineEnd1" refType="h" fact="0.02"/>
                  <dgm:constr type="t" for="ch" forName="ConnectLineEnd1" refType="h" fact="0.35"/>
                  <dgm:constr type="ctrX" for="ch" forName="ConnectLineEnd1" refType="w" fact="0.5"/>
                  <dgm:constr type="w" for="ch" forName="EmptyPane1" refType="w"/>
                  <dgm:constr type="t" for="ch" forName="EmptyPane1" refType="h" fact="0.55"/>
                  <dgm:constr type="h" for="ch" forName="EmptyPane1" refType="h" fact="0.45"/>
                </dgm:constrLst>
              </dgm:if>
              <dgm:else name="evenNode2">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t" for="ch" forName="Childtext1" refType="h" fact="0.65"/>
                  <dgm:constr type="w" for="ch" forName="ConnectLine1"/>
                  <dgm:constr type="h" for="ch" forName="ConnectLine1" refType="h" fact="0.08"/>
                  <dgm:constr type="t" for="ch" forName="ConnectLine1" refType="h" fact="0.55"/>
                  <dgm:constr type="ctrX" for="ch" forName="ConnectLine1" refType="w" fact="0.5"/>
                  <dgm:constr type="w" for="ch" forName="ConnectLineEnd1" refType="h" fact="0.02"/>
                  <dgm:constr type="h" for="ch" forName="ConnectLineEnd1" refType="h" fact="0.02"/>
                  <dgm:constr type="b" for="ch" forName="ConnectLineEnd1" refType="h" fact="0.65"/>
                  <dgm:constr type="ctrX" for="ch" forName="ConnectLineEnd1" refType="w" fact="0.5"/>
                  <dgm:constr type="w" for="ch" forName="EmptyPane1" refType="w"/>
                  <dgm:constr type="h" for="ch" forName="EmptyPane1" refType="h" fact="0.45"/>
                </dgm:constrLst>
              </dgm:else>
            </dgm:choose>
            <dgm:layoutNode name="parent1"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12">
                <dgm:if name="startNode12" axis="self" ptType="node" func="pos" op="equ" val="1">
                  <dgm:choose name="removeLineWhenOnlyOneNode12">
                    <dgm:if name="ifOnlyOneNode12" axis="followSib" ptType="node" func="cnt" op="equ" val="0">
                      <dgm:shape xmlns:r="http://schemas.openxmlformats.org/officeDocument/2006/relationships" type="roundRect" r:blip="">
                        <dgm:adjLst/>
                      </dgm:shape>
                    </dgm:if>
                    <dgm:else name="ifMoreThanOneNode12">
                      <dgm:choose name="Name181">
                        <dgm:if name="Name191" func="var" arg="dir" op="equ" val="norm">
                          <dgm:shape xmlns:r="http://schemas.openxmlformats.org/officeDocument/2006/relationships" rot="-90" type="round2SameRect" r:blip="">
                            <dgm:adjLst/>
                          </dgm:shape>
                        </dgm:if>
                        <dgm:else name="Name201">
                          <dgm:shape xmlns:r="http://schemas.openxmlformats.org/officeDocument/2006/relationships" rot="90" type="round2SameRect" r:blip="">
                            <dgm:adjLst/>
                          </dgm:shape>
                        </dgm:else>
                      </dgm:choose>
                    </dgm:else>
                  </dgm:choose>
                </dgm:if>
                <dgm:else name="notStartNode12">
                  <dgm:choose name="Name221">
                    <dgm:if name="Name231" axis="self" ptType="node" func="revPos" op="equ" val="1">
                      <dgm:choose name="Name241">
                        <dgm:if name="Name251" func="var" arg="dir" op="equ" val="norm">
                          <dgm:shape xmlns:r="http://schemas.openxmlformats.org/officeDocument/2006/relationships" rot="90" type="round2SameRect" r:blip="">
                            <dgm:adjLst/>
                          </dgm:shape>
                        </dgm:if>
                        <dgm:else name="Name261">
                          <dgm:shape xmlns:r="http://schemas.openxmlformats.org/officeDocument/2006/relationships" rot="-90" type="round2SameRect" r:blip="">
                            <dgm:adjLst/>
                          </dgm:shape>
                        </dgm:else>
                      </dgm:choose>
                    </dgm:if>
                    <dgm:else name="Name271">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dgm:varLst>
                <dgm:bulletEnabled val="1"/>
              </dgm:varLst>
              <dgm:choose name="casesForTxtDirLogic1">
                <dgm:if name="Name771"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1">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1" styleLbl="lnNode1">
              <dgm:alg type="sp"/>
              <dgm:shape xmlns:r="http://schemas.openxmlformats.org/officeDocument/2006/relationships" type="ellipse" r:blip="">
                <dgm:adjLst/>
              </dgm:shape>
              <dgm:presOf/>
              <dgm:constrLst/>
            </dgm:layoutNode>
            <dgm:layoutNode name="EmptyPane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h-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9ECE35-052C-4519-883A-20811486312B}" type="datetimeFigureOut">
              <a:rPr lang="th-TH" smtClean="0"/>
              <a:t>26/11/63</a:t>
            </a:fld>
            <a:endParaRPr lang="th-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h-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h-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690C6-3487-4A2A-A435-A96B59A0BF17}" type="slidenum">
              <a:rPr lang="th-TH" smtClean="0"/>
              <a:t>‹#›</a:t>
            </a:fld>
            <a:endParaRPr lang="th-TH"/>
          </a:p>
        </p:txBody>
      </p:sp>
    </p:spTree>
    <p:extLst>
      <p:ext uri="{BB962C8B-B14F-4D97-AF65-F5344CB8AC3E}">
        <p14:creationId xmlns:p14="http://schemas.microsoft.com/office/powerpoint/2010/main" val="816253733"/>
      </p:ext>
    </p:extLst>
  </p:cSld>
  <p:clrMap bg1="lt1" tx1="dk1" bg2="lt2" tx2="dk2" accent1="accent1" accent2="accent2" accent3="accent3" accent4="accent4" accent5="accent5" accent6="accent6" hlink="hlink" folHlink="folHlink"/>
  <p:notes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propose a minimized latency multi-hop </a:t>
            </a:r>
            <a:r>
              <a:rPr lang="en-US" dirty="0" err="1"/>
              <a:t>LoRa</a:t>
            </a:r>
            <a:r>
              <a:rPr lang="en-US" dirty="0"/>
              <a:t> network protocol to improve on the disadvantages of </a:t>
            </a:r>
            <a:r>
              <a:rPr lang="en-US" dirty="0" err="1"/>
              <a:t>LoRa</a:t>
            </a:r>
            <a:r>
              <a:rPr lang="en-US" dirty="0"/>
              <a:t> protocol.</a:t>
            </a:r>
            <a:endParaRPr lang="th-TH" dirty="0"/>
          </a:p>
        </p:txBody>
      </p:sp>
      <p:sp>
        <p:nvSpPr>
          <p:cNvPr id="4" name="Slide Number Placeholder 3"/>
          <p:cNvSpPr>
            <a:spLocks noGrp="1"/>
          </p:cNvSpPr>
          <p:nvPr>
            <p:ph type="sldNum" sz="quarter" idx="5"/>
          </p:nvPr>
        </p:nvSpPr>
        <p:spPr/>
        <p:txBody>
          <a:bodyPr/>
          <a:lstStyle/>
          <a:p>
            <a:fld id="{7A6690C6-3487-4A2A-A435-A96B59A0BF17}" type="slidenum">
              <a:rPr lang="th-TH" smtClean="0"/>
              <a:t>1</a:t>
            </a:fld>
            <a:endParaRPr lang="th-TH"/>
          </a:p>
        </p:txBody>
      </p:sp>
    </p:spTree>
    <p:extLst>
      <p:ext uri="{BB962C8B-B14F-4D97-AF65-F5344CB8AC3E}">
        <p14:creationId xmlns:p14="http://schemas.microsoft.com/office/powerpoint/2010/main" val="10038796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each cycle of the NCP, we have four timeslots, as shown in Figure 2. In NCP, it contains N cycles as shown in Figure 3.</a:t>
            </a:r>
          </a:p>
        </p:txBody>
      </p:sp>
      <p:sp>
        <p:nvSpPr>
          <p:cNvPr id="4" name="Slide Number Placeholder 3"/>
          <p:cNvSpPr>
            <a:spLocks noGrp="1"/>
          </p:cNvSpPr>
          <p:nvPr>
            <p:ph type="sldNum" sz="quarter" idx="5"/>
          </p:nvPr>
        </p:nvSpPr>
        <p:spPr/>
        <p:txBody>
          <a:bodyPr/>
          <a:lstStyle/>
          <a:p>
            <a:fld id="{7A6690C6-3487-4A2A-A435-A96B59A0BF17}" type="slidenum">
              <a:rPr lang="th-TH" smtClean="0"/>
              <a:t>15</a:t>
            </a:fld>
            <a:endParaRPr lang="th-TH"/>
          </a:p>
        </p:txBody>
      </p:sp>
    </p:spTree>
    <p:extLst>
      <p:ext uri="{BB962C8B-B14F-4D97-AF65-F5344CB8AC3E}">
        <p14:creationId xmlns:p14="http://schemas.microsoft.com/office/powerpoint/2010/main" val="33829366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16</a:t>
            </a:fld>
            <a:endParaRPr lang="th-TH"/>
          </a:p>
        </p:txBody>
      </p:sp>
    </p:spTree>
    <p:extLst>
      <p:ext uri="{BB962C8B-B14F-4D97-AF65-F5344CB8AC3E}">
        <p14:creationId xmlns:p14="http://schemas.microsoft.com/office/powerpoint/2010/main" val="7289665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17</a:t>
            </a:fld>
            <a:endParaRPr lang="th-TH"/>
          </a:p>
        </p:txBody>
      </p:sp>
    </p:spTree>
    <p:extLst>
      <p:ext uri="{BB962C8B-B14F-4D97-AF65-F5344CB8AC3E}">
        <p14:creationId xmlns:p14="http://schemas.microsoft.com/office/powerpoint/2010/main" val="21453678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18</a:t>
            </a:fld>
            <a:endParaRPr lang="th-TH"/>
          </a:p>
        </p:txBody>
      </p:sp>
    </p:spTree>
    <p:extLst>
      <p:ext uri="{BB962C8B-B14F-4D97-AF65-F5344CB8AC3E}">
        <p14:creationId xmlns:p14="http://schemas.microsoft.com/office/powerpoint/2010/main" val="1585484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19</a:t>
            </a:fld>
            <a:endParaRPr lang="th-TH"/>
          </a:p>
        </p:txBody>
      </p:sp>
    </p:spTree>
    <p:extLst>
      <p:ext uri="{BB962C8B-B14F-4D97-AF65-F5344CB8AC3E}">
        <p14:creationId xmlns:p14="http://schemas.microsoft.com/office/powerpoint/2010/main" val="31768342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20</a:t>
            </a:fld>
            <a:endParaRPr lang="th-TH"/>
          </a:p>
        </p:txBody>
      </p:sp>
    </p:spTree>
    <p:extLst>
      <p:ext uri="{BB962C8B-B14F-4D97-AF65-F5344CB8AC3E}">
        <p14:creationId xmlns:p14="http://schemas.microsoft.com/office/powerpoint/2010/main" val="13154455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21</a:t>
            </a:fld>
            <a:endParaRPr lang="th-TH"/>
          </a:p>
        </p:txBody>
      </p:sp>
    </p:spTree>
    <p:extLst>
      <p:ext uri="{BB962C8B-B14F-4D97-AF65-F5344CB8AC3E}">
        <p14:creationId xmlns:p14="http://schemas.microsoft.com/office/powerpoint/2010/main" val="1473444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22</a:t>
            </a:fld>
            <a:endParaRPr lang="th-TH"/>
          </a:p>
        </p:txBody>
      </p:sp>
    </p:spTree>
    <p:extLst>
      <p:ext uri="{BB962C8B-B14F-4D97-AF65-F5344CB8AC3E}">
        <p14:creationId xmlns:p14="http://schemas.microsoft.com/office/powerpoint/2010/main" val="26170195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NCP process with six nodes. At first, each node initializes its P, D, Cd and UC information, as shown in Table 1. We assume that TUTC = 5 × 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First, the sink node transmits INIT(0,S,0,5)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timeslot TS1 in the first cycle (cycle 0). Nodes A and B receive the INIT packet from node S, and after that,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nodes A and B compete to transmit a JOIN packet to node S. We assume node B wins, and node B transmits JOIN(1,B,S,{}). Node A determines it lost the competition and waits until TS2 (in the next cycle) to retransmit the JOIN packet. Node S receives the JOIN packet from node B and accepts node B as its child node. Based on UC and Cd, node S decides to assign timeslot T5 and channel Ch0 to node B to communicate with node S, as explained in the next sub-section.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 S transmits CON (0,S,B,T5,Ch0) to node B at TS3 to inform node B of its assignment. Nodes A and B receive the CON packet, B sets its parent as S and the cell assignment to P and UC, while node A adds (Ch0, T5) to its UC list. In TS4, node B broadcasts ADV (1,B,T5,Ch0) to inform its neighbor nodes of the cell assignment. After receiving the ADV packet, nodes A, C and D add (Ch0, T5) to their UC lists.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TS4, node B broadcasts ADV (1,B,T5,Ch0) to inform its neighbor nodes of the cell assignment. After receiving the ADV packet, nodes A, C and D add (Ch0, T5) to their UC lists.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TS1 of the next cycle (Cycle 1), node B sends INIT (1,B,1,5), and nodes A, C and E receive this packet and add node B to their parent lists.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TS2, nodes A, C and D choose their parents as described in the next sub-section and compete to transmit a JOIN packet to the parent node. Node A wins then, sending JOIN (1,A,S,{(T5, Ch0)}) to node S. Nodes C and E determine that they lost the competition when overhearing the JOIN packet, and wait until TS3 (in the next cycle) to retransmit the JOIN packet. After receiving the JOIN packet from node A, node S accepts node A as its child and chooses TS4 and channel Ch0 as the link from A to 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Node S transmits CON (0,S,A,T4,Ch0) to node A at TS3 to inform node A of its assignment. Nodes C, B and D overhear this packet and add (Ch0, T4) to their UC lists. Node A receives this packet and sets its parent as S, adding the cell assignment to P.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TS4, node A broadcasts ADV(1,A,T4,Ch0) to inform the neighbor nodes about the cell assignment.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process is repeated until the network construction is completed. Figure 6 shows the NCP process, and Table 1 shows the information maintained by each node after the NCP finishes.</a:t>
            </a:r>
          </a:p>
        </p:txBody>
      </p:sp>
      <p:sp>
        <p:nvSpPr>
          <p:cNvPr id="4" name="Slide Number Placeholder 3"/>
          <p:cNvSpPr>
            <a:spLocks noGrp="1"/>
          </p:cNvSpPr>
          <p:nvPr>
            <p:ph type="sldNum" sz="quarter" idx="5"/>
          </p:nvPr>
        </p:nvSpPr>
        <p:spPr/>
        <p:txBody>
          <a:bodyPr/>
          <a:lstStyle/>
          <a:p>
            <a:fld id="{7A6690C6-3487-4A2A-A435-A96B59A0BF17}" type="slidenum">
              <a:rPr lang="th-TH" smtClean="0"/>
              <a:t>23</a:t>
            </a:fld>
            <a:endParaRPr lang="th-TH"/>
          </a:p>
        </p:txBody>
      </p:sp>
    </p:spTree>
    <p:extLst>
      <p:ext uri="{BB962C8B-B14F-4D97-AF65-F5344CB8AC3E}">
        <p14:creationId xmlns:p14="http://schemas.microsoft.com/office/powerpoint/2010/main" val="40643967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24</a:t>
            </a:fld>
            <a:endParaRPr lang="th-TH"/>
          </a:p>
        </p:txBody>
      </p:sp>
    </p:spTree>
    <p:extLst>
      <p:ext uri="{BB962C8B-B14F-4D97-AF65-F5344CB8AC3E}">
        <p14:creationId xmlns:p14="http://schemas.microsoft.com/office/powerpoint/2010/main" val="18524405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25</a:t>
            </a:fld>
            <a:endParaRPr lang="th-TH"/>
          </a:p>
        </p:txBody>
      </p:sp>
    </p:spTree>
    <p:extLst>
      <p:ext uri="{BB962C8B-B14F-4D97-AF65-F5344CB8AC3E}">
        <p14:creationId xmlns:p14="http://schemas.microsoft.com/office/powerpoint/2010/main" val="8470330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26</a:t>
            </a:fld>
            <a:endParaRPr lang="th-TH"/>
          </a:p>
        </p:txBody>
      </p:sp>
    </p:spTree>
    <p:extLst>
      <p:ext uri="{BB962C8B-B14F-4D97-AF65-F5344CB8AC3E}">
        <p14:creationId xmlns:p14="http://schemas.microsoft.com/office/powerpoint/2010/main" val="35764398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27</a:t>
            </a:fld>
            <a:endParaRPr lang="th-TH"/>
          </a:p>
        </p:txBody>
      </p:sp>
    </p:spTree>
    <p:extLst>
      <p:ext uri="{BB962C8B-B14F-4D97-AF65-F5344CB8AC3E}">
        <p14:creationId xmlns:p14="http://schemas.microsoft.com/office/powerpoint/2010/main" val="29225176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28</a:t>
            </a:fld>
            <a:endParaRPr lang="th-TH"/>
          </a:p>
        </p:txBody>
      </p:sp>
    </p:spTree>
    <p:extLst>
      <p:ext uri="{BB962C8B-B14F-4D97-AF65-F5344CB8AC3E}">
        <p14:creationId xmlns:p14="http://schemas.microsoft.com/office/powerpoint/2010/main" val="33350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29</a:t>
            </a:fld>
            <a:endParaRPr lang="th-TH"/>
          </a:p>
        </p:txBody>
      </p:sp>
    </p:spTree>
    <p:extLst>
      <p:ext uri="{BB962C8B-B14F-4D97-AF65-F5344CB8AC3E}">
        <p14:creationId xmlns:p14="http://schemas.microsoft.com/office/powerpoint/2010/main" val="30046111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30</a:t>
            </a:fld>
            <a:endParaRPr lang="th-TH"/>
          </a:p>
        </p:txBody>
      </p:sp>
    </p:spTree>
    <p:extLst>
      <p:ext uri="{BB962C8B-B14F-4D97-AF65-F5344CB8AC3E}">
        <p14:creationId xmlns:p14="http://schemas.microsoft.com/office/powerpoint/2010/main" val="5670924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31</a:t>
            </a:fld>
            <a:endParaRPr lang="th-TH"/>
          </a:p>
        </p:txBody>
      </p:sp>
    </p:spTree>
    <p:extLst>
      <p:ext uri="{BB962C8B-B14F-4D97-AF65-F5344CB8AC3E}">
        <p14:creationId xmlns:p14="http://schemas.microsoft.com/office/powerpoint/2010/main" val="3255091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32</a:t>
            </a:fld>
            <a:endParaRPr lang="th-TH"/>
          </a:p>
        </p:txBody>
      </p:sp>
    </p:spTree>
    <p:extLst>
      <p:ext uri="{BB962C8B-B14F-4D97-AF65-F5344CB8AC3E}">
        <p14:creationId xmlns:p14="http://schemas.microsoft.com/office/powerpoint/2010/main" val="6443993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33</a:t>
            </a:fld>
            <a:endParaRPr lang="th-TH"/>
          </a:p>
        </p:txBody>
      </p:sp>
    </p:spTree>
    <p:extLst>
      <p:ext uri="{BB962C8B-B14F-4D97-AF65-F5344CB8AC3E}">
        <p14:creationId xmlns:p14="http://schemas.microsoft.com/office/powerpoint/2010/main" val="21493723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34</a:t>
            </a:fld>
            <a:endParaRPr lang="th-TH"/>
          </a:p>
        </p:txBody>
      </p:sp>
    </p:spTree>
    <p:extLst>
      <p:ext uri="{BB962C8B-B14F-4D97-AF65-F5344CB8AC3E}">
        <p14:creationId xmlns:p14="http://schemas.microsoft.com/office/powerpoint/2010/main" val="22491637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35</a:t>
            </a:fld>
            <a:endParaRPr lang="th-TH"/>
          </a:p>
        </p:txBody>
      </p:sp>
    </p:spTree>
    <p:extLst>
      <p:ext uri="{BB962C8B-B14F-4D97-AF65-F5344CB8AC3E}">
        <p14:creationId xmlns:p14="http://schemas.microsoft.com/office/powerpoint/2010/main" val="27564750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36</a:t>
            </a:fld>
            <a:endParaRPr lang="th-TH"/>
          </a:p>
        </p:txBody>
      </p:sp>
    </p:spTree>
    <p:extLst>
      <p:ext uri="{BB962C8B-B14F-4D97-AF65-F5344CB8AC3E}">
        <p14:creationId xmlns:p14="http://schemas.microsoft.com/office/powerpoint/2010/main" val="27499538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37</a:t>
            </a:fld>
            <a:endParaRPr lang="th-TH"/>
          </a:p>
        </p:txBody>
      </p:sp>
    </p:spTree>
    <p:extLst>
      <p:ext uri="{BB962C8B-B14F-4D97-AF65-F5344CB8AC3E}">
        <p14:creationId xmlns:p14="http://schemas.microsoft.com/office/powerpoint/2010/main" val="3924672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38</a:t>
            </a:fld>
            <a:endParaRPr lang="th-TH"/>
          </a:p>
        </p:txBody>
      </p:sp>
    </p:spTree>
    <p:extLst>
      <p:ext uri="{BB962C8B-B14F-4D97-AF65-F5344CB8AC3E}">
        <p14:creationId xmlns:p14="http://schemas.microsoft.com/office/powerpoint/2010/main" val="2628833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39</a:t>
            </a:fld>
            <a:endParaRPr lang="th-TH"/>
          </a:p>
        </p:txBody>
      </p:sp>
    </p:spTree>
    <p:extLst>
      <p:ext uri="{BB962C8B-B14F-4D97-AF65-F5344CB8AC3E}">
        <p14:creationId xmlns:p14="http://schemas.microsoft.com/office/powerpoint/2010/main" val="361450588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40</a:t>
            </a:fld>
            <a:endParaRPr lang="th-TH"/>
          </a:p>
        </p:txBody>
      </p:sp>
    </p:spTree>
    <p:extLst>
      <p:ext uri="{BB962C8B-B14F-4D97-AF65-F5344CB8AC3E}">
        <p14:creationId xmlns:p14="http://schemas.microsoft.com/office/powerpoint/2010/main" val="41909307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41</a:t>
            </a:fld>
            <a:endParaRPr lang="th-TH"/>
          </a:p>
        </p:txBody>
      </p:sp>
    </p:spTree>
    <p:extLst>
      <p:ext uri="{BB962C8B-B14F-4D97-AF65-F5344CB8AC3E}">
        <p14:creationId xmlns:p14="http://schemas.microsoft.com/office/powerpoint/2010/main" val="99434396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42</a:t>
            </a:fld>
            <a:endParaRPr lang="th-TH"/>
          </a:p>
        </p:txBody>
      </p:sp>
    </p:spTree>
    <p:extLst>
      <p:ext uri="{BB962C8B-B14F-4D97-AF65-F5344CB8AC3E}">
        <p14:creationId xmlns:p14="http://schemas.microsoft.com/office/powerpoint/2010/main" val="28552967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43</a:t>
            </a:fld>
            <a:endParaRPr lang="th-TH"/>
          </a:p>
        </p:txBody>
      </p:sp>
    </p:spTree>
    <p:extLst>
      <p:ext uri="{BB962C8B-B14F-4D97-AF65-F5344CB8AC3E}">
        <p14:creationId xmlns:p14="http://schemas.microsoft.com/office/powerpoint/2010/main" val="36271792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44</a:t>
            </a:fld>
            <a:endParaRPr lang="th-TH"/>
          </a:p>
        </p:txBody>
      </p:sp>
    </p:spTree>
    <p:extLst>
      <p:ext uri="{BB962C8B-B14F-4D97-AF65-F5344CB8AC3E}">
        <p14:creationId xmlns:p14="http://schemas.microsoft.com/office/powerpoint/2010/main" val="29791641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690C6-3487-4A2A-A435-A96B59A0BF17}" type="slidenum">
              <a:rPr lang="th-TH" smtClean="0"/>
              <a:t>45</a:t>
            </a:fld>
            <a:endParaRPr lang="th-TH"/>
          </a:p>
        </p:txBody>
      </p:sp>
    </p:spTree>
    <p:extLst>
      <p:ext uri="{BB962C8B-B14F-4D97-AF65-F5344CB8AC3E}">
        <p14:creationId xmlns:p14="http://schemas.microsoft.com/office/powerpoint/2010/main" val="33331727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11/26/2020</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11/26/2020</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11/26/2020</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11/26/2020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11/26/2020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11/26/2020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11/26/2020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11/26/2020</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11/26/2020</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11/26/2020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11/26/2020</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11/26/2020</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21E816-31F5-48BB-BD02-D15F2F18B48A}"/>
              </a:ext>
            </a:extLst>
          </p:cNvPr>
          <p:cNvSpPr>
            <a:spLocks noGrp="1"/>
          </p:cNvSpPr>
          <p:nvPr>
            <p:ph type="ctrTitle"/>
          </p:nvPr>
        </p:nvSpPr>
        <p:spPr>
          <a:xfrm>
            <a:off x="596714" y="1657529"/>
            <a:ext cx="10993549" cy="1475013"/>
          </a:xfrm>
        </p:spPr>
        <p:txBody>
          <a:bodyPr>
            <a:normAutofit/>
          </a:bodyPr>
          <a:lstStyle/>
          <a:p>
            <a:pPr algn="ctr"/>
            <a:r>
              <a:rPr lang="en-US" sz="4000" cap="none" dirty="0">
                <a:solidFill>
                  <a:schemeClr val="tx1"/>
                </a:solidFill>
                <a:latin typeface="+mn-lt"/>
              </a:rPr>
              <a:t>Multi-Hop </a:t>
            </a:r>
            <a:r>
              <a:rPr lang="en-US" sz="4000" cap="none" dirty="0" err="1">
                <a:solidFill>
                  <a:schemeClr val="tx1"/>
                </a:solidFill>
                <a:latin typeface="+mn-lt"/>
              </a:rPr>
              <a:t>LoRa</a:t>
            </a:r>
            <a:r>
              <a:rPr lang="en-US" sz="4000" cap="none" dirty="0">
                <a:solidFill>
                  <a:schemeClr val="tx1"/>
                </a:solidFill>
                <a:latin typeface="+mn-lt"/>
              </a:rPr>
              <a:t> Network Protocol with </a:t>
            </a:r>
            <a:br>
              <a:rPr lang="en-US" sz="4000" cap="none" dirty="0">
                <a:solidFill>
                  <a:schemeClr val="tx1"/>
                </a:solidFill>
                <a:latin typeface="+mn-lt"/>
              </a:rPr>
            </a:br>
            <a:r>
              <a:rPr lang="en-US" sz="4000" cap="none" dirty="0">
                <a:solidFill>
                  <a:schemeClr val="tx1"/>
                </a:solidFill>
                <a:latin typeface="+mn-lt"/>
              </a:rPr>
              <a:t>Minimized Latency</a:t>
            </a:r>
          </a:p>
        </p:txBody>
      </p:sp>
      <p:sp>
        <p:nvSpPr>
          <p:cNvPr id="3" name="Subtitle 2">
            <a:extLst>
              <a:ext uri="{FF2B5EF4-FFF2-40B4-BE49-F238E27FC236}">
                <a16:creationId xmlns:a16="http://schemas.microsoft.com/office/drawing/2014/main" id="{835D6E6B-3353-491C-A3C6-F278D6CED8B3}"/>
              </a:ext>
            </a:extLst>
          </p:cNvPr>
          <p:cNvSpPr>
            <a:spLocks noGrp="1"/>
          </p:cNvSpPr>
          <p:nvPr>
            <p:ph type="subTitle" idx="1"/>
          </p:nvPr>
        </p:nvSpPr>
        <p:spPr>
          <a:xfrm>
            <a:off x="6898104" y="5518483"/>
            <a:ext cx="4676635" cy="882315"/>
          </a:xfrm>
        </p:spPr>
        <p:txBody>
          <a:bodyPr>
            <a:normAutofit/>
          </a:bodyPr>
          <a:lstStyle/>
          <a:p>
            <a:pPr algn="r"/>
            <a:r>
              <a:rPr lang="en-US" sz="1400" cap="none" dirty="0">
                <a:solidFill>
                  <a:schemeClr val="tx1"/>
                </a:solidFill>
              </a:rPr>
              <a:t>Reviewed by </a:t>
            </a:r>
            <a:r>
              <a:rPr lang="en-US" sz="1400" cap="none" dirty="0" err="1">
                <a:solidFill>
                  <a:schemeClr val="tx1"/>
                </a:solidFill>
              </a:rPr>
              <a:t>Wanarut</a:t>
            </a:r>
            <a:r>
              <a:rPr lang="en-US" sz="1400" cap="none" dirty="0">
                <a:solidFill>
                  <a:schemeClr val="tx1"/>
                </a:solidFill>
              </a:rPr>
              <a:t> </a:t>
            </a:r>
            <a:r>
              <a:rPr lang="en-US" sz="1400" cap="none" dirty="0" err="1">
                <a:solidFill>
                  <a:schemeClr val="tx1"/>
                </a:solidFill>
              </a:rPr>
              <a:t>Boonyung</a:t>
            </a:r>
            <a:endParaRPr lang="en-US" sz="1400" cap="none" dirty="0">
              <a:solidFill>
                <a:schemeClr val="tx1"/>
              </a:solidFill>
            </a:endParaRPr>
          </a:p>
          <a:p>
            <a:pPr algn="r"/>
            <a:r>
              <a:rPr lang="en-US" sz="1400" cap="none" dirty="0">
                <a:solidFill>
                  <a:schemeClr val="tx1"/>
                </a:solidFill>
              </a:rPr>
              <a:t>5 November 2020</a:t>
            </a:r>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4" name="TextBox 3">
            <a:extLst>
              <a:ext uri="{FF2B5EF4-FFF2-40B4-BE49-F238E27FC236}">
                <a16:creationId xmlns:a16="http://schemas.microsoft.com/office/drawing/2014/main" id="{FFEA5371-EB38-4DDE-AEA0-77CF7704F26F}"/>
              </a:ext>
            </a:extLst>
          </p:cNvPr>
          <p:cNvSpPr txBox="1"/>
          <p:nvPr/>
        </p:nvSpPr>
        <p:spPr>
          <a:xfrm>
            <a:off x="871782" y="3524933"/>
            <a:ext cx="10443411" cy="1754326"/>
          </a:xfrm>
          <a:prstGeom prst="rect">
            <a:avLst/>
          </a:prstGeom>
          <a:noFill/>
        </p:spPr>
        <p:txBody>
          <a:bodyPr wrap="square" rtlCol="0">
            <a:spAutoFit/>
          </a:bodyPr>
          <a:lstStyle/>
          <a:p>
            <a:pPr algn="ctr"/>
            <a:r>
              <a:rPr lang="en-US" dirty="0" err="1"/>
              <a:t>Dinh</a:t>
            </a:r>
            <a:r>
              <a:rPr lang="en-US" dirty="0"/>
              <a:t> Loc Mai and Myung </a:t>
            </a:r>
            <a:r>
              <a:rPr lang="en-US" dirty="0" err="1"/>
              <a:t>Kyun</a:t>
            </a:r>
            <a:r>
              <a:rPr lang="en-US" dirty="0"/>
              <a:t> Kim</a:t>
            </a:r>
          </a:p>
          <a:p>
            <a:pPr algn="ctr"/>
            <a:r>
              <a:rPr lang="en-US" dirty="0"/>
              <a:t>Department of Electrical and Computer Engineering, University of Ulsan, Ulsan 44610, Korea</a:t>
            </a:r>
          </a:p>
          <a:p>
            <a:pPr algn="ctr"/>
            <a:endParaRPr lang="en-US" dirty="0"/>
          </a:p>
          <a:p>
            <a:pPr algn="ctr"/>
            <a:endParaRPr lang="en-US" dirty="0"/>
          </a:p>
          <a:p>
            <a:pPr algn="ctr"/>
            <a:r>
              <a:rPr lang="en-US" dirty="0"/>
              <a:t>Received: 12 February 2020; Accepted: 13 March 2020; Published: 15 March 2020</a:t>
            </a:r>
          </a:p>
          <a:p>
            <a:pPr algn="ctr"/>
            <a:endParaRPr lang="th-TH" dirty="0"/>
          </a:p>
        </p:txBody>
      </p:sp>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Diagram&#10;&#10;Description automatically generated">
            <a:extLst>
              <a:ext uri="{FF2B5EF4-FFF2-40B4-BE49-F238E27FC236}">
                <a16:creationId xmlns:a16="http://schemas.microsoft.com/office/drawing/2014/main" id="{071FA6B8-C997-4BBE-A590-D38EB38071B5}"/>
              </a:ext>
            </a:extLst>
          </p:cNvPr>
          <p:cNvPicPr>
            <a:picLocks noGrp="1" noChangeAspect="1"/>
          </p:cNvPicPr>
          <p:nvPr>
            <p:ph idx="1"/>
          </p:nvPr>
        </p:nvPicPr>
        <p:blipFill rotWithShape="1">
          <a:blip r:embed="rId2"/>
          <a:srcRect l="75209" b="68227"/>
          <a:stretch/>
        </p:blipFill>
        <p:spPr>
          <a:xfrm>
            <a:off x="7823199" y="1269000"/>
            <a:ext cx="1698633" cy="1372600"/>
          </a:xfr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708075"/>
            <a:ext cx="10564968" cy="646331"/>
          </a:xfrm>
          <a:prstGeom prst="rect">
            <a:avLst/>
          </a:prstGeom>
          <a:noFill/>
        </p:spPr>
        <p:txBody>
          <a:bodyPr wrap="square" rtlCol="0">
            <a:spAutoFit/>
          </a:bodyPr>
          <a:lstStyle/>
          <a:p>
            <a:pPr algn="ctr"/>
            <a:r>
              <a:rPr lang="en-US" dirty="0"/>
              <a:t>A source node wants to send the data packet to a destination node.</a:t>
            </a:r>
          </a:p>
          <a:p>
            <a:pPr algn="ctr"/>
            <a:r>
              <a:rPr lang="en-US" dirty="0"/>
              <a:t>But a destination node is not in the wireless communication range.</a:t>
            </a:r>
            <a:endParaRPr lang="th-TH" dirty="0"/>
          </a:p>
        </p:txBody>
      </p:sp>
      <p:pic>
        <p:nvPicPr>
          <p:cNvPr id="7" name="Content Placeholder 4" descr="Diagram&#10;&#10;Description automatically generated">
            <a:extLst>
              <a:ext uri="{FF2B5EF4-FFF2-40B4-BE49-F238E27FC236}">
                <a16:creationId xmlns:a16="http://schemas.microsoft.com/office/drawing/2014/main" id="{893EE25A-8116-4D40-9C51-7FB5DA184667}"/>
              </a:ext>
            </a:extLst>
          </p:cNvPr>
          <p:cNvPicPr>
            <a:picLocks noChangeAspect="1"/>
          </p:cNvPicPr>
          <p:nvPr/>
        </p:nvPicPr>
        <p:blipFill rotWithShape="1">
          <a:blip r:embed="rId2"/>
          <a:srcRect t="29225" r="61863"/>
          <a:stretch/>
        </p:blipFill>
        <p:spPr>
          <a:xfrm>
            <a:off x="2670167" y="2531532"/>
            <a:ext cx="2613033" cy="3057467"/>
          </a:xfrm>
          <a:prstGeom prst="rect">
            <a:avLst/>
          </a:prstGeom>
        </p:spPr>
      </p:pic>
      <p:sp>
        <p:nvSpPr>
          <p:cNvPr id="3" name="TextBox 2">
            <a:extLst>
              <a:ext uri="{FF2B5EF4-FFF2-40B4-BE49-F238E27FC236}">
                <a16:creationId xmlns:a16="http://schemas.microsoft.com/office/drawing/2014/main" id="{6FB47B96-3BBF-4FC6-82B7-9A4855590569}"/>
              </a:ext>
            </a:extLst>
          </p:cNvPr>
          <p:cNvSpPr txBox="1"/>
          <p:nvPr/>
        </p:nvSpPr>
        <p:spPr>
          <a:xfrm>
            <a:off x="4605687" y="3548076"/>
            <a:ext cx="1355025" cy="369332"/>
          </a:xfrm>
          <a:prstGeom prst="rect">
            <a:avLst/>
          </a:prstGeom>
          <a:noFill/>
        </p:spPr>
        <p:txBody>
          <a:bodyPr wrap="square" rtlCol="0">
            <a:spAutoFit/>
          </a:bodyPr>
          <a:lstStyle/>
          <a:p>
            <a:r>
              <a:rPr lang="en-US" dirty="0"/>
              <a:t>data</a:t>
            </a:r>
            <a:endParaRPr lang="th-TH" dirty="0"/>
          </a:p>
        </p:txBody>
      </p:sp>
    </p:spTree>
    <p:extLst>
      <p:ext uri="{BB962C8B-B14F-4D97-AF65-F5344CB8AC3E}">
        <p14:creationId xmlns:p14="http://schemas.microsoft.com/office/powerpoint/2010/main" val="391737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Diagram&#10;&#10;Description automatically generated">
            <a:extLst>
              <a:ext uri="{FF2B5EF4-FFF2-40B4-BE49-F238E27FC236}">
                <a16:creationId xmlns:a16="http://schemas.microsoft.com/office/drawing/2014/main" id="{071FA6B8-C997-4BBE-A590-D38EB38071B5}"/>
              </a:ext>
            </a:extLst>
          </p:cNvPr>
          <p:cNvPicPr>
            <a:picLocks noGrp="1" noChangeAspect="1"/>
          </p:cNvPicPr>
          <p:nvPr>
            <p:ph idx="1"/>
          </p:nvPr>
        </p:nvPicPr>
        <p:blipFill>
          <a:blip r:embed="rId2"/>
          <a:stretch>
            <a:fillRect/>
          </a:stretch>
        </p:blipFill>
        <p:spPr>
          <a:xfrm>
            <a:off x="2670167" y="1269000"/>
            <a:ext cx="6851666" cy="4320000"/>
          </a:xfr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708075"/>
            <a:ext cx="10564968" cy="646331"/>
          </a:xfrm>
          <a:prstGeom prst="rect">
            <a:avLst/>
          </a:prstGeom>
          <a:noFill/>
        </p:spPr>
        <p:txBody>
          <a:bodyPr wrap="square" rtlCol="0">
            <a:spAutoFit/>
          </a:bodyPr>
          <a:lstStyle/>
          <a:p>
            <a:pPr algn="ctr"/>
            <a:r>
              <a:rPr lang="en-US" dirty="0"/>
              <a:t>A source node must send the data packet via intermediate nodes until reaches a destination node. </a:t>
            </a:r>
          </a:p>
          <a:p>
            <a:pPr algn="ctr"/>
            <a:r>
              <a:rPr lang="en-US" dirty="0"/>
              <a:t>This mechanism was called the Multi-Hop.</a:t>
            </a:r>
            <a:endParaRPr lang="th-TH" dirty="0"/>
          </a:p>
        </p:txBody>
      </p:sp>
      <p:sp>
        <p:nvSpPr>
          <p:cNvPr id="7" name="TextBox 6">
            <a:extLst>
              <a:ext uri="{FF2B5EF4-FFF2-40B4-BE49-F238E27FC236}">
                <a16:creationId xmlns:a16="http://schemas.microsoft.com/office/drawing/2014/main" id="{0D9792E3-511E-474C-B9C3-D518CB8D215A}"/>
              </a:ext>
            </a:extLst>
          </p:cNvPr>
          <p:cNvSpPr txBox="1"/>
          <p:nvPr/>
        </p:nvSpPr>
        <p:spPr>
          <a:xfrm>
            <a:off x="4605687" y="3548076"/>
            <a:ext cx="1355025" cy="369332"/>
          </a:xfrm>
          <a:prstGeom prst="rect">
            <a:avLst/>
          </a:prstGeom>
          <a:noFill/>
        </p:spPr>
        <p:txBody>
          <a:bodyPr wrap="square" rtlCol="0">
            <a:spAutoFit/>
          </a:bodyPr>
          <a:lstStyle/>
          <a:p>
            <a:r>
              <a:rPr lang="en-US" dirty="0"/>
              <a:t>data</a:t>
            </a:r>
            <a:endParaRPr lang="th-TH" dirty="0"/>
          </a:p>
        </p:txBody>
      </p:sp>
    </p:spTree>
    <p:extLst>
      <p:ext uri="{BB962C8B-B14F-4D97-AF65-F5344CB8AC3E}">
        <p14:creationId xmlns:p14="http://schemas.microsoft.com/office/powerpoint/2010/main" val="1512280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Diagram&#10;&#10;Description automatically generated">
            <a:extLst>
              <a:ext uri="{FF2B5EF4-FFF2-40B4-BE49-F238E27FC236}">
                <a16:creationId xmlns:a16="http://schemas.microsoft.com/office/drawing/2014/main" id="{071FA6B8-C997-4BBE-A590-D38EB38071B5}"/>
              </a:ext>
            </a:extLst>
          </p:cNvPr>
          <p:cNvPicPr>
            <a:picLocks noGrp="1" noChangeAspect="1"/>
          </p:cNvPicPr>
          <p:nvPr>
            <p:ph idx="1"/>
          </p:nvPr>
        </p:nvPicPr>
        <p:blipFill>
          <a:blip r:embed="rId2"/>
          <a:stretch>
            <a:fillRect/>
          </a:stretch>
        </p:blipFill>
        <p:spPr>
          <a:xfrm>
            <a:off x="2670167" y="1269000"/>
            <a:ext cx="6851666" cy="4320000"/>
          </a:xfr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Introduction</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5708075"/>
            <a:ext cx="10564968" cy="369332"/>
          </a:xfrm>
          <a:prstGeom prst="rect">
            <a:avLst/>
          </a:prstGeom>
          <a:noFill/>
        </p:spPr>
        <p:txBody>
          <a:bodyPr wrap="square" rtlCol="0">
            <a:spAutoFit/>
          </a:bodyPr>
          <a:lstStyle/>
          <a:p>
            <a:pPr algn="ctr"/>
            <a:r>
              <a:rPr lang="en-US" dirty="0"/>
              <a:t>The disadvantages of multi-hop are high latency and low reliability.</a:t>
            </a:r>
            <a:endParaRPr lang="th-TH" dirty="0"/>
          </a:p>
        </p:txBody>
      </p:sp>
      <p:sp>
        <p:nvSpPr>
          <p:cNvPr id="3" name="TextBox 2">
            <a:extLst>
              <a:ext uri="{FF2B5EF4-FFF2-40B4-BE49-F238E27FC236}">
                <a16:creationId xmlns:a16="http://schemas.microsoft.com/office/drawing/2014/main" id="{BB59678F-6587-4D03-99D8-F886D3C4E257}"/>
              </a:ext>
            </a:extLst>
          </p:cNvPr>
          <p:cNvSpPr txBox="1"/>
          <p:nvPr/>
        </p:nvSpPr>
        <p:spPr>
          <a:xfrm>
            <a:off x="3547533" y="2794001"/>
            <a:ext cx="933845" cy="369332"/>
          </a:xfrm>
          <a:prstGeom prst="rect">
            <a:avLst/>
          </a:prstGeom>
          <a:noFill/>
        </p:spPr>
        <p:txBody>
          <a:bodyPr wrap="none" rtlCol="0">
            <a:spAutoFit/>
          </a:bodyPr>
          <a:lstStyle/>
          <a:p>
            <a:r>
              <a:rPr lang="en-US" dirty="0"/>
              <a:t>100 </a:t>
            </a:r>
            <a:r>
              <a:rPr lang="en-US" dirty="0" err="1"/>
              <a:t>ms</a:t>
            </a:r>
            <a:endParaRPr lang="th-TH" dirty="0"/>
          </a:p>
        </p:txBody>
      </p:sp>
      <p:sp>
        <p:nvSpPr>
          <p:cNvPr id="4" name="TextBox 3">
            <a:extLst>
              <a:ext uri="{FF2B5EF4-FFF2-40B4-BE49-F238E27FC236}">
                <a16:creationId xmlns:a16="http://schemas.microsoft.com/office/drawing/2014/main" id="{D8EB6544-7F82-4B71-9EAB-9C8B0A42AEB2}"/>
              </a:ext>
            </a:extLst>
          </p:cNvPr>
          <p:cNvSpPr txBox="1"/>
          <p:nvPr/>
        </p:nvSpPr>
        <p:spPr>
          <a:xfrm>
            <a:off x="5130803" y="3059668"/>
            <a:ext cx="941283" cy="369332"/>
          </a:xfrm>
          <a:prstGeom prst="rect">
            <a:avLst/>
          </a:prstGeom>
          <a:noFill/>
        </p:spPr>
        <p:txBody>
          <a:bodyPr wrap="none" rtlCol="0">
            <a:spAutoFit/>
          </a:bodyPr>
          <a:lstStyle/>
          <a:p>
            <a:r>
              <a:rPr lang="en-US" dirty="0"/>
              <a:t>500 </a:t>
            </a:r>
            <a:r>
              <a:rPr lang="en-US" dirty="0" err="1"/>
              <a:t>ms</a:t>
            </a:r>
            <a:endParaRPr lang="th-TH" dirty="0"/>
          </a:p>
        </p:txBody>
      </p:sp>
      <p:sp>
        <p:nvSpPr>
          <p:cNvPr id="9" name="TextBox 8">
            <a:extLst>
              <a:ext uri="{FF2B5EF4-FFF2-40B4-BE49-F238E27FC236}">
                <a16:creationId xmlns:a16="http://schemas.microsoft.com/office/drawing/2014/main" id="{9155D04B-C144-465D-BF00-461D73D0A99A}"/>
              </a:ext>
            </a:extLst>
          </p:cNvPr>
          <p:cNvSpPr txBox="1"/>
          <p:nvPr/>
        </p:nvSpPr>
        <p:spPr>
          <a:xfrm>
            <a:off x="5960533" y="2157772"/>
            <a:ext cx="941283" cy="369332"/>
          </a:xfrm>
          <a:prstGeom prst="rect">
            <a:avLst/>
          </a:prstGeom>
          <a:noFill/>
        </p:spPr>
        <p:txBody>
          <a:bodyPr wrap="none" rtlCol="0">
            <a:spAutoFit/>
          </a:bodyPr>
          <a:lstStyle/>
          <a:p>
            <a:r>
              <a:rPr lang="en-US" dirty="0"/>
              <a:t>200 </a:t>
            </a:r>
            <a:r>
              <a:rPr lang="en-US" dirty="0" err="1"/>
              <a:t>ms</a:t>
            </a:r>
            <a:endParaRPr lang="th-TH" dirty="0"/>
          </a:p>
        </p:txBody>
      </p:sp>
      <p:sp>
        <p:nvSpPr>
          <p:cNvPr id="11" name="TextBox 10">
            <a:extLst>
              <a:ext uri="{FF2B5EF4-FFF2-40B4-BE49-F238E27FC236}">
                <a16:creationId xmlns:a16="http://schemas.microsoft.com/office/drawing/2014/main" id="{DFCF06A7-BE4D-48F1-AF5F-CF8BD73C66F6}"/>
              </a:ext>
            </a:extLst>
          </p:cNvPr>
          <p:cNvSpPr txBox="1"/>
          <p:nvPr/>
        </p:nvSpPr>
        <p:spPr>
          <a:xfrm>
            <a:off x="7005020" y="1890876"/>
            <a:ext cx="941283" cy="369332"/>
          </a:xfrm>
          <a:prstGeom prst="rect">
            <a:avLst/>
          </a:prstGeom>
          <a:noFill/>
        </p:spPr>
        <p:txBody>
          <a:bodyPr wrap="none" rtlCol="0">
            <a:spAutoFit/>
          </a:bodyPr>
          <a:lstStyle/>
          <a:p>
            <a:r>
              <a:rPr lang="en-US" dirty="0"/>
              <a:t>500 </a:t>
            </a:r>
            <a:r>
              <a:rPr lang="en-US" dirty="0" err="1"/>
              <a:t>ms</a:t>
            </a:r>
            <a:endParaRPr lang="th-TH" dirty="0"/>
          </a:p>
        </p:txBody>
      </p:sp>
      <p:sp>
        <p:nvSpPr>
          <p:cNvPr id="13" name="TextBox 12">
            <a:extLst>
              <a:ext uri="{FF2B5EF4-FFF2-40B4-BE49-F238E27FC236}">
                <a16:creationId xmlns:a16="http://schemas.microsoft.com/office/drawing/2014/main" id="{623905E5-E91C-4BC2-BB18-474015408A33}"/>
              </a:ext>
            </a:extLst>
          </p:cNvPr>
          <p:cNvSpPr txBox="1"/>
          <p:nvPr/>
        </p:nvSpPr>
        <p:spPr>
          <a:xfrm>
            <a:off x="8323442" y="4341925"/>
            <a:ext cx="3590919" cy="369332"/>
          </a:xfrm>
          <a:prstGeom prst="rect">
            <a:avLst/>
          </a:prstGeom>
          <a:noFill/>
        </p:spPr>
        <p:txBody>
          <a:bodyPr wrap="none" rtlCol="0">
            <a:spAutoFit/>
          </a:bodyPr>
          <a:lstStyle/>
          <a:p>
            <a:r>
              <a:rPr lang="en-US" dirty="0"/>
              <a:t>Total latency is 1300 milliseconds </a:t>
            </a:r>
            <a:endParaRPr lang="th-TH" dirty="0"/>
          </a:p>
        </p:txBody>
      </p:sp>
    </p:spTree>
    <p:extLst>
      <p:ext uri="{BB962C8B-B14F-4D97-AF65-F5344CB8AC3E}">
        <p14:creationId xmlns:p14="http://schemas.microsoft.com/office/powerpoint/2010/main" val="16480859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About LoRa">
            <a:extLst>
              <a:ext uri="{FF2B5EF4-FFF2-40B4-BE49-F238E27FC236}">
                <a16:creationId xmlns:a16="http://schemas.microsoft.com/office/drawing/2014/main" id="{C77E631E-B039-4BB6-8E14-71995219CE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47688" y="3467867"/>
            <a:ext cx="4496624" cy="321585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What is </a:t>
            </a:r>
            <a:r>
              <a:rPr lang="en-US" dirty="0" err="1">
                <a:solidFill>
                  <a:schemeClr val="tx1"/>
                </a:solidFill>
              </a:rPr>
              <a:t>LoRa</a:t>
            </a:r>
            <a:r>
              <a:rPr lang="en-US" dirty="0">
                <a:solidFill>
                  <a:schemeClr val="tx1"/>
                </a:solidFill>
              </a:rPr>
              <a: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754326"/>
          </a:xfrm>
          <a:prstGeom prst="rect">
            <a:avLst/>
          </a:prstGeom>
          <a:noFill/>
        </p:spPr>
        <p:txBody>
          <a:bodyPr wrap="square" rtlCol="0">
            <a:spAutoFit/>
          </a:bodyPr>
          <a:lstStyle/>
          <a:p>
            <a:pPr marL="342900" indent="-342900" algn="thaiDist">
              <a:buFont typeface="Arial" panose="020B0604020202020204" pitchFamily="34" charset="0"/>
              <a:buChar char="•"/>
            </a:pPr>
            <a:r>
              <a:rPr lang="en-US" dirty="0" err="1"/>
              <a:t>LoRa</a:t>
            </a:r>
            <a:r>
              <a:rPr lang="en-US" dirty="0"/>
              <a:t> (Long Range) is a long-range wireless communications capacity with chirp spread spectrum modulation. </a:t>
            </a:r>
          </a:p>
          <a:p>
            <a:pPr marL="342900" indent="-342900" algn="thaiDist">
              <a:buFont typeface="Arial" panose="020B0604020202020204" pitchFamily="34" charset="0"/>
              <a:buChar char="•"/>
            </a:pPr>
            <a:r>
              <a:rPr lang="en-US" dirty="0"/>
              <a:t>It has been developed for Internet of Things (IoT) applications for long-distance and low power consumption. </a:t>
            </a:r>
          </a:p>
          <a:p>
            <a:pPr marL="342900" indent="-342900" algn="thaiDist">
              <a:buFont typeface="Arial" panose="020B0604020202020204" pitchFamily="34" charset="0"/>
              <a:buChar char="•"/>
            </a:pPr>
            <a:r>
              <a:rPr lang="en-US" dirty="0"/>
              <a:t>Some authors proposed </a:t>
            </a:r>
            <a:r>
              <a:rPr lang="en-US" dirty="0" err="1"/>
              <a:t>LoRa</a:t>
            </a:r>
            <a:r>
              <a:rPr lang="en-US" dirty="0"/>
              <a:t> protocols such as </a:t>
            </a:r>
            <a:r>
              <a:rPr lang="en-US" dirty="0" err="1"/>
              <a:t>LoRaWAN</a:t>
            </a:r>
            <a:r>
              <a:rPr lang="en-US" dirty="0"/>
              <a:t>, </a:t>
            </a:r>
            <a:r>
              <a:rPr lang="en-US" dirty="0" err="1"/>
              <a:t>LoRaBlink</a:t>
            </a:r>
            <a:r>
              <a:rPr lang="en-US" dirty="0"/>
              <a:t>, DQ-</a:t>
            </a:r>
            <a:r>
              <a:rPr lang="en-US" dirty="0" err="1"/>
              <a:t>LoRa</a:t>
            </a:r>
            <a:r>
              <a:rPr lang="en-US" dirty="0"/>
              <a:t> and the multi-hop </a:t>
            </a:r>
            <a:r>
              <a:rPr lang="en-US" dirty="0" err="1"/>
              <a:t>LoRa</a:t>
            </a:r>
            <a:r>
              <a:rPr lang="en-US" dirty="0"/>
              <a:t> network with linear topology.</a:t>
            </a:r>
            <a:endParaRPr lang="th-TH" dirty="0"/>
          </a:p>
        </p:txBody>
      </p:sp>
    </p:spTree>
    <p:extLst>
      <p:ext uri="{BB962C8B-B14F-4D97-AF65-F5344CB8AC3E}">
        <p14:creationId xmlns:p14="http://schemas.microsoft.com/office/powerpoint/2010/main" val="1026180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challenge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923330"/>
          </a:xfrm>
          <a:prstGeom prst="rect">
            <a:avLst/>
          </a:prstGeom>
          <a:noFill/>
        </p:spPr>
        <p:txBody>
          <a:bodyPr wrap="square" rtlCol="0">
            <a:spAutoFit/>
          </a:bodyPr>
          <a:lstStyle/>
          <a:p>
            <a:pPr marL="342900" indent="-342900" algn="thaiDist">
              <a:buFont typeface="+mj-lt"/>
              <a:buAutoNum type="arabicPeriod"/>
            </a:pPr>
            <a:r>
              <a:rPr lang="en-US" dirty="0"/>
              <a:t>The latency of </a:t>
            </a:r>
            <a:r>
              <a:rPr lang="en-US" dirty="0" err="1"/>
              <a:t>LoRa</a:t>
            </a:r>
            <a:r>
              <a:rPr lang="en-US" dirty="0"/>
              <a:t> technology is much longer than other wireless sensor network technologies.</a:t>
            </a:r>
          </a:p>
          <a:p>
            <a:pPr marL="342900" indent="-342900" algn="thaiDist">
              <a:buFont typeface="+mj-lt"/>
              <a:buAutoNum type="arabicPeriod"/>
            </a:pPr>
            <a:r>
              <a:rPr lang="en-US" dirty="0"/>
              <a:t>Some multi-hop network protocol not suitable for very low bandwidths such as </a:t>
            </a:r>
            <a:r>
              <a:rPr lang="en-US" dirty="0" err="1"/>
              <a:t>LoRa</a:t>
            </a:r>
            <a:r>
              <a:rPr lang="en-US" dirty="0"/>
              <a:t>.</a:t>
            </a:r>
          </a:p>
          <a:p>
            <a:pPr marL="342900" indent="-342900" algn="thaiDist">
              <a:buFont typeface="+mj-lt"/>
              <a:buAutoNum type="arabicPeriod"/>
            </a:pPr>
            <a:endParaRPr lang="th-TH" dirty="0"/>
          </a:p>
        </p:txBody>
      </p:sp>
    </p:spTree>
    <p:extLst>
      <p:ext uri="{BB962C8B-B14F-4D97-AF65-F5344CB8AC3E}">
        <p14:creationId xmlns:p14="http://schemas.microsoft.com/office/powerpoint/2010/main" val="1473426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solidFill>
                  <a:schemeClr val="tx1"/>
                </a:solidFill>
              </a:rPr>
              <a:t>Objective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this paper proposed a minimized latency multi-hop </a:t>
            </a:r>
            <a:r>
              <a:rPr lang="en-US" dirty="0" err="1"/>
              <a:t>LoRa</a:t>
            </a:r>
            <a:r>
              <a:rPr lang="en-US" dirty="0"/>
              <a:t> protocol for monitoring and controlling applications over long-distance and low power consumption.</a:t>
            </a:r>
            <a:endParaRPr lang="th-TH" dirty="0"/>
          </a:p>
        </p:txBody>
      </p:sp>
    </p:spTree>
    <p:extLst>
      <p:ext uri="{BB962C8B-B14F-4D97-AF65-F5344CB8AC3E}">
        <p14:creationId xmlns:p14="http://schemas.microsoft.com/office/powerpoint/2010/main" val="3063188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scope of the study</a:t>
            </a:r>
            <a:endParaRPr lang="th-TH" dirty="0">
              <a:solidFill>
                <a:schemeClr val="tx1"/>
              </a:solidFill>
            </a:endParaRPr>
          </a:p>
        </p:txBody>
      </p:sp>
      <p:pic>
        <p:nvPicPr>
          <p:cNvPr id="4" name="Picture 3">
            <a:extLst>
              <a:ext uri="{FF2B5EF4-FFF2-40B4-BE49-F238E27FC236}">
                <a16:creationId xmlns:a16="http://schemas.microsoft.com/office/drawing/2014/main" id="{C13DBFE4-916C-4781-BE39-61717FB1D035}"/>
              </a:ext>
            </a:extLst>
          </p:cNvPr>
          <p:cNvPicPr>
            <a:picLocks noChangeAspect="1"/>
          </p:cNvPicPr>
          <p:nvPr/>
        </p:nvPicPr>
        <p:blipFill>
          <a:blip r:embed="rId2"/>
          <a:stretch>
            <a:fillRect/>
          </a:stretch>
        </p:blipFill>
        <p:spPr>
          <a:xfrm>
            <a:off x="8143708" y="3122229"/>
            <a:ext cx="3467100" cy="3421480"/>
          </a:xfrm>
          <a:prstGeom prst="rect">
            <a:avLst/>
          </a:prstGeom>
        </p:spPr>
      </p:pic>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031325"/>
          </a:xfrm>
          <a:prstGeom prst="rect">
            <a:avLst/>
          </a:prstGeom>
          <a:noFill/>
        </p:spPr>
        <p:txBody>
          <a:bodyPr wrap="square" rtlCol="0">
            <a:spAutoFit/>
          </a:bodyPr>
          <a:lstStyle/>
          <a:p>
            <a:pPr algn="thaiDist"/>
            <a:r>
              <a:rPr lang="en-US" b="1" u="sng" dirty="0"/>
              <a:t>Network Model</a:t>
            </a:r>
          </a:p>
          <a:p>
            <a:pPr marL="342900" indent="-342900" algn="thaiDist">
              <a:buFont typeface="+mj-lt"/>
              <a:buAutoNum type="arabicPeriod"/>
            </a:pPr>
            <a:r>
              <a:rPr lang="en-US" dirty="0"/>
              <a:t>The Low Power Wide Area Network (LP-WAN) consists of one sink and several sensor nodes for tree topology.</a:t>
            </a:r>
          </a:p>
          <a:p>
            <a:pPr marL="342900" indent="-342900" algn="thaiDist">
              <a:buFont typeface="+mj-lt"/>
              <a:buAutoNum type="arabicPeriod"/>
            </a:pPr>
            <a:r>
              <a:rPr lang="en-US" dirty="0"/>
              <a:t>All nodes are assigned identification numbers (IDs) during network configuration.</a:t>
            </a:r>
          </a:p>
          <a:p>
            <a:pPr marL="342900" indent="-342900" algn="thaiDist">
              <a:buFont typeface="+mj-lt"/>
              <a:buAutoNum type="arabicPeriod"/>
            </a:pPr>
            <a:r>
              <a:rPr lang="en-US" dirty="0"/>
              <a:t>All sensor nodes transmit data to a sink (s) periodically along the tree path.</a:t>
            </a:r>
          </a:p>
          <a:p>
            <a:pPr marL="342900" indent="-342900" algn="thaiDist">
              <a:buFont typeface="+mj-lt"/>
              <a:buAutoNum type="arabicPeriod"/>
            </a:pPr>
            <a:r>
              <a:rPr lang="en-US" dirty="0"/>
              <a:t>Two nodes have a link if they can transmit directly to each other.</a:t>
            </a:r>
          </a:p>
          <a:p>
            <a:pPr marL="342900" indent="-342900" algn="thaiDist">
              <a:buFont typeface="+mj-lt"/>
              <a:buAutoNum type="arabicPeriod"/>
            </a:pPr>
            <a:r>
              <a:rPr lang="en-US" dirty="0"/>
              <a:t>A link on which a child and parent node communicates together is tree link.</a:t>
            </a:r>
            <a:endParaRPr lang="th-TH" dirty="0"/>
          </a:p>
        </p:txBody>
      </p:sp>
    </p:spTree>
    <p:extLst>
      <p:ext uri="{BB962C8B-B14F-4D97-AF65-F5344CB8AC3E}">
        <p14:creationId xmlns:p14="http://schemas.microsoft.com/office/powerpoint/2010/main" val="18320731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scope of the study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862322"/>
          </a:xfrm>
          <a:prstGeom prst="rect">
            <a:avLst/>
          </a:prstGeom>
          <a:noFill/>
        </p:spPr>
        <p:txBody>
          <a:bodyPr wrap="square" rtlCol="0">
            <a:spAutoFit/>
          </a:bodyPr>
          <a:lstStyle/>
          <a:p>
            <a:pPr algn="thaiDist"/>
            <a:r>
              <a:rPr lang="en-US" b="1" u="sng" dirty="0"/>
              <a:t>Protocol Model</a:t>
            </a:r>
          </a:p>
          <a:p>
            <a:pPr marL="342900" indent="-342900" algn="thaiDist">
              <a:buFont typeface="+mj-lt"/>
              <a:buAutoNum type="arabicPeriod"/>
            </a:pPr>
            <a:r>
              <a:rPr lang="en-US" dirty="0"/>
              <a:t>The protocol model is based on Time Division Multiple Access (TDMA) mechanism.</a:t>
            </a:r>
          </a:p>
          <a:p>
            <a:pPr marL="342900" indent="-342900" algn="thaiDist">
              <a:buFont typeface="+mj-lt"/>
              <a:buAutoNum type="arabicPeriod"/>
            </a:pPr>
            <a:r>
              <a:rPr lang="en-US" dirty="0"/>
              <a:t>All nodes in the network are assigned timeslot and channel (radio frequency) to communicate to the parent node or child node, which is collision-free with the neighboring node in the tree construction period.</a:t>
            </a:r>
          </a:p>
          <a:p>
            <a:pPr marL="342900" indent="-342900" algn="thaiDist">
              <a:buFont typeface="+mj-lt"/>
              <a:buAutoNum type="arabicPeriod"/>
            </a:pPr>
            <a:r>
              <a:rPr lang="en-US" dirty="0"/>
              <a:t>Based on the timeslot and channel, In the data transmission period, the child node transmits the data packet to its parent node.</a:t>
            </a:r>
          </a:p>
          <a:p>
            <a:pPr marL="342900" indent="-342900" algn="thaiDist">
              <a:buFont typeface="+mj-lt"/>
              <a:buAutoNum type="arabicPeriod"/>
            </a:pPr>
            <a:r>
              <a:rPr lang="en-US" dirty="0"/>
              <a:t>After receiving the data packet from all child nodes, the parent node combines all child nodes’ data with its own data and then transmits that to its parent node.</a:t>
            </a:r>
          </a:p>
          <a:p>
            <a:pPr marL="342900" indent="-342900" algn="thaiDist">
              <a:buFont typeface="+mj-lt"/>
              <a:buAutoNum type="arabicPeriod"/>
            </a:pPr>
            <a:endParaRPr lang="th-TH" dirty="0"/>
          </a:p>
        </p:txBody>
      </p:sp>
    </p:spTree>
    <p:extLst>
      <p:ext uri="{BB962C8B-B14F-4D97-AF65-F5344CB8AC3E}">
        <p14:creationId xmlns:p14="http://schemas.microsoft.com/office/powerpoint/2010/main" val="36003095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Research methodology</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3797193"/>
          </a:xfrm>
          <a:prstGeom prst="rect">
            <a:avLst/>
          </a:prstGeom>
          <a:noFill/>
        </p:spPr>
        <p:txBody>
          <a:bodyPr wrap="square" rtlCol="0">
            <a:spAutoFit/>
          </a:bodyPr>
          <a:lstStyle/>
          <a:p>
            <a:pPr marL="342900" indent="-342900" algn="thaiDist">
              <a:lnSpc>
                <a:spcPct val="150000"/>
              </a:lnSpc>
              <a:buFont typeface="+mj-lt"/>
              <a:buAutoNum type="arabicPeriod"/>
            </a:pPr>
            <a:r>
              <a:rPr lang="en-US" dirty="0"/>
              <a:t>The protocol uses distributed aggregation scheduling to eliminates all collisions when transmitting data.</a:t>
            </a:r>
          </a:p>
          <a:p>
            <a:pPr marL="742950" lvl="1" indent="-285750" algn="thaiDist">
              <a:lnSpc>
                <a:spcPct val="150000"/>
              </a:lnSpc>
              <a:buFont typeface="Wingdings" panose="05000000000000000000" pitchFamily="2" charset="2"/>
              <a:buChar char="Ø"/>
            </a:pPr>
            <a:r>
              <a:rPr lang="en-US" dirty="0"/>
              <a:t>the reliability of data transmission is high.</a:t>
            </a:r>
          </a:p>
          <a:p>
            <a:pPr marL="342900" indent="-342900" algn="thaiDist">
              <a:lnSpc>
                <a:spcPct val="150000"/>
              </a:lnSpc>
              <a:buFont typeface="+mj-lt"/>
              <a:buAutoNum type="arabicPeriod"/>
            </a:pPr>
            <a:r>
              <a:rPr lang="en-US" dirty="0"/>
              <a:t>The protocol uses a parallel transmissions for utilized channel maximization.</a:t>
            </a:r>
          </a:p>
          <a:p>
            <a:pPr marL="800100" lvl="1" indent="-342900" algn="thaiDist">
              <a:lnSpc>
                <a:spcPct val="150000"/>
              </a:lnSpc>
              <a:buFont typeface="Wingdings" panose="05000000000000000000" pitchFamily="2" charset="2"/>
              <a:buChar char="Ø"/>
            </a:pPr>
            <a:r>
              <a:rPr lang="en-US" dirty="0"/>
              <a:t>the number of neighbor nodes can be increased.</a:t>
            </a:r>
          </a:p>
          <a:p>
            <a:pPr marL="342900" indent="-342900" algn="thaiDist">
              <a:lnSpc>
                <a:spcPct val="150000"/>
              </a:lnSpc>
              <a:buFont typeface="+mj-lt"/>
              <a:buAutoNum type="arabicPeriod"/>
            </a:pPr>
            <a:r>
              <a:rPr lang="en-US" dirty="0"/>
              <a:t>The protocol uses a tree construction algorithm, which achieves a high balance load.</a:t>
            </a:r>
          </a:p>
          <a:p>
            <a:pPr marL="800100" lvl="1" indent="-342900" algn="thaiDist">
              <a:lnSpc>
                <a:spcPct val="150000"/>
              </a:lnSpc>
              <a:buFont typeface="Wingdings" panose="05000000000000000000" pitchFamily="2" charset="2"/>
              <a:buChar char="Ø"/>
            </a:pPr>
            <a:r>
              <a:rPr lang="en-US" dirty="0"/>
              <a:t>All power consumption of nodes are balanced.</a:t>
            </a:r>
          </a:p>
          <a:p>
            <a:pPr marL="342900" indent="-342900" algn="thaiDist">
              <a:lnSpc>
                <a:spcPct val="150000"/>
              </a:lnSpc>
              <a:buFont typeface="+mj-lt"/>
              <a:buAutoNum type="arabicPeriod"/>
            </a:pPr>
            <a:r>
              <a:rPr lang="en-US" dirty="0"/>
              <a:t>The protocol uses a timeslot and channel assignment algorithm to support the parallel node transmit data.</a:t>
            </a:r>
          </a:p>
          <a:p>
            <a:pPr marL="800100" lvl="1" indent="-342900" algn="thaiDist">
              <a:lnSpc>
                <a:spcPct val="150000"/>
              </a:lnSpc>
              <a:buFont typeface="Wingdings" panose="05000000000000000000" pitchFamily="2" charset="2"/>
              <a:buChar char="Ø"/>
            </a:pPr>
            <a:r>
              <a:rPr lang="en-US" dirty="0"/>
              <a:t>The source node can send to the multi-destination nodes at the same time. </a:t>
            </a:r>
          </a:p>
        </p:txBody>
      </p:sp>
    </p:spTree>
    <p:extLst>
      <p:ext uri="{BB962C8B-B14F-4D97-AF65-F5344CB8AC3E}">
        <p14:creationId xmlns:p14="http://schemas.microsoft.com/office/powerpoint/2010/main" val="4456782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200329"/>
          </a:xfrm>
          <a:prstGeom prst="rect">
            <a:avLst/>
          </a:prstGeom>
          <a:noFill/>
        </p:spPr>
        <p:txBody>
          <a:bodyPr wrap="square" rtlCol="0">
            <a:spAutoFit/>
          </a:bodyPr>
          <a:lstStyle/>
          <a:p>
            <a:pPr algn="thaiDist"/>
            <a:r>
              <a:rPr lang="en-US" dirty="0"/>
              <a:t>	The proposed protocol consists of 3 periods</a:t>
            </a:r>
          </a:p>
          <a:p>
            <a:pPr marL="342900" indent="-342900" algn="thaiDist">
              <a:buFont typeface="+mj-lt"/>
              <a:buAutoNum type="arabicPeriod"/>
            </a:pPr>
            <a:r>
              <a:rPr lang="en-US" dirty="0"/>
              <a:t>The network construction period (NCP)</a:t>
            </a:r>
          </a:p>
          <a:p>
            <a:pPr marL="342900" indent="-342900" algn="thaiDist">
              <a:buFont typeface="+mj-lt"/>
              <a:buAutoNum type="arabicPeriod"/>
            </a:pPr>
            <a:r>
              <a:rPr lang="en-US" dirty="0"/>
              <a:t>The upward transmission period (UTP) </a:t>
            </a:r>
          </a:p>
          <a:p>
            <a:pPr marL="342900" indent="-342900" algn="thaiDist">
              <a:buFont typeface="+mj-lt"/>
              <a:buAutoNum type="arabicPeriod"/>
            </a:pPr>
            <a:r>
              <a:rPr lang="en-US" dirty="0"/>
              <a:t>The downward transmission period (DTP)</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8" name="Rectangle 7">
            <a:extLst>
              <a:ext uri="{FF2B5EF4-FFF2-40B4-BE49-F238E27FC236}">
                <a16:creationId xmlns:a16="http://schemas.microsoft.com/office/drawing/2014/main" id="{31C4017B-65D0-4A1F-994D-0D1F9EF642A3}"/>
              </a:ext>
            </a:extLst>
          </p:cNvPr>
          <p:cNvSpPr/>
          <p:nvPr/>
        </p:nvSpPr>
        <p:spPr>
          <a:xfrm>
            <a:off x="3357981" y="4876800"/>
            <a:ext cx="2158999"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Tree>
    <p:extLst>
      <p:ext uri="{BB962C8B-B14F-4D97-AF65-F5344CB8AC3E}">
        <p14:creationId xmlns:p14="http://schemas.microsoft.com/office/powerpoint/2010/main" val="3784555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After constructing a tree network (NCP), data transmission cycles, called major cycles (MCs), are repeated and each MC consists of UTP and DTP</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8" name="Rectangle 7">
            <a:extLst>
              <a:ext uri="{FF2B5EF4-FFF2-40B4-BE49-F238E27FC236}">
                <a16:creationId xmlns:a16="http://schemas.microsoft.com/office/drawing/2014/main" id="{31C4017B-65D0-4A1F-994D-0D1F9EF642A3}"/>
              </a:ext>
            </a:extLst>
          </p:cNvPr>
          <p:cNvSpPr/>
          <p:nvPr/>
        </p:nvSpPr>
        <p:spPr>
          <a:xfrm>
            <a:off x="3357981" y="4876800"/>
            <a:ext cx="2158999"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Tree>
    <p:extLst>
      <p:ext uri="{BB962C8B-B14F-4D97-AF65-F5344CB8AC3E}">
        <p14:creationId xmlns:p14="http://schemas.microsoft.com/office/powerpoint/2010/main" val="36307090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UTP is a period for each node to transmit its data to the sink. It consist of N UTCs (Upward Transmission Cycles), where each </a:t>
            </a:r>
            <a:r>
              <a:rPr lang="en-US" dirty="0" err="1"/>
              <a:t>LoRa</a:t>
            </a:r>
            <a:r>
              <a:rPr lang="en-US" dirty="0"/>
              <a:t> nodes transmits one data to the sink.</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10" name="Rectangle 9">
            <a:extLst>
              <a:ext uri="{FF2B5EF4-FFF2-40B4-BE49-F238E27FC236}">
                <a16:creationId xmlns:a16="http://schemas.microsoft.com/office/drawing/2014/main" id="{DB82CED0-5422-4251-B5D9-DCF0DBE05796}"/>
              </a:ext>
            </a:extLst>
          </p:cNvPr>
          <p:cNvSpPr/>
          <p:nvPr/>
        </p:nvSpPr>
        <p:spPr>
          <a:xfrm>
            <a:off x="5542382" y="4876800"/>
            <a:ext cx="842372"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3" name="Rectangle 2">
            <a:extLst>
              <a:ext uri="{FF2B5EF4-FFF2-40B4-BE49-F238E27FC236}">
                <a16:creationId xmlns:a16="http://schemas.microsoft.com/office/drawing/2014/main" id="{8F75F043-D0AA-421E-A29B-210D04869BEB}"/>
              </a:ext>
            </a:extLst>
          </p:cNvPr>
          <p:cNvSpPr/>
          <p:nvPr/>
        </p:nvSpPr>
        <p:spPr>
          <a:xfrm>
            <a:off x="3305175" y="4829175"/>
            <a:ext cx="2265782" cy="442383"/>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199531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After UTP, there is one DTC (Downward Transmission Cycle) , for the sink to transmit a command to the </a:t>
            </a:r>
            <a:r>
              <a:rPr lang="en-US" dirty="0" err="1"/>
              <a:t>LoRa</a:t>
            </a:r>
            <a:r>
              <a:rPr lang="en-US" dirty="0"/>
              <a:t> nodes.</a:t>
            </a:r>
          </a:p>
        </p:txBody>
      </p:sp>
      <p:pic>
        <p:nvPicPr>
          <p:cNvPr id="4" name="Picture 3">
            <a:extLst>
              <a:ext uri="{FF2B5EF4-FFF2-40B4-BE49-F238E27FC236}">
                <a16:creationId xmlns:a16="http://schemas.microsoft.com/office/drawing/2014/main" id="{165D7661-9D88-4F2F-A39B-CED3012E2F0E}"/>
              </a:ext>
            </a:extLst>
          </p:cNvPr>
          <p:cNvPicPr>
            <a:picLocks noChangeAspect="1"/>
          </p:cNvPicPr>
          <p:nvPr/>
        </p:nvPicPr>
        <p:blipFill>
          <a:blip r:embed="rId2"/>
          <a:stretch>
            <a:fillRect/>
          </a:stretch>
        </p:blipFill>
        <p:spPr>
          <a:xfrm>
            <a:off x="2290762" y="3579737"/>
            <a:ext cx="7610475" cy="2209800"/>
          </a:xfrm>
          <a:prstGeom prst="rect">
            <a:avLst/>
          </a:prstGeom>
        </p:spPr>
      </p:pic>
      <p:sp>
        <p:nvSpPr>
          <p:cNvPr id="16" name="Rectangle 15">
            <a:extLst>
              <a:ext uri="{FF2B5EF4-FFF2-40B4-BE49-F238E27FC236}">
                <a16:creationId xmlns:a16="http://schemas.microsoft.com/office/drawing/2014/main" id="{CDF3ED0F-3689-4BE5-A713-A61C912EE14A}"/>
              </a:ext>
            </a:extLst>
          </p:cNvPr>
          <p:cNvSpPr/>
          <p:nvPr/>
        </p:nvSpPr>
        <p:spPr>
          <a:xfrm>
            <a:off x="6400800" y="4876800"/>
            <a:ext cx="2142700" cy="34713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UTP</a:t>
            </a:r>
            <a:endParaRPr lang="th-TH" dirty="0"/>
          </a:p>
        </p:txBody>
      </p:sp>
      <p:sp>
        <p:nvSpPr>
          <p:cNvPr id="18" name="Rectangle 17">
            <a:extLst>
              <a:ext uri="{FF2B5EF4-FFF2-40B4-BE49-F238E27FC236}">
                <a16:creationId xmlns:a16="http://schemas.microsoft.com/office/drawing/2014/main" id="{2FD014F2-839C-4187-9055-FB9EB1D03E77}"/>
              </a:ext>
            </a:extLst>
          </p:cNvPr>
          <p:cNvSpPr/>
          <p:nvPr/>
        </p:nvSpPr>
        <p:spPr>
          <a:xfrm>
            <a:off x="8559547" y="4876800"/>
            <a:ext cx="872067" cy="347133"/>
          </a:xfrm>
          <a:prstGeom prst="rect">
            <a:avLst/>
          </a:prstGeom>
          <a:solidFill>
            <a:srgbClr val="C00000"/>
          </a:solidFill>
          <a:ln>
            <a:solidFill>
              <a:srgbClr val="FF0000"/>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DTP</a:t>
            </a:r>
            <a:endParaRPr lang="th-TH" dirty="0"/>
          </a:p>
        </p:txBody>
      </p:sp>
      <p:sp>
        <p:nvSpPr>
          <p:cNvPr id="5" name="Rectangle 4">
            <a:extLst>
              <a:ext uri="{FF2B5EF4-FFF2-40B4-BE49-F238E27FC236}">
                <a16:creationId xmlns:a16="http://schemas.microsoft.com/office/drawing/2014/main" id="{6B8199A0-3E4E-40F4-8473-D0ED36DF5439}"/>
              </a:ext>
            </a:extLst>
          </p:cNvPr>
          <p:cNvSpPr/>
          <p:nvPr/>
        </p:nvSpPr>
        <p:spPr>
          <a:xfrm>
            <a:off x="5469798" y="4829175"/>
            <a:ext cx="979907" cy="442383"/>
          </a:xfrm>
          <a:prstGeom prst="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15809507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8F0BC672-06A4-4DE9-8C14-9295AF5E4C8D}"/>
              </a:ext>
            </a:extLst>
          </p:cNvPr>
          <p:cNvPicPr>
            <a:picLocks noChangeAspect="1"/>
          </p:cNvPicPr>
          <p:nvPr/>
        </p:nvPicPr>
        <p:blipFill>
          <a:blip r:embed="rId3"/>
          <a:stretch>
            <a:fillRect/>
          </a:stretch>
        </p:blipFill>
        <p:spPr>
          <a:xfrm>
            <a:off x="7734019" y="5461364"/>
            <a:ext cx="4093914" cy="1188721"/>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a:t>
            </a:r>
            <a:r>
              <a:rPr lang="en-US" dirty="0"/>
              <a:t> Network Protocol</a:t>
            </a:r>
            <a:endParaRPr lang="th-TH" dirty="0">
              <a:solidFill>
                <a:schemeClr val="tx1"/>
              </a:solidFill>
            </a:endParaRPr>
          </a:p>
        </p:txBody>
      </p:sp>
      <p:pic>
        <p:nvPicPr>
          <p:cNvPr id="5" name="Picture 4">
            <a:extLst>
              <a:ext uri="{FF2B5EF4-FFF2-40B4-BE49-F238E27FC236}">
                <a16:creationId xmlns:a16="http://schemas.microsoft.com/office/drawing/2014/main" id="{D499895E-E870-4F2E-B69F-A5A98A926817}"/>
              </a:ext>
            </a:extLst>
          </p:cNvPr>
          <p:cNvPicPr>
            <a:picLocks noChangeAspect="1"/>
          </p:cNvPicPr>
          <p:nvPr/>
        </p:nvPicPr>
        <p:blipFill>
          <a:blip r:embed="rId4"/>
          <a:stretch>
            <a:fillRect/>
          </a:stretch>
        </p:blipFill>
        <p:spPr>
          <a:xfrm>
            <a:off x="581192" y="2915707"/>
            <a:ext cx="5453971" cy="1317626"/>
          </a:xfrm>
          <a:prstGeom prst="rect">
            <a:avLst/>
          </a:prstGeom>
        </p:spPr>
      </p:pic>
      <p:pic>
        <p:nvPicPr>
          <p:cNvPr id="8" name="Picture 7">
            <a:extLst>
              <a:ext uri="{FF2B5EF4-FFF2-40B4-BE49-F238E27FC236}">
                <a16:creationId xmlns:a16="http://schemas.microsoft.com/office/drawing/2014/main" id="{C6F78F8F-6864-45A0-8949-1D6FDFD861DF}"/>
              </a:ext>
            </a:extLst>
          </p:cNvPr>
          <p:cNvPicPr>
            <a:picLocks noChangeAspect="1"/>
          </p:cNvPicPr>
          <p:nvPr/>
        </p:nvPicPr>
        <p:blipFill>
          <a:blip r:embed="rId5"/>
          <a:stretch>
            <a:fillRect/>
          </a:stretch>
        </p:blipFill>
        <p:spPr>
          <a:xfrm>
            <a:off x="3835400" y="4233333"/>
            <a:ext cx="5665787" cy="1579945"/>
          </a:xfrm>
          <a:prstGeom prst="rect">
            <a:avLst/>
          </a:prstGeom>
        </p:spPr>
      </p:pic>
      <p:sp>
        <p:nvSpPr>
          <p:cNvPr id="11" name="Right Brace 10">
            <a:extLst>
              <a:ext uri="{FF2B5EF4-FFF2-40B4-BE49-F238E27FC236}">
                <a16:creationId xmlns:a16="http://schemas.microsoft.com/office/drawing/2014/main" id="{763924C7-F0A7-4EF9-A01F-B2B6FFB4F06E}"/>
              </a:ext>
            </a:extLst>
          </p:cNvPr>
          <p:cNvSpPr/>
          <p:nvPr/>
        </p:nvSpPr>
        <p:spPr>
          <a:xfrm rot="5400000">
            <a:off x="5750239" y="3619521"/>
            <a:ext cx="609238" cy="4238855"/>
          </a:xfrm>
          <a:prstGeom prst="rightBrace">
            <a:avLst>
              <a:gd name="adj1" fmla="val 8333"/>
              <a:gd name="adj2" fmla="val 5258"/>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3" name="Right Brace 12">
            <a:extLst>
              <a:ext uri="{FF2B5EF4-FFF2-40B4-BE49-F238E27FC236}">
                <a16:creationId xmlns:a16="http://schemas.microsoft.com/office/drawing/2014/main" id="{DEF6E585-8B09-4A22-9D69-18D75A5AA9EC}"/>
              </a:ext>
            </a:extLst>
          </p:cNvPr>
          <p:cNvSpPr/>
          <p:nvPr/>
        </p:nvSpPr>
        <p:spPr>
          <a:xfrm rot="5400000">
            <a:off x="2947100" y="2261302"/>
            <a:ext cx="748091" cy="3839440"/>
          </a:xfrm>
          <a:prstGeom prst="rightBrace">
            <a:avLst>
              <a:gd name="adj1" fmla="val 8333"/>
              <a:gd name="adj2" fmla="val 19592"/>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4" name="TextBox 13">
            <a:extLst>
              <a:ext uri="{FF2B5EF4-FFF2-40B4-BE49-F238E27FC236}">
                <a16:creationId xmlns:a16="http://schemas.microsoft.com/office/drawing/2014/main" id="{8E42B0CE-D809-43E1-A78F-4E45BC5A49E0}"/>
              </a:ext>
            </a:extLst>
          </p:cNvPr>
          <p:cNvSpPr txBox="1"/>
          <p:nvPr/>
        </p:nvSpPr>
        <p:spPr>
          <a:xfrm>
            <a:off x="813516" y="5092032"/>
            <a:ext cx="2691571" cy="369332"/>
          </a:xfrm>
          <a:prstGeom prst="rect">
            <a:avLst/>
          </a:prstGeom>
          <a:noFill/>
        </p:spPr>
        <p:txBody>
          <a:bodyPr wrap="none" rtlCol="0">
            <a:spAutoFit/>
          </a:bodyPr>
          <a:lstStyle/>
          <a:p>
            <a:r>
              <a:rPr lang="en-US" dirty="0"/>
              <a:t>N: Number of </a:t>
            </a:r>
            <a:r>
              <a:rPr lang="en-US" dirty="0" err="1"/>
              <a:t>LoRa</a:t>
            </a:r>
            <a:r>
              <a:rPr lang="en-US" dirty="0"/>
              <a:t> nodes</a:t>
            </a:r>
            <a:endParaRPr lang="th-TH" dirty="0"/>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646331"/>
          </a:xfrm>
          <a:prstGeom prst="rect">
            <a:avLst/>
          </a:prstGeom>
          <a:noFill/>
        </p:spPr>
        <p:txBody>
          <a:bodyPr wrap="square" rtlCol="0">
            <a:spAutoFit/>
          </a:bodyPr>
          <a:lstStyle/>
          <a:p>
            <a:pPr algn="thaiDist"/>
            <a:r>
              <a:rPr lang="en-US" dirty="0"/>
              <a:t>	In the NCP, each </a:t>
            </a:r>
            <a:r>
              <a:rPr lang="en-US" dirty="0" err="1"/>
              <a:t>LoRa</a:t>
            </a:r>
            <a:r>
              <a:rPr lang="en-US" dirty="0"/>
              <a:t> node joins a multi-hop </a:t>
            </a:r>
            <a:r>
              <a:rPr lang="en-US" dirty="0" err="1"/>
              <a:t>LoRa</a:t>
            </a:r>
            <a:r>
              <a:rPr lang="en-US" dirty="0"/>
              <a:t> network with tree topology and is assigned a channel and time slot to transmit or receive a </a:t>
            </a:r>
            <a:r>
              <a:rPr lang="en-US" dirty="0" err="1"/>
              <a:t>LoRa</a:t>
            </a:r>
            <a:r>
              <a:rPr lang="en-US" dirty="0"/>
              <a:t> packet.</a:t>
            </a:r>
          </a:p>
        </p:txBody>
      </p:sp>
    </p:spTree>
    <p:extLst>
      <p:ext uri="{BB962C8B-B14F-4D97-AF65-F5344CB8AC3E}">
        <p14:creationId xmlns:p14="http://schemas.microsoft.com/office/powerpoint/2010/main" val="3982388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Minimized Latency Multi-hop </a:t>
            </a:r>
            <a:r>
              <a:rPr lang="en-US" dirty="0" err="1"/>
              <a:t>LoRa’s</a:t>
            </a:r>
            <a:r>
              <a:rPr lang="en-US" dirty="0"/>
              <a:t> Key Aspects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3365537"/>
          </a:xfrm>
          <a:prstGeom prst="rect">
            <a:avLst/>
          </a:prstGeom>
          <a:noFill/>
        </p:spPr>
        <p:txBody>
          <a:bodyPr wrap="square" rtlCol="0">
            <a:spAutoFit/>
          </a:bodyPr>
          <a:lstStyle/>
          <a:p>
            <a:pPr algn="thaiDist">
              <a:lnSpc>
                <a:spcPct val="150000"/>
              </a:lnSpc>
            </a:pPr>
            <a:r>
              <a:rPr lang="en-US" dirty="0"/>
              <a:t>The minimized latency Multi-hop </a:t>
            </a:r>
            <a:r>
              <a:rPr lang="en-US" dirty="0" err="1"/>
              <a:t>LoRa</a:t>
            </a:r>
            <a:r>
              <a:rPr lang="en-US" dirty="0"/>
              <a:t> protocol has some key features, which are described as follows:</a:t>
            </a:r>
          </a:p>
          <a:p>
            <a:pPr marL="285750" indent="-285750" algn="thaiDist">
              <a:lnSpc>
                <a:spcPct val="150000"/>
              </a:lnSpc>
              <a:buFont typeface="Arial" panose="020B0604020202020204" pitchFamily="34" charset="0"/>
              <a:buChar char="•"/>
            </a:pPr>
            <a:r>
              <a:rPr lang="en-US" b="1" dirty="0"/>
              <a:t>Distributed Aggregation Scheduling: </a:t>
            </a:r>
            <a:r>
              <a:rPr lang="en-US" dirty="0"/>
              <a:t>all the nodes in the network make the schedule without all network topology information; they only know their neighbor nodes’ information.</a:t>
            </a:r>
          </a:p>
          <a:p>
            <a:pPr marL="285750" indent="-285750" algn="thaiDist">
              <a:lnSpc>
                <a:spcPct val="150000"/>
              </a:lnSpc>
              <a:buFont typeface="Arial" panose="020B0604020202020204" pitchFamily="34" charset="0"/>
              <a:buChar char="•"/>
            </a:pPr>
            <a:r>
              <a:rPr lang="en-US" b="1" dirty="0"/>
              <a:t>Parallel Transmissions: </a:t>
            </a:r>
            <a:r>
              <a:rPr lang="en-US" dirty="0"/>
              <a:t>the proposed protocol allows parallel non-conflicting transmission in the network. This approach reduces the latency in the network and minimizes the number of timeslots that are assigned to all the links in the network.</a:t>
            </a:r>
          </a:p>
          <a:p>
            <a:pPr marL="285750" indent="-285750" algn="thaiDist">
              <a:lnSpc>
                <a:spcPct val="150000"/>
              </a:lnSpc>
              <a:buFont typeface="Arial" panose="020B0604020202020204" pitchFamily="34" charset="0"/>
              <a:buChar char="•"/>
            </a:pPr>
            <a:r>
              <a:rPr lang="en-US" b="1" dirty="0"/>
              <a:t>Minimize Packet Size: </a:t>
            </a:r>
            <a:r>
              <a:rPr lang="en-US" dirty="0"/>
              <a:t>in the proposed protocol, based on the choice of parent, the packet sizes at the nodes will be minimized.</a:t>
            </a:r>
          </a:p>
        </p:txBody>
      </p:sp>
    </p:spTree>
    <p:extLst>
      <p:ext uri="{BB962C8B-B14F-4D97-AF65-F5344CB8AC3E}">
        <p14:creationId xmlns:p14="http://schemas.microsoft.com/office/powerpoint/2010/main" val="31444232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9B80AC9-FFD8-4A42-B13A-DBFFA80A6CBD}"/>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165208"/>
          </a:xfrm>
          <a:prstGeom prst="rect">
            <a:avLst/>
          </a:prstGeom>
          <a:noFill/>
        </p:spPr>
        <p:txBody>
          <a:bodyPr wrap="square" rtlCol="0">
            <a:spAutoFit/>
          </a:bodyPr>
          <a:lstStyle/>
          <a:p>
            <a:pPr algn="thaiDist">
              <a:lnSpc>
                <a:spcPct val="150000"/>
              </a:lnSpc>
            </a:pPr>
            <a:r>
              <a:rPr lang="en-US" dirty="0"/>
              <a:t>The sink node first transmits INIT (D, S</a:t>
            </a:r>
            <a:r>
              <a:rPr lang="en-US" baseline="-25000" dirty="0"/>
              <a:t>ID</a:t>
            </a:r>
            <a:r>
              <a:rPr lang="en-US" dirty="0"/>
              <a:t>, Cycle, N).</a:t>
            </a:r>
          </a:p>
          <a:p>
            <a:pPr marL="285750" indent="-285750" algn="thaiDist">
              <a:lnSpc>
                <a:spcPct val="150000"/>
              </a:lnSpc>
              <a:buFont typeface="Arial" panose="020B0604020202020204" pitchFamily="34" charset="0"/>
              <a:buChar char="•"/>
            </a:pPr>
            <a:r>
              <a:rPr lang="en-US" sz="1400" dirty="0"/>
              <a:t>D is the depth of the sender node</a:t>
            </a:r>
          </a:p>
          <a:p>
            <a:pPr marL="285750" indent="-285750" algn="thaiDist">
              <a:lnSpc>
                <a:spcPct val="150000"/>
              </a:lnSpc>
              <a:buFont typeface="Arial" panose="020B0604020202020204" pitchFamily="34" charset="0"/>
              <a:buChar char="•"/>
            </a:pPr>
            <a:r>
              <a:rPr lang="en-US" sz="1400" dirty="0"/>
              <a:t>SID is the node ID of the sender node</a:t>
            </a:r>
          </a:p>
          <a:p>
            <a:pPr marL="285750" indent="-285750" algn="thaiDist">
              <a:lnSpc>
                <a:spcPct val="150000"/>
              </a:lnSpc>
              <a:buFont typeface="Arial" panose="020B0604020202020204" pitchFamily="34" charset="0"/>
              <a:buChar char="•"/>
            </a:pPr>
            <a:r>
              <a:rPr lang="en-US" sz="1400" dirty="0"/>
              <a:t>Cycle is the current cycle number (in which the sender node transmits the INIT packet)</a:t>
            </a:r>
          </a:p>
          <a:p>
            <a:pPr marL="285750" indent="-285750" algn="thaiDist">
              <a:lnSpc>
                <a:spcPct val="150000"/>
              </a:lnSpc>
              <a:buFont typeface="Arial" panose="020B0604020202020204" pitchFamily="34" charset="0"/>
              <a:buChar char="•"/>
            </a:pPr>
            <a:r>
              <a:rPr lang="en-US" sz="1400" dirty="0"/>
              <a:t>N is the number of cycles in the NCP</a:t>
            </a:r>
          </a:p>
          <a:p>
            <a:pPr algn="thaiDist">
              <a:lnSpc>
                <a:spcPct val="150000"/>
              </a:lnSpc>
            </a:pPr>
            <a:r>
              <a:rPr lang="en-US" dirty="0"/>
              <a:t>Each node tries to receive an INIT packet from other nodes.</a:t>
            </a:r>
          </a:p>
        </p:txBody>
      </p:sp>
      <p:sp>
        <p:nvSpPr>
          <p:cNvPr id="13" name="Rectangle 12">
            <a:extLst>
              <a:ext uri="{FF2B5EF4-FFF2-40B4-BE49-F238E27FC236}">
                <a16:creationId xmlns:a16="http://schemas.microsoft.com/office/drawing/2014/main" id="{1B0343FC-2A46-4617-BA50-D3334732691C}"/>
              </a:ext>
            </a:extLst>
          </p:cNvPr>
          <p:cNvSpPr/>
          <p:nvPr/>
        </p:nvSpPr>
        <p:spPr>
          <a:xfrm>
            <a:off x="7715250" y="3883911"/>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sp>
        <p:nvSpPr>
          <p:cNvPr id="15" name="Rectangle 14">
            <a:extLst>
              <a:ext uri="{FF2B5EF4-FFF2-40B4-BE49-F238E27FC236}">
                <a16:creationId xmlns:a16="http://schemas.microsoft.com/office/drawing/2014/main" id="{A27E2728-C741-426C-9EFA-0B524821A8E1}"/>
              </a:ext>
            </a:extLst>
          </p:cNvPr>
          <p:cNvSpPr/>
          <p:nvPr/>
        </p:nvSpPr>
        <p:spPr>
          <a:xfrm>
            <a:off x="10002043" y="3875599"/>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cxnSp>
        <p:nvCxnSpPr>
          <p:cNvPr id="17" name="Straight Arrow Connector 16">
            <a:extLst>
              <a:ext uri="{FF2B5EF4-FFF2-40B4-BE49-F238E27FC236}">
                <a16:creationId xmlns:a16="http://schemas.microsoft.com/office/drawing/2014/main" id="{6EC37339-4CAE-4A9E-88DF-0FC238944D75}"/>
              </a:ext>
            </a:extLst>
          </p:cNvPr>
          <p:cNvCxnSpPr>
            <a:cxnSpLocks/>
          </p:cNvCxnSpPr>
          <p:nvPr/>
        </p:nvCxnSpPr>
        <p:spPr>
          <a:xfrm flipH="1">
            <a:off x="8148637" y="3838105"/>
            <a:ext cx="878284" cy="665537"/>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cxnSp>
        <p:nvCxnSpPr>
          <p:cNvPr id="21" name="Straight Arrow Connector 20">
            <a:extLst>
              <a:ext uri="{FF2B5EF4-FFF2-40B4-BE49-F238E27FC236}">
                <a16:creationId xmlns:a16="http://schemas.microsoft.com/office/drawing/2014/main" id="{C6EB78CE-8E3F-414A-A4DA-A8A13B9969BA}"/>
              </a:ext>
            </a:extLst>
          </p:cNvPr>
          <p:cNvCxnSpPr>
            <a:cxnSpLocks/>
          </p:cNvCxnSpPr>
          <p:nvPr/>
        </p:nvCxnSpPr>
        <p:spPr>
          <a:xfrm>
            <a:off x="9621361" y="3838105"/>
            <a:ext cx="761364" cy="619731"/>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pic>
        <p:nvPicPr>
          <p:cNvPr id="27" name="Picture 26">
            <a:extLst>
              <a:ext uri="{FF2B5EF4-FFF2-40B4-BE49-F238E27FC236}">
                <a16:creationId xmlns:a16="http://schemas.microsoft.com/office/drawing/2014/main" id="{C42A9859-0713-4DF9-9CB0-A7A19EFFEBAF}"/>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28" name="Rectangle 27">
            <a:extLst>
              <a:ext uri="{FF2B5EF4-FFF2-40B4-BE49-F238E27FC236}">
                <a16:creationId xmlns:a16="http://schemas.microsoft.com/office/drawing/2014/main" id="{F62C775E-9D53-4E70-9C14-E40E946FEA26}"/>
              </a:ext>
            </a:extLst>
          </p:cNvPr>
          <p:cNvSpPr/>
          <p:nvPr/>
        </p:nvSpPr>
        <p:spPr>
          <a:xfrm>
            <a:off x="108585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Tree>
    <p:extLst>
      <p:ext uri="{BB962C8B-B14F-4D97-AF65-F5344CB8AC3E}">
        <p14:creationId xmlns:p14="http://schemas.microsoft.com/office/powerpoint/2010/main" val="5587448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After receiving an INIT packet, the node adds the sender node to the parent list and chooses the optimal parent from the parent list, as explained in the next sub-section.</a:t>
            </a:r>
          </a:p>
        </p:txBody>
      </p:sp>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600" dirty="0"/>
              <a:t>INIT</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tailEnd type="triangle"/>
          </a:ln>
        </p:spPr>
        <p:style>
          <a:lnRef idx="1">
            <a:schemeClr val="accent5"/>
          </a:lnRef>
          <a:fillRef idx="0">
            <a:schemeClr val="accent5"/>
          </a:fillRef>
          <a:effectRef idx="0">
            <a:schemeClr val="accent5"/>
          </a:effectRef>
          <a:fontRef idx="minor">
            <a:schemeClr val="tx1"/>
          </a:fontRef>
        </p:style>
      </p:cxnSp>
      <p:pic>
        <p:nvPicPr>
          <p:cNvPr id="19" name="Picture 18">
            <a:extLst>
              <a:ext uri="{FF2B5EF4-FFF2-40B4-BE49-F238E27FC236}">
                <a16:creationId xmlns:a16="http://schemas.microsoft.com/office/drawing/2014/main" id="{E63B9DD6-438C-4E4B-BD14-C2EDF8282C2E}"/>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23" name="Rectangle 22">
            <a:extLst>
              <a:ext uri="{FF2B5EF4-FFF2-40B4-BE49-F238E27FC236}">
                <a16:creationId xmlns:a16="http://schemas.microsoft.com/office/drawing/2014/main" id="{5062AEAB-E8CA-4FCB-B368-C8F9F9FB9D62}"/>
              </a:ext>
            </a:extLst>
          </p:cNvPr>
          <p:cNvSpPr/>
          <p:nvPr/>
        </p:nvSpPr>
        <p:spPr>
          <a:xfrm>
            <a:off x="108585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graphicFrame>
        <p:nvGraphicFramePr>
          <p:cNvPr id="11" name="Table 18">
            <a:extLst>
              <a:ext uri="{FF2B5EF4-FFF2-40B4-BE49-F238E27FC236}">
                <a16:creationId xmlns:a16="http://schemas.microsoft.com/office/drawing/2014/main" id="{E08B5EDE-575B-4767-9BAC-B6835CAD3E9A}"/>
              </a:ext>
            </a:extLst>
          </p:cNvPr>
          <p:cNvGraphicFramePr>
            <a:graphicFrameLocks noGrp="1"/>
          </p:cNvGraphicFramePr>
          <p:nvPr>
            <p:extLst>
              <p:ext uri="{D42A27DB-BD31-4B8C-83A1-F6EECF244321}">
                <p14:modId xmlns:p14="http://schemas.microsoft.com/office/powerpoint/2010/main" val="214962849"/>
              </p:ext>
            </p:extLst>
          </p:nvPr>
        </p:nvGraphicFramePr>
        <p:xfrm>
          <a:off x="6483181" y="4516444"/>
          <a:ext cx="1198455" cy="741680"/>
        </p:xfrm>
        <a:graphic>
          <a:graphicData uri="http://schemas.openxmlformats.org/drawingml/2006/table">
            <a:tbl>
              <a:tblPr firstRow="1" bandRow="1">
                <a:tableStyleId>{7DF18680-E054-41AD-8BC1-D1AEF772440D}</a:tableStyleId>
              </a:tblPr>
              <a:tblGrid>
                <a:gridCol w="1198455">
                  <a:extLst>
                    <a:ext uri="{9D8B030D-6E8A-4147-A177-3AD203B41FA5}">
                      <a16:colId xmlns:a16="http://schemas.microsoft.com/office/drawing/2014/main" val="3240980490"/>
                    </a:ext>
                  </a:extLst>
                </a:gridCol>
              </a:tblGrid>
              <a:tr h="370840">
                <a:tc>
                  <a:txBody>
                    <a:bodyPr/>
                    <a:lstStyle/>
                    <a:p>
                      <a:pPr algn="ctr"/>
                      <a:r>
                        <a:rPr lang="en-US" dirty="0"/>
                        <a:t>Parents’ A</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S</a:t>
                      </a:r>
                      <a:endParaRPr lang="th-TH" dirty="0"/>
                    </a:p>
                  </a:txBody>
                  <a:tcPr anchor="ctr"/>
                </a:tc>
                <a:extLst>
                  <a:ext uri="{0D108BD9-81ED-4DB2-BD59-A6C34878D82A}">
                    <a16:rowId xmlns:a16="http://schemas.microsoft.com/office/drawing/2014/main" val="602709536"/>
                  </a:ext>
                </a:extLst>
              </a:tr>
            </a:tbl>
          </a:graphicData>
        </a:graphic>
      </p:graphicFrame>
    </p:spTree>
    <p:extLst>
      <p:ext uri="{BB962C8B-B14F-4D97-AF65-F5344CB8AC3E}">
        <p14:creationId xmlns:p14="http://schemas.microsoft.com/office/powerpoint/2010/main" val="791361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2C15F3-A34B-406B-ABE8-A8DB74850650}"/>
              </a:ext>
            </a:extLst>
          </p:cNvPr>
          <p:cNvGrpSpPr/>
          <p:nvPr/>
        </p:nvGrpSpPr>
        <p:grpSpPr>
          <a:xfrm>
            <a:off x="9238488" y="3943350"/>
            <a:ext cx="2953512" cy="2914650"/>
            <a:chOff x="7486650" y="3308919"/>
            <a:chExt cx="3596402" cy="3549081"/>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1400" dirty="0"/>
                <a:t>JOIN</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solidFill>
                <a:schemeClr val="accent3"/>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842043"/>
          </a:xfrm>
          <a:prstGeom prst="rect">
            <a:avLst/>
          </a:prstGeom>
          <a:noFill/>
        </p:spPr>
        <p:txBody>
          <a:bodyPr wrap="square" rtlCol="0">
            <a:spAutoFit/>
          </a:bodyPr>
          <a:lstStyle/>
          <a:p>
            <a:pPr algn="thaiDist">
              <a:lnSpc>
                <a:spcPct val="150000"/>
              </a:lnSpc>
            </a:pPr>
            <a:r>
              <a:rPr lang="en-US" dirty="0"/>
              <a:t>Then transmits a JOIN (D, S</a:t>
            </a:r>
            <a:r>
              <a:rPr lang="en-US" baseline="-25000" dirty="0"/>
              <a:t>ID</a:t>
            </a:r>
            <a:r>
              <a:rPr lang="en-US" dirty="0"/>
              <a:t>, R</a:t>
            </a:r>
            <a:r>
              <a:rPr lang="en-US" baseline="-25000" dirty="0"/>
              <a:t>ID</a:t>
            </a:r>
            <a:r>
              <a:rPr lang="en-US" dirty="0"/>
              <a:t>, U</a:t>
            </a:r>
            <a:r>
              <a:rPr lang="en-US" baseline="-25000" dirty="0"/>
              <a:t>C</a:t>
            </a:r>
            <a:r>
              <a:rPr lang="en-US" dirty="0"/>
              <a:t>) packet in the second timeslot (TS</a:t>
            </a:r>
            <a:r>
              <a:rPr lang="en-US" baseline="-25000" dirty="0"/>
              <a:t>2</a:t>
            </a:r>
            <a:r>
              <a:rPr lang="en-US" dirty="0"/>
              <a:t>) of the current cycle. </a:t>
            </a:r>
          </a:p>
          <a:p>
            <a:pPr marL="285750" indent="-285750" algn="thaiDist">
              <a:lnSpc>
                <a:spcPct val="150000"/>
              </a:lnSpc>
              <a:buFont typeface="Arial" panose="020B0604020202020204" pitchFamily="34" charset="0"/>
              <a:buChar char="•"/>
            </a:pPr>
            <a:r>
              <a:rPr lang="en-US" sz="1400" dirty="0"/>
              <a:t>S</a:t>
            </a:r>
            <a:r>
              <a:rPr lang="en-US" sz="1400" baseline="-25000" dirty="0"/>
              <a:t>ID</a:t>
            </a:r>
            <a:r>
              <a:rPr lang="en-US" sz="1400" dirty="0"/>
              <a:t> and R</a:t>
            </a:r>
            <a:r>
              <a:rPr lang="en-US" sz="1400" baseline="-25000" dirty="0"/>
              <a:t>ID</a:t>
            </a:r>
            <a:r>
              <a:rPr lang="en-US" sz="1400" dirty="0"/>
              <a:t> are node IDs of the sender and receiver.</a:t>
            </a:r>
          </a:p>
          <a:p>
            <a:pPr marL="285750" indent="-285750" algn="thaiDist">
              <a:lnSpc>
                <a:spcPct val="150000"/>
              </a:lnSpc>
              <a:buFont typeface="Arial" panose="020B0604020202020204" pitchFamily="34" charset="0"/>
              <a:buChar char="•"/>
            </a:pPr>
            <a:r>
              <a:rPr lang="en-US" sz="1400" dirty="0"/>
              <a:t>U</a:t>
            </a:r>
            <a:r>
              <a:rPr lang="en-US" sz="1400" baseline="-25000" dirty="0"/>
              <a:t>C</a:t>
            </a:r>
            <a:r>
              <a:rPr lang="en-US" sz="1400" dirty="0"/>
              <a:t> is a cell assignment list (channels and timeslots) of its neighbors. </a:t>
            </a:r>
          </a:p>
          <a:p>
            <a:pPr marL="285750" indent="-285750" algn="thaiDist">
              <a:lnSpc>
                <a:spcPct val="150000"/>
              </a:lnSpc>
              <a:buFont typeface="Arial" panose="020B0604020202020204" pitchFamily="34" charset="0"/>
              <a:buChar char="•"/>
            </a:pPr>
            <a:r>
              <a:rPr lang="en-US" sz="1400" dirty="0"/>
              <a:t>U</a:t>
            </a:r>
            <a:r>
              <a:rPr lang="en-US" sz="1400" baseline="-25000" dirty="0"/>
              <a:t>C</a:t>
            </a:r>
            <a:r>
              <a:rPr lang="en-US" sz="1400" dirty="0"/>
              <a:t> is used by the receiver to choose a timeslot and a channel which is collision-free with its neighbors. </a:t>
            </a:r>
          </a:p>
          <a:p>
            <a:pPr algn="thaiDist">
              <a:lnSpc>
                <a:spcPct val="150000"/>
              </a:lnSpc>
            </a:pPr>
            <a:r>
              <a:rPr lang="en-US" dirty="0"/>
              <a:t>In the NCP, each node collects U</a:t>
            </a:r>
            <a:r>
              <a:rPr lang="en-US" baseline="-25000" dirty="0"/>
              <a:t>C</a:t>
            </a:r>
            <a:r>
              <a:rPr lang="en-US" dirty="0"/>
              <a:t> information by overhearing JOIN, CON and ADV packets.</a:t>
            </a:r>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2048385"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Tree>
    <p:extLst>
      <p:ext uri="{BB962C8B-B14F-4D97-AF65-F5344CB8AC3E}">
        <p14:creationId xmlns:p14="http://schemas.microsoft.com/office/powerpoint/2010/main" val="39335208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703543"/>
          </a:xfrm>
          <a:prstGeom prst="rect">
            <a:avLst/>
          </a:prstGeom>
          <a:noFill/>
        </p:spPr>
        <p:txBody>
          <a:bodyPr wrap="square" rtlCol="0">
            <a:spAutoFit/>
          </a:bodyPr>
          <a:lstStyle/>
          <a:p>
            <a:pPr algn="thaiDist">
              <a:lnSpc>
                <a:spcPct val="150000"/>
              </a:lnSpc>
            </a:pPr>
            <a:r>
              <a:rPr lang="en-US" dirty="0"/>
              <a:t>After receiving INIT, a node transmits the JOIN packet in TS</a:t>
            </a:r>
            <a:r>
              <a:rPr lang="en-US" baseline="-25000" dirty="0"/>
              <a:t>2</a:t>
            </a:r>
            <a:r>
              <a:rPr lang="en-US" dirty="0"/>
              <a:t>, but JOIN packets can collide, as shown in Figure 4a. We propose a packet collision–avoidance mechanism, as explained in the next sub-section, to avoid this. Collisions can happen between JOIN packets and INIT packets, as shown in Figure 4b. If a node loses contention, it tries to retransmit this packet in the next cycle.</a:t>
            </a:r>
          </a:p>
        </p:txBody>
      </p:sp>
      <p:pic>
        <p:nvPicPr>
          <p:cNvPr id="10" name="Picture 9">
            <a:extLst>
              <a:ext uri="{FF2B5EF4-FFF2-40B4-BE49-F238E27FC236}">
                <a16:creationId xmlns:a16="http://schemas.microsoft.com/office/drawing/2014/main" id="{A304ACEF-A437-4958-869D-8524CDF140A7}"/>
              </a:ext>
            </a:extLst>
          </p:cNvPr>
          <p:cNvPicPr>
            <a:picLocks noChangeAspect="1"/>
          </p:cNvPicPr>
          <p:nvPr/>
        </p:nvPicPr>
        <p:blipFill>
          <a:blip r:embed="rId3"/>
          <a:stretch>
            <a:fillRect/>
          </a:stretch>
        </p:blipFill>
        <p:spPr>
          <a:xfrm>
            <a:off x="2947987" y="4006751"/>
            <a:ext cx="6296025" cy="2481061"/>
          </a:xfrm>
          <a:prstGeom prst="rect">
            <a:avLst/>
          </a:prstGeom>
        </p:spPr>
      </p:pic>
    </p:spTree>
    <p:extLst>
      <p:ext uri="{BB962C8B-B14F-4D97-AF65-F5344CB8AC3E}">
        <p14:creationId xmlns:p14="http://schemas.microsoft.com/office/powerpoint/2010/main" val="3460931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422C15F3-A34B-406B-ABE8-A8DB74850650}"/>
              </a:ext>
            </a:extLst>
          </p:cNvPr>
          <p:cNvGrpSpPr/>
          <p:nvPr/>
        </p:nvGrpSpPr>
        <p:grpSpPr>
          <a:xfrm>
            <a:off x="9238488" y="3943350"/>
            <a:ext cx="2953512" cy="2914650"/>
            <a:chOff x="7486650" y="3308919"/>
            <a:chExt cx="3596402" cy="3549081"/>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7486650" y="3308919"/>
              <a:ext cx="3596402" cy="3549081"/>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7715250" y="3883911"/>
              <a:ext cx="866775" cy="295275"/>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CON</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8148637" y="3838105"/>
              <a:ext cx="878284" cy="665537"/>
            </a:xfrm>
            <a:prstGeom prst="straightConnector1">
              <a:avLst/>
            </a:prstGeom>
            <a:ln w="28575">
              <a:solidFill>
                <a:srgbClr val="0070C0"/>
              </a:solidFill>
              <a:headEnd type="none" w="med" len="med"/>
              <a:tailEnd type="triangle" w="med" len="med"/>
            </a:ln>
          </p:spPr>
          <p:style>
            <a:lnRef idx="1">
              <a:schemeClr val="accent5"/>
            </a:lnRef>
            <a:fillRef idx="0">
              <a:schemeClr val="accent5"/>
            </a:fillRef>
            <a:effectRef idx="0">
              <a:schemeClr val="accent5"/>
            </a:effectRef>
            <a:fontRef idx="minor">
              <a:schemeClr val="tx1"/>
            </a:fontRef>
          </p:style>
        </p:cxnSp>
      </p:grp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078518"/>
          </a:xfrm>
          <a:prstGeom prst="rect">
            <a:avLst/>
          </a:prstGeom>
          <a:noFill/>
        </p:spPr>
        <p:txBody>
          <a:bodyPr wrap="square" rtlCol="0">
            <a:spAutoFit/>
          </a:bodyPr>
          <a:lstStyle/>
          <a:p>
            <a:pPr algn="thaiDist">
              <a:lnSpc>
                <a:spcPct val="150000"/>
              </a:lnSpc>
            </a:pPr>
            <a:r>
              <a:rPr lang="en-US" dirty="0"/>
              <a:t>After transmitting the INIT packet, if a node receives a JOIN packet from a node, this node chooses a timeslot and a collision-free channel with the U</a:t>
            </a:r>
            <a:r>
              <a:rPr lang="en-US" baseline="-25000" dirty="0"/>
              <a:t>C</a:t>
            </a:r>
            <a:r>
              <a:rPr lang="en-US" dirty="0"/>
              <a:t>, as explained in the next sub-section.</a:t>
            </a:r>
          </a:p>
          <a:p>
            <a:pPr algn="thaiDist">
              <a:lnSpc>
                <a:spcPct val="150000"/>
              </a:lnSpc>
            </a:pPr>
            <a:r>
              <a:rPr lang="en-US" dirty="0"/>
              <a:t>Then transmits a CON packet to the sender of the JOIN packet in the third timeslot (TS</a:t>
            </a:r>
            <a:r>
              <a:rPr lang="en-US" baseline="-25000" dirty="0"/>
              <a:t>3</a:t>
            </a:r>
            <a:r>
              <a:rPr lang="en-US" dirty="0"/>
              <a:t>) of the current cycle. The format of the CON packet is CON (D, S</a:t>
            </a:r>
            <a:r>
              <a:rPr lang="en-US" baseline="-25000" dirty="0"/>
              <a:t>ID</a:t>
            </a:r>
            <a:r>
              <a:rPr lang="en-US" dirty="0"/>
              <a:t>, R</a:t>
            </a:r>
            <a:r>
              <a:rPr lang="en-US" baseline="-25000" dirty="0"/>
              <a:t>ID</a:t>
            </a:r>
            <a:r>
              <a:rPr lang="en-US" dirty="0"/>
              <a:t>, Ts, Ch).</a:t>
            </a:r>
          </a:p>
          <a:p>
            <a:pPr algn="thaiDist">
              <a:lnSpc>
                <a:spcPct val="150000"/>
              </a:lnSpc>
            </a:pPr>
            <a:r>
              <a:rPr lang="en-US" sz="1400" dirty="0"/>
              <a:t>Ts and Ch indicate the assigned cell (timeslot, channel) for the receiver node to communicate with the sender node.</a:t>
            </a:r>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3000885"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graphicFrame>
        <p:nvGraphicFramePr>
          <p:cNvPr id="11" name="Table 18">
            <a:extLst>
              <a:ext uri="{FF2B5EF4-FFF2-40B4-BE49-F238E27FC236}">
                <a16:creationId xmlns:a16="http://schemas.microsoft.com/office/drawing/2014/main" id="{2B23CC5B-51E4-4081-964E-625AB354D77B}"/>
              </a:ext>
            </a:extLst>
          </p:cNvPr>
          <p:cNvGraphicFramePr>
            <a:graphicFrameLocks noGrp="1"/>
          </p:cNvGraphicFramePr>
          <p:nvPr>
            <p:extLst>
              <p:ext uri="{D42A27DB-BD31-4B8C-83A1-F6EECF244321}">
                <p14:modId xmlns:p14="http://schemas.microsoft.com/office/powerpoint/2010/main" val="156647734"/>
              </p:ext>
            </p:extLst>
          </p:nvPr>
        </p:nvGraphicFramePr>
        <p:xfrm>
          <a:off x="8152597" y="4942795"/>
          <a:ext cx="1198455" cy="741680"/>
        </p:xfrm>
        <a:graphic>
          <a:graphicData uri="http://schemas.openxmlformats.org/drawingml/2006/table">
            <a:tbl>
              <a:tblPr firstRow="1" bandRow="1">
                <a:tableStyleId>{7DF18680-E054-41AD-8BC1-D1AEF772440D}</a:tableStyleId>
              </a:tblPr>
              <a:tblGrid>
                <a:gridCol w="1198455">
                  <a:extLst>
                    <a:ext uri="{9D8B030D-6E8A-4147-A177-3AD203B41FA5}">
                      <a16:colId xmlns:a16="http://schemas.microsoft.com/office/drawing/2014/main" val="3240980490"/>
                    </a:ext>
                  </a:extLst>
                </a:gridCol>
              </a:tblGrid>
              <a:tr h="370840">
                <a:tc>
                  <a:txBody>
                    <a:bodyPr/>
                    <a:lstStyle/>
                    <a:p>
                      <a:pPr algn="ctr"/>
                      <a:r>
                        <a:rPr lang="en-US" dirty="0"/>
                        <a:t>Parents’ A</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S</a:t>
                      </a:r>
                      <a:endParaRPr lang="th-TH" dirty="0"/>
                    </a:p>
                  </a:txBody>
                  <a:tcPr anchor="ctr"/>
                </a:tc>
                <a:extLst>
                  <a:ext uri="{0D108BD9-81ED-4DB2-BD59-A6C34878D82A}">
                    <a16:rowId xmlns:a16="http://schemas.microsoft.com/office/drawing/2014/main" val="602709536"/>
                  </a:ext>
                </a:extLst>
              </a:tr>
            </a:tbl>
          </a:graphicData>
        </a:graphic>
      </p:graphicFrame>
      <p:graphicFrame>
        <p:nvGraphicFramePr>
          <p:cNvPr id="13" name="Table 18">
            <a:extLst>
              <a:ext uri="{FF2B5EF4-FFF2-40B4-BE49-F238E27FC236}">
                <a16:creationId xmlns:a16="http://schemas.microsoft.com/office/drawing/2014/main" id="{8594C8CB-8507-4EA9-ABA3-EA270F5E1E91}"/>
              </a:ext>
            </a:extLst>
          </p:cNvPr>
          <p:cNvGraphicFramePr>
            <a:graphicFrameLocks noGrp="1"/>
          </p:cNvGraphicFramePr>
          <p:nvPr>
            <p:extLst>
              <p:ext uri="{D42A27DB-BD31-4B8C-83A1-F6EECF244321}">
                <p14:modId xmlns:p14="http://schemas.microsoft.com/office/powerpoint/2010/main" val="4095938988"/>
              </p:ext>
            </p:extLst>
          </p:nvPr>
        </p:nvGraphicFramePr>
        <p:xfrm>
          <a:off x="11003256" y="3465708"/>
          <a:ext cx="1114950" cy="741680"/>
        </p:xfrm>
        <a:graphic>
          <a:graphicData uri="http://schemas.openxmlformats.org/drawingml/2006/table">
            <a:tbl>
              <a:tblPr firstRow="1" bandRow="1">
                <a:tableStyleId>{7DF18680-E054-41AD-8BC1-D1AEF772440D}</a:tableStyleId>
              </a:tblPr>
              <a:tblGrid>
                <a:gridCol w="1114950">
                  <a:extLst>
                    <a:ext uri="{9D8B030D-6E8A-4147-A177-3AD203B41FA5}">
                      <a16:colId xmlns:a16="http://schemas.microsoft.com/office/drawing/2014/main" val="3240980490"/>
                    </a:ext>
                  </a:extLst>
                </a:gridCol>
              </a:tblGrid>
              <a:tr h="370840">
                <a:tc>
                  <a:txBody>
                    <a:bodyPr/>
                    <a:lstStyle/>
                    <a:p>
                      <a:pPr algn="ctr"/>
                      <a:r>
                        <a:rPr lang="en-US" dirty="0"/>
                        <a:t>Childs’ s</a:t>
                      </a:r>
                      <a:endParaRPr lang="th-TH" dirty="0"/>
                    </a:p>
                  </a:txBody>
                  <a:tcPr anchor="ctr"/>
                </a:tc>
                <a:extLst>
                  <a:ext uri="{0D108BD9-81ED-4DB2-BD59-A6C34878D82A}">
                    <a16:rowId xmlns:a16="http://schemas.microsoft.com/office/drawing/2014/main" val="2574712896"/>
                  </a:ext>
                </a:extLst>
              </a:tr>
              <a:tr h="370840">
                <a:tc>
                  <a:txBody>
                    <a:bodyPr/>
                    <a:lstStyle/>
                    <a:p>
                      <a:pPr algn="ctr"/>
                      <a:r>
                        <a:rPr lang="en-US" dirty="0"/>
                        <a:t>A</a:t>
                      </a:r>
                      <a:endParaRPr lang="th-TH" dirty="0"/>
                    </a:p>
                  </a:txBody>
                  <a:tcPr anchor="ctr"/>
                </a:tc>
                <a:extLst>
                  <a:ext uri="{0D108BD9-81ED-4DB2-BD59-A6C34878D82A}">
                    <a16:rowId xmlns:a16="http://schemas.microsoft.com/office/drawing/2014/main" val="602709536"/>
                  </a:ext>
                </a:extLst>
              </a:tr>
            </a:tbl>
          </a:graphicData>
        </a:graphic>
      </p:graphicFrame>
    </p:spTree>
    <p:extLst>
      <p:ext uri="{BB962C8B-B14F-4D97-AF65-F5344CB8AC3E}">
        <p14:creationId xmlns:p14="http://schemas.microsoft.com/office/powerpoint/2010/main" val="15900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44C926-0C6D-4407-831C-E9B90C7F5E3A}"/>
              </a:ext>
            </a:extLst>
          </p:cNvPr>
          <p:cNvPicPr>
            <a:picLocks noChangeAspect="1"/>
          </p:cNvPicPr>
          <p:nvPr/>
        </p:nvPicPr>
        <p:blipFill>
          <a:blip r:embed="rId3"/>
          <a:stretch>
            <a:fillRect/>
          </a:stretch>
        </p:blipFill>
        <p:spPr>
          <a:xfrm>
            <a:off x="9238488" y="3943350"/>
            <a:ext cx="2953512" cy="2914650"/>
          </a:xfrm>
          <a:prstGeom prst="rect">
            <a:avLst/>
          </a:prstGeom>
        </p:spPr>
      </p:pic>
      <p:sp>
        <p:nvSpPr>
          <p:cNvPr id="4" name="Rectangle 3">
            <a:extLst>
              <a:ext uri="{FF2B5EF4-FFF2-40B4-BE49-F238E27FC236}">
                <a16:creationId xmlns:a16="http://schemas.microsoft.com/office/drawing/2014/main" id="{63EDFEC2-895D-4BAD-9922-EA7323D13B7B}"/>
              </a:ext>
            </a:extLst>
          </p:cNvPr>
          <p:cNvSpPr/>
          <p:nvPr/>
        </p:nvSpPr>
        <p:spPr>
          <a:xfrm>
            <a:off x="9426224" y="4415557"/>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cxnSp>
        <p:nvCxnSpPr>
          <p:cNvPr id="7" name="Straight Arrow Connector 6">
            <a:extLst>
              <a:ext uri="{FF2B5EF4-FFF2-40B4-BE49-F238E27FC236}">
                <a16:creationId xmlns:a16="http://schemas.microsoft.com/office/drawing/2014/main" id="{F70890EE-474A-439F-8DD4-DCBA11D02A34}"/>
              </a:ext>
            </a:extLst>
          </p:cNvPr>
          <p:cNvCxnSpPr>
            <a:cxnSpLocks/>
          </p:cNvCxnSpPr>
          <p:nvPr/>
        </p:nvCxnSpPr>
        <p:spPr>
          <a:xfrm flipH="1">
            <a:off x="9782139" y="4377939"/>
            <a:ext cx="721283" cy="546566"/>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Network Construction Period (NCP)</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If the child node receives a CON packet from the parent node, it broadcasts an ADV packet, formatted as ADV (D, S</a:t>
            </a:r>
            <a:r>
              <a:rPr lang="en-US" baseline="-25000" dirty="0"/>
              <a:t>ID</a:t>
            </a:r>
            <a:r>
              <a:rPr lang="en-US" dirty="0"/>
              <a:t>, R</a:t>
            </a:r>
            <a:r>
              <a:rPr lang="en-US" baseline="-25000" dirty="0"/>
              <a:t>ID</a:t>
            </a:r>
            <a:r>
              <a:rPr lang="en-US" dirty="0"/>
              <a:t>, Ts, Ch), at timeslot TS</a:t>
            </a:r>
            <a:r>
              <a:rPr lang="en-US" baseline="-25000" dirty="0"/>
              <a:t>4</a:t>
            </a:r>
            <a:r>
              <a:rPr lang="en-US" dirty="0"/>
              <a:t> to announce its cell assignment to its neighbor nodes.</a:t>
            </a:r>
            <a:endParaRPr lang="en-US" sz="1400" dirty="0"/>
          </a:p>
        </p:txBody>
      </p:sp>
      <p:pic>
        <p:nvPicPr>
          <p:cNvPr id="5" name="Picture 4">
            <a:extLst>
              <a:ext uri="{FF2B5EF4-FFF2-40B4-BE49-F238E27FC236}">
                <a16:creationId xmlns:a16="http://schemas.microsoft.com/office/drawing/2014/main" id="{B295170D-CB41-4A4A-9ABE-760453AB52E0}"/>
              </a:ext>
            </a:extLst>
          </p:cNvPr>
          <p:cNvPicPr>
            <a:picLocks noChangeAspect="1"/>
          </p:cNvPicPr>
          <p:nvPr/>
        </p:nvPicPr>
        <p:blipFill>
          <a:blip r:embed="rId4"/>
          <a:stretch>
            <a:fillRect/>
          </a:stretch>
        </p:blipFill>
        <p:spPr>
          <a:xfrm>
            <a:off x="254850" y="5258124"/>
            <a:ext cx="5453971" cy="1317626"/>
          </a:xfrm>
          <a:prstGeom prst="rect">
            <a:avLst/>
          </a:prstGeom>
        </p:spPr>
      </p:pic>
      <p:sp>
        <p:nvSpPr>
          <p:cNvPr id="12" name="Rectangle 11">
            <a:extLst>
              <a:ext uri="{FF2B5EF4-FFF2-40B4-BE49-F238E27FC236}">
                <a16:creationId xmlns:a16="http://schemas.microsoft.com/office/drawing/2014/main" id="{CC0C02DD-82DC-4C4E-B5AA-88853CDCCECD}"/>
              </a:ext>
            </a:extLst>
          </p:cNvPr>
          <p:cNvSpPr/>
          <p:nvPr/>
        </p:nvSpPr>
        <p:spPr>
          <a:xfrm>
            <a:off x="3962910" y="5572125"/>
            <a:ext cx="952500" cy="50482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th-TH" dirty="0"/>
          </a:p>
        </p:txBody>
      </p:sp>
      <p:sp>
        <p:nvSpPr>
          <p:cNvPr id="8" name="Rectangle 7">
            <a:extLst>
              <a:ext uri="{FF2B5EF4-FFF2-40B4-BE49-F238E27FC236}">
                <a16:creationId xmlns:a16="http://schemas.microsoft.com/office/drawing/2014/main" id="{73C8FF8A-3432-40D7-8671-AF08A6E5CF39}"/>
              </a:ext>
            </a:extLst>
          </p:cNvPr>
          <p:cNvSpPr/>
          <p:nvPr/>
        </p:nvSpPr>
        <p:spPr>
          <a:xfrm>
            <a:off x="10454926" y="4786864"/>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sp>
        <p:nvSpPr>
          <p:cNvPr id="11" name="Rectangle 10">
            <a:extLst>
              <a:ext uri="{FF2B5EF4-FFF2-40B4-BE49-F238E27FC236}">
                <a16:creationId xmlns:a16="http://schemas.microsoft.com/office/drawing/2014/main" id="{30048819-2539-4C72-BE35-1202536C346A}"/>
              </a:ext>
            </a:extLst>
          </p:cNvPr>
          <p:cNvSpPr/>
          <p:nvPr/>
        </p:nvSpPr>
        <p:spPr>
          <a:xfrm>
            <a:off x="8787630" y="5644159"/>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sp>
        <p:nvSpPr>
          <p:cNvPr id="15" name="Rectangle 14">
            <a:extLst>
              <a:ext uri="{FF2B5EF4-FFF2-40B4-BE49-F238E27FC236}">
                <a16:creationId xmlns:a16="http://schemas.microsoft.com/office/drawing/2014/main" id="{7C2E3960-7678-4C6B-9FEB-CE72EC3CA404}"/>
              </a:ext>
            </a:extLst>
          </p:cNvPr>
          <p:cNvSpPr/>
          <p:nvPr/>
        </p:nvSpPr>
        <p:spPr>
          <a:xfrm>
            <a:off x="10503422" y="5207647"/>
            <a:ext cx="711831" cy="242492"/>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ADV</a:t>
            </a:r>
            <a:endParaRPr lang="th-TH" sz="1600" dirty="0"/>
          </a:p>
        </p:txBody>
      </p:sp>
      <p:cxnSp>
        <p:nvCxnSpPr>
          <p:cNvPr id="17" name="Straight Arrow Connector 16">
            <a:extLst>
              <a:ext uri="{FF2B5EF4-FFF2-40B4-BE49-F238E27FC236}">
                <a16:creationId xmlns:a16="http://schemas.microsoft.com/office/drawing/2014/main" id="{7440CD19-0CE3-4C82-ADC2-A619096F5649}"/>
              </a:ext>
            </a:extLst>
          </p:cNvPr>
          <p:cNvCxnSpPr>
            <a:cxnSpLocks/>
          </p:cNvCxnSpPr>
          <p:nvPr/>
        </p:nvCxnSpPr>
        <p:spPr>
          <a:xfrm flipH="1" flipV="1">
            <a:off x="9934540" y="5076905"/>
            <a:ext cx="1636628" cy="4274"/>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20" name="Straight Arrow Connector 19">
            <a:extLst>
              <a:ext uri="{FF2B5EF4-FFF2-40B4-BE49-F238E27FC236}">
                <a16:creationId xmlns:a16="http://schemas.microsoft.com/office/drawing/2014/main" id="{80C7E2C2-7B9F-4273-ABE0-892FF758E028}"/>
              </a:ext>
            </a:extLst>
          </p:cNvPr>
          <p:cNvCxnSpPr>
            <a:cxnSpLocks/>
          </p:cNvCxnSpPr>
          <p:nvPr/>
        </p:nvCxnSpPr>
        <p:spPr>
          <a:xfrm flipH="1" flipV="1">
            <a:off x="9923805" y="5268668"/>
            <a:ext cx="719111" cy="287240"/>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cxnSp>
        <p:nvCxnSpPr>
          <p:cNvPr id="25" name="Straight Arrow Connector 24">
            <a:extLst>
              <a:ext uri="{FF2B5EF4-FFF2-40B4-BE49-F238E27FC236}">
                <a16:creationId xmlns:a16="http://schemas.microsoft.com/office/drawing/2014/main" id="{B054F14D-7734-48B9-A344-DC2215A8DBB3}"/>
              </a:ext>
            </a:extLst>
          </p:cNvPr>
          <p:cNvCxnSpPr>
            <a:cxnSpLocks/>
          </p:cNvCxnSpPr>
          <p:nvPr/>
        </p:nvCxnSpPr>
        <p:spPr>
          <a:xfrm flipV="1">
            <a:off x="9553539" y="5375676"/>
            <a:ext cx="0" cy="897721"/>
          </a:xfrm>
          <a:prstGeom prst="straightConnector1">
            <a:avLst/>
          </a:prstGeom>
          <a:ln w="28575">
            <a:solidFill>
              <a:srgbClr val="0070C0"/>
            </a:solidFill>
            <a:headEnd type="triangle" w="med" len="med"/>
            <a:tailEnd type="none" w="med" len="med"/>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469551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Example</a:t>
            </a:r>
            <a:endParaRPr lang="th-TH" dirty="0">
              <a:solidFill>
                <a:schemeClr val="tx1"/>
              </a:solidFill>
            </a:endParaRPr>
          </a:p>
        </p:txBody>
      </p:sp>
      <p:pic>
        <p:nvPicPr>
          <p:cNvPr id="4" name="Picture 3">
            <a:extLst>
              <a:ext uri="{FF2B5EF4-FFF2-40B4-BE49-F238E27FC236}">
                <a16:creationId xmlns:a16="http://schemas.microsoft.com/office/drawing/2014/main" id="{191C2B10-A83C-48B6-875C-6702F93FBB1E}"/>
              </a:ext>
            </a:extLst>
          </p:cNvPr>
          <p:cNvPicPr>
            <a:picLocks noChangeAspect="1"/>
          </p:cNvPicPr>
          <p:nvPr/>
        </p:nvPicPr>
        <p:blipFill>
          <a:blip r:embed="rId3"/>
          <a:stretch>
            <a:fillRect/>
          </a:stretch>
        </p:blipFill>
        <p:spPr>
          <a:xfrm>
            <a:off x="2850356" y="667828"/>
            <a:ext cx="6491288" cy="2761172"/>
          </a:xfrm>
          <a:prstGeom prst="rect">
            <a:avLst/>
          </a:prstGeom>
        </p:spPr>
      </p:pic>
      <p:pic>
        <p:nvPicPr>
          <p:cNvPr id="7" name="Picture 6">
            <a:extLst>
              <a:ext uri="{FF2B5EF4-FFF2-40B4-BE49-F238E27FC236}">
                <a16:creationId xmlns:a16="http://schemas.microsoft.com/office/drawing/2014/main" id="{B7D34269-CAF0-432F-AD4F-85D5EE5DDE64}"/>
              </a:ext>
            </a:extLst>
          </p:cNvPr>
          <p:cNvPicPr>
            <a:picLocks noChangeAspect="1"/>
          </p:cNvPicPr>
          <p:nvPr/>
        </p:nvPicPr>
        <p:blipFill>
          <a:blip r:embed="rId4"/>
          <a:stretch>
            <a:fillRect/>
          </a:stretch>
        </p:blipFill>
        <p:spPr>
          <a:xfrm>
            <a:off x="2102644" y="3485071"/>
            <a:ext cx="7986712" cy="3372929"/>
          </a:xfrm>
          <a:prstGeom prst="rect">
            <a:avLst/>
          </a:prstGeom>
        </p:spPr>
      </p:pic>
      <p:sp>
        <p:nvSpPr>
          <p:cNvPr id="9" name="TextBox 8">
            <a:extLst>
              <a:ext uri="{FF2B5EF4-FFF2-40B4-BE49-F238E27FC236}">
                <a16:creationId xmlns:a16="http://schemas.microsoft.com/office/drawing/2014/main" id="{AF60CB29-7D45-4220-93C3-F2774E892237}"/>
              </a:ext>
            </a:extLst>
          </p:cNvPr>
          <p:cNvSpPr txBox="1"/>
          <p:nvPr/>
        </p:nvSpPr>
        <p:spPr>
          <a:xfrm>
            <a:off x="7496175" y="1050295"/>
            <a:ext cx="923925" cy="246221"/>
          </a:xfrm>
          <a:prstGeom prst="rect">
            <a:avLst/>
          </a:prstGeom>
          <a:noFill/>
        </p:spPr>
        <p:txBody>
          <a:bodyPr wrap="square" rtlCol="0">
            <a:spAutoFit/>
          </a:bodyPr>
          <a:lstStyle/>
          <a:p>
            <a:r>
              <a:rPr lang="en-US" sz="1000" dirty="0"/>
              <a:t>Ch0,T5</a:t>
            </a:r>
            <a:endParaRPr lang="th-TH" sz="1000" dirty="0"/>
          </a:p>
        </p:txBody>
      </p:sp>
      <p:sp>
        <p:nvSpPr>
          <p:cNvPr id="12" name="TextBox 11">
            <a:extLst>
              <a:ext uri="{FF2B5EF4-FFF2-40B4-BE49-F238E27FC236}">
                <a16:creationId xmlns:a16="http://schemas.microsoft.com/office/drawing/2014/main" id="{377F92D3-AA48-4A06-8F16-26C258CA85B8}"/>
              </a:ext>
            </a:extLst>
          </p:cNvPr>
          <p:cNvSpPr txBox="1"/>
          <p:nvPr/>
        </p:nvSpPr>
        <p:spPr>
          <a:xfrm>
            <a:off x="6372225" y="1073080"/>
            <a:ext cx="923925" cy="246221"/>
          </a:xfrm>
          <a:prstGeom prst="rect">
            <a:avLst/>
          </a:prstGeom>
          <a:noFill/>
        </p:spPr>
        <p:txBody>
          <a:bodyPr wrap="square" rtlCol="0">
            <a:spAutoFit/>
          </a:bodyPr>
          <a:lstStyle/>
          <a:p>
            <a:r>
              <a:rPr lang="en-US" sz="1000" dirty="0"/>
              <a:t>Ch0,T4</a:t>
            </a:r>
            <a:endParaRPr lang="th-TH" sz="1000" dirty="0"/>
          </a:p>
        </p:txBody>
      </p:sp>
    </p:spTree>
    <p:extLst>
      <p:ext uri="{BB962C8B-B14F-4D97-AF65-F5344CB8AC3E}">
        <p14:creationId xmlns:p14="http://schemas.microsoft.com/office/powerpoint/2010/main" val="3447066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Example</a:t>
            </a:r>
            <a:endParaRPr lang="th-TH" dirty="0">
              <a:solidFill>
                <a:schemeClr val="tx1"/>
              </a:solidFill>
            </a:endParaRPr>
          </a:p>
        </p:txBody>
      </p:sp>
      <p:pic>
        <p:nvPicPr>
          <p:cNvPr id="4" name="Picture 3">
            <a:extLst>
              <a:ext uri="{FF2B5EF4-FFF2-40B4-BE49-F238E27FC236}">
                <a16:creationId xmlns:a16="http://schemas.microsoft.com/office/drawing/2014/main" id="{191C2B10-A83C-48B6-875C-6702F93FBB1E}"/>
              </a:ext>
            </a:extLst>
          </p:cNvPr>
          <p:cNvPicPr>
            <a:picLocks noChangeAspect="1"/>
          </p:cNvPicPr>
          <p:nvPr/>
        </p:nvPicPr>
        <p:blipFill>
          <a:blip r:embed="rId3"/>
          <a:stretch>
            <a:fillRect/>
          </a:stretch>
        </p:blipFill>
        <p:spPr>
          <a:xfrm>
            <a:off x="2850356" y="667828"/>
            <a:ext cx="6491288" cy="2761172"/>
          </a:xfrm>
          <a:prstGeom prst="rect">
            <a:avLst/>
          </a:prstGeom>
        </p:spPr>
      </p:pic>
      <p:sp>
        <p:nvSpPr>
          <p:cNvPr id="9" name="TextBox 8">
            <a:extLst>
              <a:ext uri="{FF2B5EF4-FFF2-40B4-BE49-F238E27FC236}">
                <a16:creationId xmlns:a16="http://schemas.microsoft.com/office/drawing/2014/main" id="{AF60CB29-7D45-4220-93C3-F2774E892237}"/>
              </a:ext>
            </a:extLst>
          </p:cNvPr>
          <p:cNvSpPr txBox="1"/>
          <p:nvPr/>
        </p:nvSpPr>
        <p:spPr>
          <a:xfrm>
            <a:off x="7496175" y="1050295"/>
            <a:ext cx="923925" cy="246221"/>
          </a:xfrm>
          <a:prstGeom prst="rect">
            <a:avLst/>
          </a:prstGeom>
          <a:noFill/>
        </p:spPr>
        <p:txBody>
          <a:bodyPr wrap="square" rtlCol="0">
            <a:spAutoFit/>
          </a:bodyPr>
          <a:lstStyle/>
          <a:p>
            <a:r>
              <a:rPr lang="en-US" sz="1000" dirty="0"/>
              <a:t>Ch0,T5</a:t>
            </a:r>
            <a:endParaRPr lang="th-TH" sz="1000" dirty="0"/>
          </a:p>
        </p:txBody>
      </p:sp>
      <p:sp>
        <p:nvSpPr>
          <p:cNvPr id="12" name="TextBox 11">
            <a:extLst>
              <a:ext uri="{FF2B5EF4-FFF2-40B4-BE49-F238E27FC236}">
                <a16:creationId xmlns:a16="http://schemas.microsoft.com/office/drawing/2014/main" id="{377F92D3-AA48-4A06-8F16-26C258CA85B8}"/>
              </a:ext>
            </a:extLst>
          </p:cNvPr>
          <p:cNvSpPr txBox="1"/>
          <p:nvPr/>
        </p:nvSpPr>
        <p:spPr>
          <a:xfrm>
            <a:off x="6372225" y="1073080"/>
            <a:ext cx="923925" cy="246221"/>
          </a:xfrm>
          <a:prstGeom prst="rect">
            <a:avLst/>
          </a:prstGeom>
          <a:noFill/>
        </p:spPr>
        <p:txBody>
          <a:bodyPr wrap="square" rtlCol="0">
            <a:spAutoFit/>
          </a:bodyPr>
          <a:lstStyle/>
          <a:p>
            <a:r>
              <a:rPr lang="en-US" sz="1000" dirty="0"/>
              <a:t>Ch0,T4</a:t>
            </a:r>
            <a:endParaRPr lang="th-TH" sz="1000" dirty="0"/>
          </a:p>
        </p:txBody>
      </p:sp>
      <p:pic>
        <p:nvPicPr>
          <p:cNvPr id="5" name="Picture 4">
            <a:extLst>
              <a:ext uri="{FF2B5EF4-FFF2-40B4-BE49-F238E27FC236}">
                <a16:creationId xmlns:a16="http://schemas.microsoft.com/office/drawing/2014/main" id="{1B6E9C0A-9491-43F7-B9AA-EC90C5B8E2E2}"/>
              </a:ext>
            </a:extLst>
          </p:cNvPr>
          <p:cNvPicPr>
            <a:picLocks noChangeAspect="1"/>
          </p:cNvPicPr>
          <p:nvPr/>
        </p:nvPicPr>
        <p:blipFill>
          <a:blip r:embed="rId4"/>
          <a:stretch>
            <a:fillRect/>
          </a:stretch>
        </p:blipFill>
        <p:spPr>
          <a:xfrm>
            <a:off x="3087290" y="3490500"/>
            <a:ext cx="6017419" cy="3367500"/>
          </a:xfrm>
          <a:prstGeom prst="rect">
            <a:avLst/>
          </a:prstGeom>
        </p:spPr>
      </p:pic>
      <p:sp>
        <p:nvSpPr>
          <p:cNvPr id="6" name="TextBox 5">
            <a:extLst>
              <a:ext uri="{FF2B5EF4-FFF2-40B4-BE49-F238E27FC236}">
                <a16:creationId xmlns:a16="http://schemas.microsoft.com/office/drawing/2014/main" id="{41FD30F3-0A18-4595-89A6-E70402D60B97}"/>
              </a:ext>
            </a:extLst>
          </p:cNvPr>
          <p:cNvSpPr txBox="1"/>
          <p:nvPr/>
        </p:nvSpPr>
        <p:spPr>
          <a:xfrm>
            <a:off x="5929312" y="1952376"/>
            <a:ext cx="923925" cy="246221"/>
          </a:xfrm>
          <a:prstGeom prst="rect">
            <a:avLst/>
          </a:prstGeom>
          <a:noFill/>
        </p:spPr>
        <p:txBody>
          <a:bodyPr wrap="square" rtlCol="0">
            <a:spAutoFit/>
          </a:bodyPr>
          <a:lstStyle/>
          <a:p>
            <a:r>
              <a:rPr lang="en-US" sz="1000" dirty="0"/>
              <a:t>Ch1,T3</a:t>
            </a:r>
            <a:endParaRPr lang="th-TH" sz="1000" dirty="0"/>
          </a:p>
        </p:txBody>
      </p:sp>
      <p:sp>
        <p:nvSpPr>
          <p:cNvPr id="8" name="TextBox 7">
            <a:extLst>
              <a:ext uri="{FF2B5EF4-FFF2-40B4-BE49-F238E27FC236}">
                <a16:creationId xmlns:a16="http://schemas.microsoft.com/office/drawing/2014/main" id="{98C37BAA-7D63-4072-9A52-E4A5656EE68F}"/>
              </a:ext>
            </a:extLst>
          </p:cNvPr>
          <p:cNvSpPr txBox="1"/>
          <p:nvPr/>
        </p:nvSpPr>
        <p:spPr>
          <a:xfrm>
            <a:off x="7386637" y="1850032"/>
            <a:ext cx="923925" cy="246221"/>
          </a:xfrm>
          <a:prstGeom prst="rect">
            <a:avLst/>
          </a:prstGeom>
          <a:noFill/>
        </p:spPr>
        <p:txBody>
          <a:bodyPr wrap="square" rtlCol="0">
            <a:spAutoFit/>
          </a:bodyPr>
          <a:lstStyle/>
          <a:p>
            <a:r>
              <a:rPr lang="en-US" sz="1000" dirty="0"/>
              <a:t>Ch0,T3</a:t>
            </a:r>
            <a:endParaRPr lang="th-TH" sz="1000" dirty="0"/>
          </a:p>
        </p:txBody>
      </p:sp>
      <p:sp>
        <p:nvSpPr>
          <p:cNvPr id="14" name="TextBox 13">
            <a:extLst>
              <a:ext uri="{FF2B5EF4-FFF2-40B4-BE49-F238E27FC236}">
                <a16:creationId xmlns:a16="http://schemas.microsoft.com/office/drawing/2014/main" id="{7ECF7017-FAE1-4E03-BF8A-E1BB8E03F85D}"/>
              </a:ext>
            </a:extLst>
          </p:cNvPr>
          <p:cNvSpPr txBox="1"/>
          <p:nvPr/>
        </p:nvSpPr>
        <p:spPr>
          <a:xfrm>
            <a:off x="7958137" y="1992794"/>
            <a:ext cx="923925" cy="246221"/>
          </a:xfrm>
          <a:prstGeom prst="rect">
            <a:avLst/>
          </a:prstGeom>
          <a:noFill/>
        </p:spPr>
        <p:txBody>
          <a:bodyPr wrap="square" rtlCol="0">
            <a:spAutoFit/>
          </a:bodyPr>
          <a:lstStyle/>
          <a:p>
            <a:r>
              <a:rPr lang="en-US" sz="1000" dirty="0"/>
              <a:t>Ch1,T4</a:t>
            </a:r>
            <a:endParaRPr lang="th-TH" sz="1000" dirty="0"/>
          </a:p>
        </p:txBody>
      </p:sp>
    </p:spTree>
    <p:extLst>
      <p:ext uri="{BB962C8B-B14F-4D97-AF65-F5344CB8AC3E}">
        <p14:creationId xmlns:p14="http://schemas.microsoft.com/office/powerpoint/2010/main" val="1041491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Packet Collision Avoidance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288045"/>
          </a:xfrm>
          <a:prstGeom prst="rect">
            <a:avLst/>
          </a:prstGeom>
          <a:noFill/>
        </p:spPr>
        <p:txBody>
          <a:bodyPr wrap="square" rtlCol="0">
            <a:spAutoFit/>
          </a:bodyPr>
          <a:lstStyle/>
          <a:p>
            <a:pPr algn="thaiDist">
              <a:lnSpc>
                <a:spcPct val="150000"/>
              </a:lnSpc>
            </a:pPr>
            <a:r>
              <a:rPr lang="en-US" dirty="0" err="1"/>
              <a:t>LoRa’s</a:t>
            </a:r>
            <a:r>
              <a:rPr lang="en-US" dirty="0"/>
              <a:t> transceiver uses the channel activity detection (CAD) mechanism to detect packets in the air. We propose a packet collision avoidance mechanism based on CAD.</a:t>
            </a:r>
          </a:p>
          <a:p>
            <a:pPr algn="thaiDist">
              <a:lnSpc>
                <a:spcPct val="150000"/>
              </a:lnSpc>
            </a:pPr>
            <a:r>
              <a:rPr lang="en-US" dirty="0"/>
              <a:t>we need T</a:t>
            </a:r>
            <a:r>
              <a:rPr lang="en-US" baseline="-25000" dirty="0"/>
              <a:t>CAD</a:t>
            </a:r>
            <a:r>
              <a:rPr lang="en-US" dirty="0"/>
              <a:t> (CAD time) to detect packets, and T</a:t>
            </a:r>
            <a:r>
              <a:rPr lang="en-US" baseline="-25000" dirty="0"/>
              <a:t>CAD</a:t>
            </a:r>
            <a:r>
              <a:rPr lang="en-US" dirty="0"/>
              <a:t> = 2 × </a:t>
            </a:r>
            <a:r>
              <a:rPr lang="en-US" dirty="0" err="1"/>
              <a:t>T</a:t>
            </a:r>
            <a:r>
              <a:rPr lang="en-US" baseline="-25000" dirty="0" err="1"/>
              <a:t>sym</a:t>
            </a:r>
            <a:r>
              <a:rPr lang="en-US" dirty="0"/>
              <a:t>, </a:t>
            </a:r>
            <a:r>
              <a:rPr lang="en-US" dirty="0" err="1"/>
              <a:t>T</a:t>
            </a:r>
            <a:r>
              <a:rPr lang="en-US" baseline="-25000" dirty="0" err="1"/>
              <a:t>sym</a:t>
            </a:r>
            <a:r>
              <a:rPr lang="en-US" dirty="0"/>
              <a:t> is dependent on spreading factor (SF).</a:t>
            </a:r>
          </a:p>
        </p:txBody>
      </p:sp>
      <p:pic>
        <p:nvPicPr>
          <p:cNvPr id="4" name="Picture 3">
            <a:extLst>
              <a:ext uri="{FF2B5EF4-FFF2-40B4-BE49-F238E27FC236}">
                <a16:creationId xmlns:a16="http://schemas.microsoft.com/office/drawing/2014/main" id="{3D1017CA-E383-4A5B-9C77-02B6C961A04C}"/>
              </a:ext>
            </a:extLst>
          </p:cNvPr>
          <p:cNvPicPr>
            <a:picLocks noChangeAspect="1"/>
          </p:cNvPicPr>
          <p:nvPr/>
        </p:nvPicPr>
        <p:blipFill>
          <a:blip r:embed="rId3"/>
          <a:stretch>
            <a:fillRect/>
          </a:stretch>
        </p:blipFill>
        <p:spPr>
          <a:xfrm>
            <a:off x="8963025" y="3501489"/>
            <a:ext cx="2076449" cy="2987460"/>
          </a:xfrm>
          <a:prstGeom prst="rect">
            <a:avLst/>
          </a:prstGeom>
        </p:spPr>
      </p:pic>
    </p:spTree>
    <p:extLst>
      <p:ext uri="{BB962C8B-B14F-4D97-AF65-F5344CB8AC3E}">
        <p14:creationId xmlns:p14="http://schemas.microsoft.com/office/powerpoint/2010/main" val="32050474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641BD08-C804-41C4-85FF-1620C3E54D57}"/>
              </a:ext>
            </a:extLst>
          </p:cNvPr>
          <p:cNvPicPr>
            <a:picLocks noChangeAspect="1"/>
          </p:cNvPicPr>
          <p:nvPr/>
        </p:nvPicPr>
        <p:blipFill>
          <a:blip r:embed="rId3"/>
          <a:stretch>
            <a:fillRect/>
          </a:stretch>
        </p:blipFill>
        <p:spPr>
          <a:xfrm>
            <a:off x="3126235" y="4488304"/>
            <a:ext cx="5939529" cy="2369696"/>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Packet Collision Avoidance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765372"/>
          </a:xfrm>
          <a:prstGeom prst="rect">
            <a:avLst/>
          </a:prstGeom>
          <a:noFill/>
        </p:spPr>
        <p:txBody>
          <a:bodyPr wrap="square" rtlCol="0">
            <a:spAutoFit/>
          </a:bodyPr>
          <a:lstStyle/>
          <a:p>
            <a:pPr algn="thaiDist">
              <a:lnSpc>
                <a:spcPct val="150000"/>
              </a:lnSpc>
            </a:pPr>
            <a:r>
              <a:rPr lang="en-US" dirty="0"/>
              <a:t>In TS</a:t>
            </a:r>
            <a:r>
              <a:rPr lang="en-US" baseline="-25000" dirty="0"/>
              <a:t>1</a:t>
            </a:r>
            <a:r>
              <a:rPr lang="en-US" dirty="0"/>
              <a:t> and TS</a:t>
            </a:r>
            <a:r>
              <a:rPr lang="en-US" baseline="-25000" dirty="0"/>
              <a:t>2</a:t>
            </a:r>
            <a:r>
              <a:rPr lang="en-US" dirty="0"/>
              <a:t> of each cycle in the NCP, each node calculates a random delay time r (r = w × T</a:t>
            </a:r>
            <a:r>
              <a:rPr lang="en-US" baseline="-25000" dirty="0"/>
              <a:t>CAD</a:t>
            </a:r>
            <a:r>
              <a:rPr lang="en-US" dirty="0"/>
              <a:t>).</a:t>
            </a:r>
          </a:p>
          <a:p>
            <a:pPr algn="thaiDist">
              <a:lnSpc>
                <a:spcPct val="150000"/>
              </a:lnSpc>
            </a:pPr>
            <a:r>
              <a:rPr lang="en-US" dirty="0"/>
              <a:t>w = {D × CW, D × CW + CW−1}</a:t>
            </a:r>
          </a:p>
          <a:p>
            <a:pPr marL="285750" indent="-285750" algn="thaiDist">
              <a:lnSpc>
                <a:spcPct val="150000"/>
              </a:lnSpc>
              <a:buFont typeface="Arial" panose="020B0604020202020204" pitchFamily="34" charset="0"/>
              <a:buChar char="•"/>
            </a:pPr>
            <a:r>
              <a:rPr lang="en-US" sz="1400" dirty="0"/>
              <a:t>D is depth of this node.</a:t>
            </a:r>
          </a:p>
          <a:p>
            <a:pPr marL="285750" indent="-285750" algn="thaiDist">
              <a:lnSpc>
                <a:spcPct val="150000"/>
              </a:lnSpc>
              <a:buFont typeface="Arial" panose="020B0604020202020204" pitchFamily="34" charset="0"/>
              <a:buChar char="•"/>
            </a:pPr>
            <a:r>
              <a:rPr lang="en-US" sz="1400" dirty="0"/>
              <a:t>CW represents the contention window size.</a:t>
            </a:r>
          </a:p>
          <a:p>
            <a:pPr algn="thaiDist">
              <a:lnSpc>
                <a:spcPct val="150000"/>
              </a:lnSpc>
            </a:pPr>
            <a:r>
              <a:rPr lang="en-US" dirty="0"/>
              <a:t>During delay time, if the CAD mechanism detects a packet, it initiates a ‘</a:t>
            </a:r>
            <a:r>
              <a:rPr lang="en-US" dirty="0" err="1"/>
              <a:t>CAD_detected</a:t>
            </a:r>
            <a:r>
              <a:rPr lang="en-US" dirty="0"/>
              <a:t>’ event to inform the node that there is a packet in the air and that it lost contention and will have to try to retransmit the packet in the next cycle.</a:t>
            </a:r>
            <a:endParaRPr lang="en-US" sz="1600" dirty="0"/>
          </a:p>
        </p:txBody>
      </p:sp>
    </p:spTree>
    <p:extLst>
      <p:ext uri="{BB962C8B-B14F-4D97-AF65-F5344CB8AC3E}">
        <p14:creationId xmlns:p14="http://schemas.microsoft.com/office/powerpoint/2010/main" val="42031524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5645036" cy="2119042"/>
          </a:xfrm>
          <a:prstGeom prst="rect">
            <a:avLst/>
          </a:prstGeom>
          <a:noFill/>
        </p:spPr>
        <p:txBody>
          <a:bodyPr wrap="square" rtlCol="0">
            <a:spAutoFit/>
          </a:bodyPr>
          <a:lstStyle/>
          <a:p>
            <a:pPr algn="thaiDist">
              <a:lnSpc>
                <a:spcPct val="150000"/>
              </a:lnSpc>
            </a:pPr>
            <a:r>
              <a:rPr lang="en-US" dirty="0"/>
              <a:t>After receiving JOIN packet, at the parent node, Algorithm 1 chooses the latest timeslot before the timeslot in which this node communicates with its parent node.</a:t>
            </a:r>
          </a:p>
          <a:p>
            <a:pPr algn="thaiDist">
              <a:lnSpc>
                <a:spcPct val="150000"/>
              </a:lnSpc>
            </a:pPr>
            <a:r>
              <a:rPr lang="en-US" dirty="0"/>
              <a:t>Until timeslot is not in Cd.</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pic>
        <p:nvPicPr>
          <p:cNvPr id="7" name="Picture 6">
            <a:extLst>
              <a:ext uri="{FF2B5EF4-FFF2-40B4-BE49-F238E27FC236}">
                <a16:creationId xmlns:a16="http://schemas.microsoft.com/office/drawing/2014/main" id="{8D8D3224-8C3A-41EC-B69A-E3D5C174F46F}"/>
              </a:ext>
            </a:extLst>
          </p:cNvPr>
          <p:cNvPicPr>
            <a:picLocks noChangeAspect="1"/>
          </p:cNvPicPr>
          <p:nvPr/>
        </p:nvPicPr>
        <p:blipFill rotWithShape="1">
          <a:blip r:embed="rId4"/>
          <a:srcRect l="649" t="6475" r="23203" b="33508"/>
          <a:stretch/>
        </p:blipFill>
        <p:spPr>
          <a:xfrm>
            <a:off x="1590900" y="4676083"/>
            <a:ext cx="4090267" cy="1804126"/>
          </a:xfrm>
          <a:prstGeom prst="rect">
            <a:avLst/>
          </a:prstGeom>
          <a:ln>
            <a:solidFill>
              <a:schemeClr val="tx1"/>
            </a:solidFill>
          </a:ln>
        </p:spPr>
      </p:pic>
      <p:sp>
        <p:nvSpPr>
          <p:cNvPr id="10" name="Left Brace 9">
            <a:extLst>
              <a:ext uri="{FF2B5EF4-FFF2-40B4-BE49-F238E27FC236}">
                <a16:creationId xmlns:a16="http://schemas.microsoft.com/office/drawing/2014/main" id="{9AA25E34-A12B-4B16-AEAC-3DA6435450BF}"/>
              </a:ext>
            </a:extLst>
          </p:cNvPr>
          <p:cNvSpPr/>
          <p:nvPr/>
        </p:nvSpPr>
        <p:spPr>
          <a:xfrm>
            <a:off x="6458552" y="2810577"/>
            <a:ext cx="741145" cy="1722922"/>
          </a:xfrm>
          <a:prstGeom prst="leftBrace">
            <a:avLst>
              <a:gd name="adj1" fmla="val 17424"/>
              <a:gd name="adj2" fmla="val 23743"/>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2" name="Rectangle 11">
            <a:extLst>
              <a:ext uri="{FF2B5EF4-FFF2-40B4-BE49-F238E27FC236}">
                <a16:creationId xmlns:a16="http://schemas.microsoft.com/office/drawing/2014/main" id="{06EABDD1-4744-40DF-B1F3-B2CEA6D42525}"/>
              </a:ext>
            </a:extLst>
          </p:cNvPr>
          <p:cNvSpPr/>
          <p:nvPr/>
        </p:nvSpPr>
        <p:spPr>
          <a:xfrm>
            <a:off x="5317960" y="6015790"/>
            <a:ext cx="279133" cy="3898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3" name="Rectangle 12">
            <a:extLst>
              <a:ext uri="{FF2B5EF4-FFF2-40B4-BE49-F238E27FC236}">
                <a16:creationId xmlns:a16="http://schemas.microsoft.com/office/drawing/2014/main" id="{23F068F7-B387-4DF9-ADBE-0E4D789F6FDB}"/>
              </a:ext>
            </a:extLst>
          </p:cNvPr>
          <p:cNvSpPr/>
          <p:nvPr/>
        </p:nvSpPr>
        <p:spPr>
          <a:xfrm>
            <a:off x="3057007" y="6015790"/>
            <a:ext cx="279133" cy="38982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5601463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770731" y="4712436"/>
            <a:ext cx="5727032" cy="1288045"/>
          </a:xfrm>
          <a:prstGeom prst="rect">
            <a:avLst/>
          </a:prstGeom>
          <a:noFill/>
        </p:spPr>
        <p:txBody>
          <a:bodyPr wrap="square" rtlCol="0">
            <a:spAutoFit/>
          </a:bodyPr>
          <a:lstStyle/>
          <a:p>
            <a:pPr algn="thaiDist">
              <a:lnSpc>
                <a:spcPct val="150000"/>
              </a:lnSpc>
            </a:pPr>
            <a:r>
              <a:rPr lang="en-US" dirty="0"/>
              <a:t>If timeslot and channel are in </a:t>
            </a:r>
            <a:r>
              <a:rPr lang="en-US" dirty="0" err="1"/>
              <a:t>U</a:t>
            </a:r>
            <a:r>
              <a:rPr lang="en-US" baseline="-25000" dirty="0" err="1"/>
              <a:t>c</a:t>
            </a:r>
            <a:r>
              <a:rPr lang="en-US" dirty="0"/>
              <a:t>, change channel.</a:t>
            </a:r>
          </a:p>
          <a:p>
            <a:pPr algn="thaiDist">
              <a:lnSpc>
                <a:spcPct val="150000"/>
              </a:lnSpc>
            </a:pPr>
            <a:r>
              <a:rPr lang="en-US" dirty="0"/>
              <a:t>If that timeslot has not any free-channel, change timeslot.</a:t>
            </a:r>
          </a:p>
          <a:p>
            <a:pPr algn="thaiDist">
              <a:lnSpc>
                <a:spcPct val="150000"/>
              </a:lnSpc>
            </a:pPr>
            <a:r>
              <a:rPr lang="en-US" dirty="0"/>
              <a:t>Until timeslot or free-channel are not in </a:t>
            </a:r>
            <a:r>
              <a:rPr lang="en-US" dirty="0" err="1"/>
              <a:t>U</a:t>
            </a:r>
            <a:r>
              <a:rPr lang="en-US" baseline="-25000" dirty="0" err="1"/>
              <a:t>c</a:t>
            </a:r>
            <a:r>
              <a:rPr lang="en-US" dirty="0"/>
              <a:t>.</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pic>
        <p:nvPicPr>
          <p:cNvPr id="7" name="Picture 6">
            <a:extLst>
              <a:ext uri="{FF2B5EF4-FFF2-40B4-BE49-F238E27FC236}">
                <a16:creationId xmlns:a16="http://schemas.microsoft.com/office/drawing/2014/main" id="{8D8D3224-8C3A-41EC-B69A-E3D5C174F46F}"/>
              </a:ext>
            </a:extLst>
          </p:cNvPr>
          <p:cNvPicPr>
            <a:picLocks noChangeAspect="1"/>
          </p:cNvPicPr>
          <p:nvPr/>
        </p:nvPicPr>
        <p:blipFill rotWithShape="1">
          <a:blip r:embed="rId4"/>
          <a:srcRect l="-490" t="6045" r="-423" b="33938"/>
          <a:stretch/>
        </p:blipFill>
        <p:spPr>
          <a:xfrm>
            <a:off x="924025" y="2399593"/>
            <a:ext cx="5420444" cy="1804126"/>
          </a:xfrm>
          <a:prstGeom prst="rect">
            <a:avLst/>
          </a:prstGeom>
          <a:ln>
            <a:solidFill>
              <a:schemeClr val="tx1"/>
            </a:solidFill>
          </a:ln>
        </p:spPr>
      </p:pic>
      <p:sp>
        <p:nvSpPr>
          <p:cNvPr id="10" name="Left Brace 9">
            <a:extLst>
              <a:ext uri="{FF2B5EF4-FFF2-40B4-BE49-F238E27FC236}">
                <a16:creationId xmlns:a16="http://schemas.microsoft.com/office/drawing/2014/main" id="{9AA25E34-A12B-4B16-AEAC-3DA6435450BF}"/>
              </a:ext>
            </a:extLst>
          </p:cNvPr>
          <p:cNvSpPr/>
          <p:nvPr/>
        </p:nvSpPr>
        <p:spPr>
          <a:xfrm>
            <a:off x="6855446" y="5043638"/>
            <a:ext cx="1104646" cy="625642"/>
          </a:xfrm>
          <a:prstGeom prst="leftBrace">
            <a:avLst>
              <a:gd name="adj1" fmla="val 7256"/>
              <a:gd name="adj2" fmla="val 54512"/>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th-TH"/>
          </a:p>
        </p:txBody>
      </p:sp>
      <p:sp>
        <p:nvSpPr>
          <p:cNvPr id="11" name="Rectangle 10">
            <a:extLst>
              <a:ext uri="{FF2B5EF4-FFF2-40B4-BE49-F238E27FC236}">
                <a16:creationId xmlns:a16="http://schemas.microsoft.com/office/drawing/2014/main" id="{11E03974-A50C-4ACC-873B-DF17CA945822}"/>
              </a:ext>
            </a:extLst>
          </p:cNvPr>
          <p:cNvSpPr/>
          <p:nvPr/>
        </p:nvSpPr>
        <p:spPr>
          <a:xfrm>
            <a:off x="2233063" y="3785134"/>
            <a:ext cx="477436" cy="32726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4" name="Rectangle 13">
            <a:extLst>
              <a:ext uri="{FF2B5EF4-FFF2-40B4-BE49-F238E27FC236}">
                <a16:creationId xmlns:a16="http://schemas.microsoft.com/office/drawing/2014/main" id="{C2A43C34-507F-42B0-B36C-C8E49EDF5945}"/>
              </a:ext>
            </a:extLst>
          </p:cNvPr>
          <p:cNvSpPr/>
          <p:nvPr/>
        </p:nvSpPr>
        <p:spPr>
          <a:xfrm>
            <a:off x="4512645" y="3775509"/>
            <a:ext cx="477436" cy="20371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
        <p:nvSpPr>
          <p:cNvPr id="15" name="Rectangle 14">
            <a:extLst>
              <a:ext uri="{FF2B5EF4-FFF2-40B4-BE49-F238E27FC236}">
                <a16:creationId xmlns:a16="http://schemas.microsoft.com/office/drawing/2014/main" id="{FD106D4A-34F0-4DE3-928F-E2567AFC8C8B}"/>
              </a:ext>
            </a:extLst>
          </p:cNvPr>
          <p:cNvSpPr/>
          <p:nvPr/>
        </p:nvSpPr>
        <p:spPr>
          <a:xfrm>
            <a:off x="5743075" y="3775509"/>
            <a:ext cx="477436" cy="20371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353050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Timeslot and Channel Assignment </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770731" y="1890876"/>
            <a:ext cx="5727032" cy="2950038"/>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dirty="0"/>
              <a:t>This minimizes the number of timeslots that are used for assignments to all the links in the network.</a:t>
            </a:r>
          </a:p>
          <a:p>
            <a:pPr marL="285750" indent="-285750" algn="thaiDist">
              <a:lnSpc>
                <a:spcPct val="150000"/>
              </a:lnSpc>
              <a:buFont typeface="Arial" panose="020B0604020202020204" pitchFamily="34" charset="0"/>
              <a:buChar char="•"/>
            </a:pPr>
            <a:r>
              <a:rPr lang="en-US" dirty="0"/>
              <a:t>With this algorithm, all child nodes transmit a data packet to their parent node before the parent transmits the data packet. </a:t>
            </a:r>
          </a:p>
          <a:p>
            <a:pPr marL="285750" indent="-285750" algn="thaiDist">
              <a:lnSpc>
                <a:spcPct val="150000"/>
              </a:lnSpc>
              <a:buFont typeface="Arial" panose="020B0604020202020204" pitchFamily="34" charset="0"/>
              <a:buChar char="•"/>
            </a:pPr>
            <a:r>
              <a:rPr lang="en-US" dirty="0"/>
              <a:t>Thus, in one UTC, all data from </a:t>
            </a:r>
            <a:r>
              <a:rPr lang="en-US" dirty="0" err="1"/>
              <a:t>LoRa</a:t>
            </a:r>
            <a:r>
              <a:rPr lang="en-US" dirty="0"/>
              <a:t> nodes are forwarded to the sink node.</a:t>
            </a:r>
          </a:p>
        </p:txBody>
      </p:sp>
      <p:pic>
        <p:nvPicPr>
          <p:cNvPr id="4" name="Picture 3">
            <a:extLst>
              <a:ext uri="{FF2B5EF4-FFF2-40B4-BE49-F238E27FC236}">
                <a16:creationId xmlns:a16="http://schemas.microsoft.com/office/drawing/2014/main" id="{AD4E78D1-EA77-42E2-81F0-816ED5F1C259}"/>
              </a:ext>
            </a:extLst>
          </p:cNvPr>
          <p:cNvPicPr>
            <a:picLocks noChangeAspect="1"/>
          </p:cNvPicPr>
          <p:nvPr/>
        </p:nvPicPr>
        <p:blipFill>
          <a:blip r:embed="rId3"/>
          <a:stretch>
            <a:fillRect/>
          </a:stretch>
        </p:blipFill>
        <p:spPr>
          <a:xfrm>
            <a:off x="6855446" y="1039528"/>
            <a:ext cx="5336553" cy="5818472"/>
          </a:xfrm>
          <a:prstGeom prst="rect">
            <a:avLst/>
          </a:prstGeom>
        </p:spPr>
      </p:pic>
      <p:sp>
        <p:nvSpPr>
          <p:cNvPr id="5" name="Rectangle 4">
            <a:extLst>
              <a:ext uri="{FF2B5EF4-FFF2-40B4-BE49-F238E27FC236}">
                <a16:creationId xmlns:a16="http://schemas.microsoft.com/office/drawing/2014/main" id="{6ABDE0A1-C6A3-4EDE-BA65-4FBD374CBF64}"/>
              </a:ext>
            </a:extLst>
          </p:cNvPr>
          <p:cNvSpPr/>
          <p:nvPr/>
        </p:nvSpPr>
        <p:spPr>
          <a:xfrm>
            <a:off x="7883090" y="4219135"/>
            <a:ext cx="77002" cy="1732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a:p>
        </p:txBody>
      </p:sp>
    </p:spTree>
    <p:extLst>
      <p:ext uri="{BB962C8B-B14F-4D97-AF65-F5344CB8AC3E}">
        <p14:creationId xmlns:p14="http://schemas.microsoft.com/office/powerpoint/2010/main" val="28427706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Parent Choice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534540"/>
          </a:xfrm>
          <a:prstGeom prst="rect">
            <a:avLst/>
          </a:prstGeom>
          <a:noFill/>
        </p:spPr>
        <p:txBody>
          <a:bodyPr wrap="square" rtlCol="0">
            <a:spAutoFit/>
          </a:bodyPr>
          <a:lstStyle/>
          <a:p>
            <a:pPr algn="thaiDist">
              <a:lnSpc>
                <a:spcPct val="150000"/>
              </a:lnSpc>
            </a:pPr>
            <a:r>
              <a:rPr lang="en-US" dirty="0"/>
              <a:t>Before the node receives a timeslot and channel assignment from the parent node, this node updates its parent based on the parent choice mechanism from the parent list as a priority, which is Rule 1 (described below):</a:t>
            </a:r>
          </a:p>
          <a:p>
            <a:pPr marL="285750" indent="-285750" algn="thaiDist">
              <a:lnSpc>
                <a:spcPct val="150000"/>
              </a:lnSpc>
              <a:buFont typeface="Arial" panose="020B0604020202020204" pitchFamily="34" charset="0"/>
              <a:buChar char="•"/>
            </a:pPr>
            <a:r>
              <a:rPr lang="en-US" dirty="0"/>
              <a:t>The node has the lowest depth.</a:t>
            </a:r>
          </a:p>
          <a:p>
            <a:pPr marL="285750" indent="-285750" algn="thaiDist">
              <a:lnSpc>
                <a:spcPct val="150000"/>
              </a:lnSpc>
              <a:buFont typeface="Arial" panose="020B0604020202020204" pitchFamily="34" charset="0"/>
              <a:buChar char="•"/>
            </a:pPr>
            <a:r>
              <a:rPr lang="en-US" dirty="0"/>
              <a:t>The node has the smallest number of children.</a:t>
            </a:r>
          </a:p>
          <a:p>
            <a:pPr marL="285750" indent="-285750" algn="thaiDist">
              <a:lnSpc>
                <a:spcPct val="150000"/>
              </a:lnSpc>
              <a:buFont typeface="Arial" panose="020B0604020202020204" pitchFamily="34" charset="0"/>
              <a:buChar char="•"/>
            </a:pPr>
            <a:r>
              <a:rPr lang="en-US" dirty="0"/>
              <a:t>The node has the latest timeslot assigned for communication with its parent node. </a:t>
            </a:r>
          </a:p>
        </p:txBody>
      </p:sp>
    </p:spTree>
    <p:extLst>
      <p:ext uri="{BB962C8B-B14F-4D97-AF65-F5344CB8AC3E}">
        <p14:creationId xmlns:p14="http://schemas.microsoft.com/office/powerpoint/2010/main" val="15980127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Parent Choice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703543"/>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dirty="0"/>
              <a:t>In Figure 8, node 6 can choose nodes 2, 3, 4 or 5 as a parent.</a:t>
            </a:r>
          </a:p>
          <a:p>
            <a:pPr marL="285750" indent="-285750" algn="thaiDist">
              <a:lnSpc>
                <a:spcPct val="150000"/>
              </a:lnSpc>
              <a:buFont typeface="Arial" panose="020B0604020202020204" pitchFamily="34" charset="0"/>
              <a:buChar char="•"/>
            </a:pPr>
            <a:r>
              <a:rPr lang="en-US" dirty="0"/>
              <a:t>Based on Rule 1, node 6 chooses node 3 as its parent node </a:t>
            </a:r>
          </a:p>
          <a:p>
            <a:pPr algn="thaiDist">
              <a:lnSpc>
                <a:spcPct val="150000"/>
              </a:lnSpc>
            </a:pPr>
            <a:r>
              <a:rPr lang="en-US" dirty="0"/>
              <a:t>(node 3 has the lowest depth at 1, and the smallest number of children at 0). </a:t>
            </a:r>
          </a:p>
          <a:p>
            <a:pPr marL="285750" indent="-285750" algn="thaiDist">
              <a:lnSpc>
                <a:spcPct val="150000"/>
              </a:lnSpc>
              <a:buFont typeface="Arial" panose="020B0604020202020204" pitchFamily="34" charset="0"/>
              <a:buChar char="•"/>
            </a:pPr>
            <a:r>
              <a:rPr lang="en-US" dirty="0"/>
              <a:t>In this case, the end-to-end latency is the lowest because node 6 will have 2 hops.</a:t>
            </a:r>
          </a:p>
        </p:txBody>
      </p:sp>
      <p:pic>
        <p:nvPicPr>
          <p:cNvPr id="9" name="Picture 8">
            <a:extLst>
              <a:ext uri="{FF2B5EF4-FFF2-40B4-BE49-F238E27FC236}">
                <a16:creationId xmlns:a16="http://schemas.microsoft.com/office/drawing/2014/main" id="{67C1A462-D906-45E5-BE1F-769519A9BE54}"/>
              </a:ext>
            </a:extLst>
          </p:cNvPr>
          <p:cNvPicPr>
            <a:picLocks noChangeAspect="1"/>
          </p:cNvPicPr>
          <p:nvPr/>
        </p:nvPicPr>
        <p:blipFill>
          <a:blip r:embed="rId3"/>
          <a:stretch>
            <a:fillRect/>
          </a:stretch>
        </p:blipFill>
        <p:spPr>
          <a:xfrm>
            <a:off x="4842836" y="4205886"/>
            <a:ext cx="2506328" cy="2524424"/>
          </a:xfrm>
          <a:prstGeom prst="rect">
            <a:avLst/>
          </a:prstGeom>
        </p:spPr>
      </p:pic>
      <p:cxnSp>
        <p:nvCxnSpPr>
          <p:cNvPr id="10" name="Straight Connector 9">
            <a:extLst>
              <a:ext uri="{FF2B5EF4-FFF2-40B4-BE49-F238E27FC236}">
                <a16:creationId xmlns:a16="http://schemas.microsoft.com/office/drawing/2014/main" id="{97B611AC-618C-459E-A065-3D874041ABEE}"/>
              </a:ext>
            </a:extLst>
          </p:cNvPr>
          <p:cNvCxnSpPr/>
          <p:nvPr/>
        </p:nvCxnSpPr>
        <p:spPr>
          <a:xfrm flipH="1" flipV="1">
            <a:off x="6583680" y="5218732"/>
            <a:ext cx="182880" cy="346509"/>
          </a:xfrm>
          <a:prstGeom prst="line">
            <a:avLst/>
          </a:prstGeom>
          <a:ln w="28575">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0105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Parent Choice Mechanism</a:t>
            </a:r>
            <a:endParaRPr lang="th-TH" dirty="0">
              <a:solidFill>
                <a:schemeClr val="tx1"/>
              </a:solidFill>
            </a:endParaRPr>
          </a:p>
        </p:txBody>
      </p:sp>
      <p:pic>
        <p:nvPicPr>
          <p:cNvPr id="7" name="Picture 6">
            <a:extLst>
              <a:ext uri="{FF2B5EF4-FFF2-40B4-BE49-F238E27FC236}">
                <a16:creationId xmlns:a16="http://schemas.microsoft.com/office/drawing/2014/main" id="{83BACE90-6084-407B-B7F0-4B4210F6D500}"/>
              </a:ext>
            </a:extLst>
          </p:cNvPr>
          <p:cNvPicPr>
            <a:picLocks noChangeAspect="1"/>
          </p:cNvPicPr>
          <p:nvPr/>
        </p:nvPicPr>
        <p:blipFill>
          <a:blip r:embed="rId3"/>
          <a:stretch>
            <a:fillRect/>
          </a:stretch>
        </p:blipFill>
        <p:spPr>
          <a:xfrm>
            <a:off x="4842836" y="4205886"/>
            <a:ext cx="2506328" cy="2524424"/>
          </a:xfrm>
          <a:prstGeom prst="rect">
            <a:avLst/>
          </a:prstGeom>
        </p:spPr>
      </p:pic>
      <p:cxnSp>
        <p:nvCxnSpPr>
          <p:cNvPr id="8" name="Straight Connector 7">
            <a:extLst>
              <a:ext uri="{FF2B5EF4-FFF2-40B4-BE49-F238E27FC236}">
                <a16:creationId xmlns:a16="http://schemas.microsoft.com/office/drawing/2014/main" id="{85567AF2-06F1-446B-B975-D6FE980B210C}"/>
              </a:ext>
            </a:extLst>
          </p:cNvPr>
          <p:cNvCxnSpPr/>
          <p:nvPr/>
        </p:nvCxnSpPr>
        <p:spPr>
          <a:xfrm flipH="1" flipV="1">
            <a:off x="6583680" y="5218732"/>
            <a:ext cx="182880" cy="346509"/>
          </a:xfrm>
          <a:prstGeom prst="line">
            <a:avLst/>
          </a:prstGeom>
          <a:ln w="28575">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534540"/>
          </a:xfrm>
          <a:prstGeom prst="rect">
            <a:avLst/>
          </a:prstGeom>
          <a:noFill/>
        </p:spPr>
        <p:txBody>
          <a:bodyPr wrap="square" rtlCol="0">
            <a:spAutoFit/>
          </a:bodyPr>
          <a:lstStyle/>
          <a:p>
            <a:pPr algn="thaiDist">
              <a:lnSpc>
                <a:spcPct val="150000"/>
              </a:lnSpc>
            </a:pPr>
            <a:r>
              <a:rPr lang="en-US" dirty="0"/>
              <a:t>In data aggregation, we assume that every node has 60 bytes as the data size.</a:t>
            </a:r>
          </a:p>
          <a:p>
            <a:pPr marL="285750" indent="-285750" algn="thaiDist">
              <a:lnSpc>
                <a:spcPct val="150000"/>
              </a:lnSpc>
              <a:buFont typeface="Arial" panose="020B0604020202020204" pitchFamily="34" charset="0"/>
              <a:buChar char="•"/>
            </a:pPr>
            <a:r>
              <a:rPr lang="en-US" dirty="0"/>
              <a:t>If node 2 is chosen, it will have a 240 bytes packet size, </a:t>
            </a:r>
          </a:p>
          <a:p>
            <a:pPr marL="285750" indent="-285750" algn="thaiDist">
              <a:lnSpc>
                <a:spcPct val="150000"/>
              </a:lnSpc>
              <a:buFont typeface="Arial" panose="020B0604020202020204" pitchFamily="34" charset="0"/>
              <a:buChar char="•"/>
            </a:pPr>
            <a:r>
              <a:rPr lang="en-US" dirty="0"/>
              <a:t>but if node 3 is chosen it will have 120 bytes as the packet size. </a:t>
            </a:r>
          </a:p>
          <a:p>
            <a:pPr algn="thaiDist">
              <a:lnSpc>
                <a:spcPct val="150000"/>
              </a:lnSpc>
            </a:pPr>
            <a:r>
              <a:rPr lang="en-US" dirty="0"/>
              <a:t>To avoid exceeding the packet size, node 6 rejects node 2 as its parent to avoid exceeding the packet size. For that reason, node 6 chooses node 3, proving that Rule 1 will minimize the end-to-end latency as well as the packet size distribution</a:t>
            </a:r>
          </a:p>
        </p:txBody>
      </p:sp>
      <p:cxnSp>
        <p:nvCxnSpPr>
          <p:cNvPr id="9" name="Straight Connector 8">
            <a:extLst>
              <a:ext uri="{FF2B5EF4-FFF2-40B4-BE49-F238E27FC236}">
                <a16:creationId xmlns:a16="http://schemas.microsoft.com/office/drawing/2014/main" id="{03775AAC-1DD3-4776-BA15-9D3A29534C87}"/>
              </a:ext>
            </a:extLst>
          </p:cNvPr>
          <p:cNvCxnSpPr>
            <a:cxnSpLocks/>
          </p:cNvCxnSpPr>
          <p:nvPr/>
        </p:nvCxnSpPr>
        <p:spPr>
          <a:xfrm flipH="1" flipV="1">
            <a:off x="5909912" y="5078962"/>
            <a:ext cx="765208" cy="562391"/>
          </a:xfrm>
          <a:prstGeom prst="line">
            <a:avLst/>
          </a:prstGeom>
          <a:ln w="28575">
            <a:solidFill>
              <a:srgbClr val="0070C0"/>
            </a:solidFill>
            <a:prstDash val="sys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7CB973E-8C13-4A2F-BE3F-F67DBE48F144}"/>
              </a:ext>
            </a:extLst>
          </p:cNvPr>
          <p:cNvSpPr txBox="1"/>
          <p:nvPr/>
        </p:nvSpPr>
        <p:spPr>
          <a:xfrm>
            <a:off x="4697128" y="4606171"/>
            <a:ext cx="1039529" cy="307777"/>
          </a:xfrm>
          <a:prstGeom prst="rect">
            <a:avLst/>
          </a:prstGeom>
          <a:noFill/>
        </p:spPr>
        <p:txBody>
          <a:bodyPr wrap="square" rtlCol="0">
            <a:spAutoFit/>
          </a:bodyPr>
          <a:lstStyle/>
          <a:p>
            <a:r>
              <a:rPr lang="en-US" sz="1400" dirty="0">
                <a:solidFill>
                  <a:srgbClr val="0070C0"/>
                </a:solidFill>
              </a:rPr>
              <a:t>4x60 bytes</a:t>
            </a:r>
            <a:endParaRPr lang="th-TH" sz="1400" dirty="0">
              <a:solidFill>
                <a:srgbClr val="0070C0"/>
              </a:solidFill>
            </a:endParaRPr>
          </a:p>
        </p:txBody>
      </p:sp>
      <p:sp>
        <p:nvSpPr>
          <p:cNvPr id="11" name="TextBox 10">
            <a:extLst>
              <a:ext uri="{FF2B5EF4-FFF2-40B4-BE49-F238E27FC236}">
                <a16:creationId xmlns:a16="http://schemas.microsoft.com/office/drawing/2014/main" id="{4BDC6158-FEF8-4622-8DE1-DFD98D0E44C3}"/>
              </a:ext>
            </a:extLst>
          </p:cNvPr>
          <p:cNvSpPr txBox="1"/>
          <p:nvPr/>
        </p:nvSpPr>
        <p:spPr>
          <a:xfrm>
            <a:off x="6675120" y="4681611"/>
            <a:ext cx="1039529" cy="307777"/>
          </a:xfrm>
          <a:prstGeom prst="rect">
            <a:avLst/>
          </a:prstGeom>
          <a:noFill/>
        </p:spPr>
        <p:txBody>
          <a:bodyPr wrap="square" rtlCol="0">
            <a:spAutoFit/>
          </a:bodyPr>
          <a:lstStyle/>
          <a:p>
            <a:r>
              <a:rPr lang="en-US" sz="1400" dirty="0">
                <a:solidFill>
                  <a:srgbClr val="FF0000"/>
                </a:solidFill>
              </a:rPr>
              <a:t>2x60 bytes</a:t>
            </a:r>
            <a:endParaRPr lang="th-TH" sz="1400" dirty="0">
              <a:solidFill>
                <a:srgbClr val="FF0000"/>
              </a:solidFill>
            </a:endParaRPr>
          </a:p>
        </p:txBody>
      </p:sp>
    </p:spTree>
    <p:extLst>
      <p:ext uri="{BB962C8B-B14F-4D97-AF65-F5344CB8AC3E}">
        <p14:creationId xmlns:p14="http://schemas.microsoft.com/office/powerpoint/2010/main" val="38923788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Data Transmission in the Proposed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1288045"/>
          </a:xfrm>
          <a:prstGeom prst="rect">
            <a:avLst/>
          </a:prstGeom>
          <a:noFill/>
        </p:spPr>
        <p:txBody>
          <a:bodyPr wrap="square" rtlCol="0">
            <a:spAutoFit/>
          </a:bodyPr>
          <a:lstStyle/>
          <a:p>
            <a:pPr algn="thaiDist">
              <a:lnSpc>
                <a:spcPct val="150000"/>
              </a:lnSpc>
            </a:pPr>
            <a:r>
              <a:rPr lang="en-US" dirty="0"/>
              <a:t>In each UTC, each node transmits one data packet. If the parent node receives all the data packets from its child, it combines its own data, then transmits the packet using the channel and timeslot that is assigned during the NCP.</a:t>
            </a:r>
          </a:p>
        </p:txBody>
      </p:sp>
    </p:spTree>
    <p:extLst>
      <p:ext uri="{BB962C8B-B14F-4D97-AF65-F5344CB8AC3E}">
        <p14:creationId xmlns:p14="http://schemas.microsoft.com/office/powerpoint/2010/main" val="1289282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8988952-6A52-4E94-AAE8-DB3FC009741E}"/>
              </a:ext>
            </a:extLst>
          </p:cNvPr>
          <p:cNvPicPr>
            <a:picLocks noChangeAspect="1"/>
          </p:cNvPicPr>
          <p:nvPr/>
        </p:nvPicPr>
        <p:blipFill>
          <a:blip r:embed="rId3"/>
          <a:stretch>
            <a:fillRect/>
          </a:stretch>
        </p:blipFill>
        <p:spPr>
          <a:xfrm>
            <a:off x="7430703" y="1622635"/>
            <a:ext cx="4761297" cy="5235365"/>
          </a:xfrm>
          <a:prstGeom prst="rect">
            <a:avLst/>
          </a:prstGeom>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REDUCE command packet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6463183" cy="2119042"/>
          </a:xfrm>
          <a:prstGeom prst="rect">
            <a:avLst/>
          </a:prstGeom>
          <a:noFill/>
        </p:spPr>
        <p:txBody>
          <a:bodyPr wrap="square" rtlCol="0">
            <a:spAutoFit/>
          </a:bodyPr>
          <a:lstStyle/>
          <a:p>
            <a:pPr algn="thaiDist">
              <a:lnSpc>
                <a:spcPct val="150000"/>
              </a:lnSpc>
            </a:pPr>
            <a:r>
              <a:rPr lang="en-US" dirty="0"/>
              <a:t>In Figure 9, we can see that two timeslots, T1 and T2, are not used; thus, to minimize the delay time and maximize the data rate, we removed these timeslots by REDUCE command packet. </a:t>
            </a:r>
          </a:p>
          <a:p>
            <a:pPr algn="thaiDist">
              <a:lnSpc>
                <a:spcPct val="150000"/>
              </a:lnSpc>
            </a:pPr>
            <a:r>
              <a:rPr lang="en-US" dirty="0"/>
              <a:t>Figure 10 shows data transmissions after all the nodes received the REDUCE command packet.</a:t>
            </a:r>
          </a:p>
        </p:txBody>
      </p:sp>
    </p:spTree>
    <p:extLst>
      <p:ext uri="{BB962C8B-B14F-4D97-AF65-F5344CB8AC3E}">
        <p14:creationId xmlns:p14="http://schemas.microsoft.com/office/powerpoint/2010/main" val="22983183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Resynchronize Time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After receiving a command packet, based on Equation (1), we calculated the time on air based on the received packet size, Spreading Factor (SF) and Coding Rate (CR).</a:t>
            </a:r>
          </a:p>
        </p:txBody>
      </p:sp>
      <p:pic>
        <p:nvPicPr>
          <p:cNvPr id="4" name="Picture 3">
            <a:extLst>
              <a:ext uri="{FF2B5EF4-FFF2-40B4-BE49-F238E27FC236}">
                <a16:creationId xmlns:a16="http://schemas.microsoft.com/office/drawing/2014/main" id="{34D4D017-E006-4478-8812-A457D0336F6A}"/>
              </a:ext>
            </a:extLst>
          </p:cNvPr>
          <p:cNvPicPr>
            <a:picLocks noChangeAspect="1"/>
          </p:cNvPicPr>
          <p:nvPr/>
        </p:nvPicPr>
        <p:blipFill>
          <a:blip r:embed="rId3"/>
          <a:stretch>
            <a:fillRect/>
          </a:stretch>
        </p:blipFill>
        <p:spPr>
          <a:xfrm>
            <a:off x="1287203" y="3667453"/>
            <a:ext cx="9617593" cy="1083554"/>
          </a:xfrm>
          <a:prstGeom prst="rect">
            <a:avLst/>
          </a:prstGeom>
        </p:spPr>
      </p:pic>
      <p:pic>
        <p:nvPicPr>
          <p:cNvPr id="7" name="Picture 6">
            <a:extLst>
              <a:ext uri="{FF2B5EF4-FFF2-40B4-BE49-F238E27FC236}">
                <a16:creationId xmlns:a16="http://schemas.microsoft.com/office/drawing/2014/main" id="{FE2A7AE1-F35D-49BC-871C-4E928B15F5ED}"/>
              </a:ext>
            </a:extLst>
          </p:cNvPr>
          <p:cNvPicPr>
            <a:picLocks noChangeAspect="1"/>
          </p:cNvPicPr>
          <p:nvPr/>
        </p:nvPicPr>
        <p:blipFill>
          <a:blip r:embed="rId4"/>
          <a:stretch>
            <a:fillRect/>
          </a:stretch>
        </p:blipFill>
        <p:spPr>
          <a:xfrm>
            <a:off x="1911511" y="4896139"/>
            <a:ext cx="5795065" cy="1756611"/>
          </a:xfrm>
          <a:prstGeom prst="rect">
            <a:avLst/>
          </a:prstGeom>
        </p:spPr>
      </p:pic>
    </p:spTree>
    <p:extLst>
      <p:ext uri="{BB962C8B-B14F-4D97-AF65-F5344CB8AC3E}">
        <p14:creationId xmlns:p14="http://schemas.microsoft.com/office/powerpoint/2010/main" val="4219928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Resynchronize Time Mechanism</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If we knew the time on air, then we estimated when the next timeslot starts, as shown in Figure 13, to resynchronize the time between the child nodes and the parent nodes.</a:t>
            </a:r>
          </a:p>
        </p:txBody>
      </p:sp>
      <p:pic>
        <p:nvPicPr>
          <p:cNvPr id="5" name="Picture 4">
            <a:extLst>
              <a:ext uri="{FF2B5EF4-FFF2-40B4-BE49-F238E27FC236}">
                <a16:creationId xmlns:a16="http://schemas.microsoft.com/office/drawing/2014/main" id="{E15B352A-A68A-4B96-9274-CA46ECDD1642}"/>
              </a:ext>
            </a:extLst>
          </p:cNvPr>
          <p:cNvPicPr>
            <a:picLocks noChangeAspect="1"/>
          </p:cNvPicPr>
          <p:nvPr/>
        </p:nvPicPr>
        <p:blipFill>
          <a:blip r:embed="rId3"/>
          <a:stretch>
            <a:fillRect/>
          </a:stretch>
        </p:blipFill>
        <p:spPr>
          <a:xfrm>
            <a:off x="1425249" y="3457552"/>
            <a:ext cx="9341502" cy="2698292"/>
          </a:xfrm>
          <a:prstGeom prst="rect">
            <a:avLst/>
          </a:prstGeom>
        </p:spPr>
      </p:pic>
    </p:spTree>
    <p:extLst>
      <p:ext uri="{BB962C8B-B14F-4D97-AF65-F5344CB8AC3E}">
        <p14:creationId xmlns:p14="http://schemas.microsoft.com/office/powerpoint/2010/main" val="23920522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Experiment Evaluation</a:t>
            </a:r>
            <a:endParaRPr lang="th-TH" dirty="0">
              <a:solidFill>
                <a:schemeClr val="tx1"/>
              </a:solidFill>
            </a:endParaRPr>
          </a:p>
        </p:txBody>
      </p:sp>
      <p:grpSp>
        <p:nvGrpSpPr>
          <p:cNvPr id="3" name="Group 2">
            <a:extLst>
              <a:ext uri="{FF2B5EF4-FFF2-40B4-BE49-F238E27FC236}">
                <a16:creationId xmlns:a16="http://schemas.microsoft.com/office/drawing/2014/main" id="{99EFFEEB-E1E2-40BE-935A-5601FEC87E83}"/>
              </a:ext>
            </a:extLst>
          </p:cNvPr>
          <p:cNvGrpSpPr/>
          <p:nvPr/>
        </p:nvGrpSpPr>
        <p:grpSpPr>
          <a:xfrm>
            <a:off x="7218947" y="1296516"/>
            <a:ext cx="3603028" cy="1637740"/>
            <a:chOff x="2905827" y="1673351"/>
            <a:chExt cx="6286500" cy="2857500"/>
          </a:xfrm>
        </p:grpSpPr>
        <p:pic>
          <p:nvPicPr>
            <p:cNvPr id="4" name="Picture 2" descr="Semtech_SX1272_f">
              <a:extLst>
                <a:ext uri="{FF2B5EF4-FFF2-40B4-BE49-F238E27FC236}">
                  <a16:creationId xmlns:a16="http://schemas.microsoft.com/office/drawing/2014/main" id="{A54E9BF8-1BB4-4493-81DB-BCB3A85D52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05827" y="1673351"/>
              <a:ext cx="2857500" cy="28575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MultiTech Developer Resources » mDot">
              <a:extLst>
                <a:ext uri="{FF2B5EF4-FFF2-40B4-BE49-F238E27FC236}">
                  <a16:creationId xmlns:a16="http://schemas.microsoft.com/office/drawing/2014/main" id="{F2B0D70D-08B8-4DCB-BB84-76E7D251BC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63327" y="2256022"/>
              <a:ext cx="3429000" cy="2076450"/>
            </a:xfrm>
            <a:prstGeom prst="rect">
              <a:avLst/>
            </a:prstGeom>
            <a:noFill/>
            <a:extLst>
              <a:ext uri="{909E8E84-426E-40DD-AFC4-6F175D3DCCD1}">
                <a14:hiddenFill xmlns:a14="http://schemas.microsoft.com/office/drawing/2010/main">
                  <a:solidFill>
                    <a:srgbClr val="FFFFFF"/>
                  </a:solidFill>
                </a14:hiddenFill>
              </a:ext>
            </a:extLst>
          </p:spPr>
        </p:pic>
        <p:sp>
          <p:nvSpPr>
            <p:cNvPr id="7" name="Isosceles Triangle 6">
              <a:extLst>
                <a:ext uri="{FF2B5EF4-FFF2-40B4-BE49-F238E27FC236}">
                  <a16:creationId xmlns:a16="http://schemas.microsoft.com/office/drawing/2014/main" id="{AFFC1620-6427-4BC3-9A23-792AAFCBACFE}"/>
                </a:ext>
              </a:extLst>
            </p:cNvPr>
            <p:cNvSpPr/>
            <p:nvPr/>
          </p:nvSpPr>
          <p:spPr>
            <a:xfrm rot="5400000">
              <a:off x="4778856" y="2129877"/>
              <a:ext cx="1990393" cy="1985012"/>
            </a:xfrm>
            <a:prstGeom prst="triangle">
              <a:avLst>
                <a:gd name="adj" fmla="val 56287"/>
              </a:avLst>
            </a:prstGeom>
            <a:solidFill>
              <a:srgbClr val="00B0F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dirty="0"/>
            </a:p>
          </p:txBody>
        </p:sp>
      </p:grpSp>
      <p:pic>
        <p:nvPicPr>
          <p:cNvPr id="9" name="Picture 8">
            <a:extLst>
              <a:ext uri="{FF2B5EF4-FFF2-40B4-BE49-F238E27FC236}">
                <a16:creationId xmlns:a16="http://schemas.microsoft.com/office/drawing/2014/main" id="{71AC416E-2AFD-44F1-BCCB-9C07DE0D022A}"/>
              </a:ext>
            </a:extLst>
          </p:cNvPr>
          <p:cNvPicPr>
            <a:picLocks noChangeAspect="1"/>
          </p:cNvPicPr>
          <p:nvPr/>
        </p:nvPicPr>
        <p:blipFill rotWithShape="1">
          <a:blip r:embed="rId5"/>
          <a:srcRect l="50323"/>
          <a:stretch/>
        </p:blipFill>
        <p:spPr>
          <a:xfrm>
            <a:off x="9182939" y="3194366"/>
            <a:ext cx="2566737" cy="3012426"/>
          </a:xfrm>
          <a:prstGeom prst="rect">
            <a:avLst/>
          </a:prstGeom>
        </p:spPr>
      </p:pic>
      <p:sp>
        <p:nvSpPr>
          <p:cNvPr id="10" name="Isosceles Triangle 9">
            <a:extLst>
              <a:ext uri="{FF2B5EF4-FFF2-40B4-BE49-F238E27FC236}">
                <a16:creationId xmlns:a16="http://schemas.microsoft.com/office/drawing/2014/main" id="{2BE959BC-4785-4F9C-A483-CA4817B545AB}"/>
              </a:ext>
            </a:extLst>
          </p:cNvPr>
          <p:cNvSpPr/>
          <p:nvPr/>
        </p:nvSpPr>
        <p:spPr>
          <a:xfrm rot="9347001">
            <a:off x="10082175" y="2672718"/>
            <a:ext cx="1140769" cy="1805000"/>
          </a:xfrm>
          <a:prstGeom prst="triangle">
            <a:avLst>
              <a:gd name="adj" fmla="val 88647"/>
            </a:avLst>
          </a:prstGeom>
          <a:solidFill>
            <a:srgbClr val="00B0F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dirty="0"/>
          </a:p>
        </p:txBody>
      </p:sp>
      <p:sp>
        <p:nvSpPr>
          <p:cNvPr id="11" name="TextBox 10">
            <a:extLst>
              <a:ext uri="{FF2B5EF4-FFF2-40B4-BE49-F238E27FC236}">
                <a16:creationId xmlns:a16="http://schemas.microsoft.com/office/drawing/2014/main" id="{959086FD-40CF-436A-883D-1C034DBA463C}"/>
              </a:ext>
            </a:extLst>
          </p:cNvPr>
          <p:cNvSpPr txBox="1"/>
          <p:nvPr/>
        </p:nvSpPr>
        <p:spPr>
          <a:xfrm>
            <a:off x="813516" y="2135142"/>
            <a:ext cx="6405431" cy="2119042"/>
          </a:xfrm>
          <a:prstGeom prst="rect">
            <a:avLst/>
          </a:prstGeom>
          <a:noFill/>
        </p:spPr>
        <p:txBody>
          <a:bodyPr wrap="square" rtlCol="0">
            <a:spAutoFit/>
          </a:bodyPr>
          <a:lstStyle/>
          <a:p>
            <a:pPr algn="thaiDist">
              <a:lnSpc>
                <a:spcPct val="150000"/>
              </a:lnSpc>
            </a:pPr>
            <a:r>
              <a:rPr lang="en-US" dirty="0"/>
              <a:t>We developed the proposed protocol using the MultiTech </a:t>
            </a:r>
            <a:r>
              <a:rPr lang="en-US" dirty="0" err="1"/>
              <a:t>mDot</a:t>
            </a:r>
            <a:r>
              <a:rPr lang="en-US" dirty="0"/>
              <a:t> module, which consists of a </a:t>
            </a:r>
            <a:r>
              <a:rPr lang="en-US" dirty="0" err="1"/>
              <a:t>Semtech</a:t>
            </a:r>
            <a:r>
              <a:rPr lang="en-US" dirty="0"/>
              <a:t> SX1272 </a:t>
            </a:r>
            <a:r>
              <a:rPr lang="en-US" dirty="0" err="1"/>
              <a:t>LoRa</a:t>
            </a:r>
            <a:r>
              <a:rPr lang="en-US" dirty="0"/>
              <a:t> transceiver (</a:t>
            </a:r>
            <a:r>
              <a:rPr lang="en-US" dirty="0" err="1"/>
              <a:t>Semtech</a:t>
            </a:r>
            <a:r>
              <a:rPr lang="en-US" dirty="0"/>
              <a:t>, Camarillo, CA, USA), and an STM32F411RET processor (STMicroelectronics, Geneva, Switzerland) based on </a:t>
            </a:r>
            <a:r>
              <a:rPr lang="en-US" dirty="0" err="1"/>
              <a:t>Mbed</a:t>
            </a:r>
            <a:r>
              <a:rPr lang="en-US" dirty="0"/>
              <a:t> OS.</a:t>
            </a:r>
          </a:p>
        </p:txBody>
      </p:sp>
    </p:spTree>
    <p:extLst>
      <p:ext uri="{BB962C8B-B14F-4D97-AF65-F5344CB8AC3E}">
        <p14:creationId xmlns:p14="http://schemas.microsoft.com/office/powerpoint/2010/main" val="34974505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parameters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457048"/>
          </a:xfrm>
          <a:prstGeom prst="rect">
            <a:avLst/>
          </a:prstGeom>
          <a:noFill/>
        </p:spPr>
        <p:txBody>
          <a:bodyPr wrap="square" rtlCol="0">
            <a:spAutoFit/>
          </a:bodyPr>
          <a:lstStyle/>
          <a:p>
            <a:pPr algn="thaiDist">
              <a:lnSpc>
                <a:spcPct val="150000"/>
              </a:lnSpc>
            </a:pPr>
            <a:r>
              <a:rPr lang="en-US" dirty="0"/>
              <a:t>we conducted an experiment by deploying 16 nodes with the set of parameters in Table 2.</a:t>
            </a:r>
          </a:p>
        </p:txBody>
      </p:sp>
      <p:pic>
        <p:nvPicPr>
          <p:cNvPr id="5" name="Picture 4">
            <a:extLst>
              <a:ext uri="{FF2B5EF4-FFF2-40B4-BE49-F238E27FC236}">
                <a16:creationId xmlns:a16="http://schemas.microsoft.com/office/drawing/2014/main" id="{F99ACA89-DB6D-42A1-B42D-7B55E7866D4A}"/>
              </a:ext>
            </a:extLst>
          </p:cNvPr>
          <p:cNvPicPr>
            <a:picLocks noChangeAspect="1"/>
          </p:cNvPicPr>
          <p:nvPr/>
        </p:nvPicPr>
        <p:blipFill>
          <a:blip r:embed="rId3"/>
          <a:stretch>
            <a:fillRect/>
          </a:stretch>
        </p:blipFill>
        <p:spPr>
          <a:xfrm>
            <a:off x="2411178" y="2836456"/>
            <a:ext cx="7369643" cy="1558226"/>
          </a:xfrm>
          <a:prstGeom prst="rect">
            <a:avLst/>
          </a:prstGeom>
        </p:spPr>
      </p:pic>
    </p:spTree>
    <p:extLst>
      <p:ext uri="{BB962C8B-B14F-4D97-AF65-F5344CB8AC3E}">
        <p14:creationId xmlns:p14="http://schemas.microsoft.com/office/powerpoint/2010/main" val="29322622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performance</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534540"/>
          </a:xfrm>
          <a:prstGeom prst="rect">
            <a:avLst/>
          </a:prstGeom>
          <a:noFill/>
        </p:spPr>
        <p:txBody>
          <a:bodyPr wrap="square" rtlCol="0">
            <a:spAutoFit/>
          </a:bodyPr>
          <a:lstStyle/>
          <a:p>
            <a:pPr algn="thaiDist">
              <a:lnSpc>
                <a:spcPct val="150000"/>
              </a:lnSpc>
            </a:pPr>
            <a:r>
              <a:rPr lang="en-US" dirty="0"/>
              <a:t>We measured the performance from a successful tree construction of the proposed protocol in terms of contention window size, successful data reception ratio at the sink after tree construction and the end-to-end (E2E) delay average.</a:t>
            </a:r>
          </a:p>
          <a:p>
            <a:pPr algn="thaiDist">
              <a:lnSpc>
                <a:spcPct val="150000"/>
              </a:lnSpc>
            </a:pPr>
            <a:r>
              <a:rPr lang="en-US" dirty="0"/>
              <a:t>The experiment was performed under the following scenario. </a:t>
            </a:r>
          </a:p>
          <a:p>
            <a:pPr algn="thaiDist">
              <a:lnSpc>
                <a:spcPct val="150000"/>
              </a:lnSpc>
            </a:pPr>
            <a:r>
              <a:rPr lang="en-US" dirty="0"/>
              <a:t>	Scenario: nodes are deployed on the university campus area (400 m × 400 m) as shown in Figure 14, and the density of the nodes is 1 node/10,000 m</a:t>
            </a:r>
            <a:r>
              <a:rPr lang="en-US" baseline="30000" dirty="0"/>
              <a:t>2</a:t>
            </a:r>
          </a:p>
        </p:txBody>
      </p:sp>
      <p:pic>
        <p:nvPicPr>
          <p:cNvPr id="7" name="Picture 6">
            <a:extLst>
              <a:ext uri="{FF2B5EF4-FFF2-40B4-BE49-F238E27FC236}">
                <a16:creationId xmlns:a16="http://schemas.microsoft.com/office/drawing/2014/main" id="{720DCAD8-976D-4B2F-B2B8-B2B1F1C5EC2F}"/>
              </a:ext>
            </a:extLst>
          </p:cNvPr>
          <p:cNvPicPr>
            <a:picLocks noChangeAspect="1"/>
          </p:cNvPicPr>
          <p:nvPr/>
        </p:nvPicPr>
        <p:blipFill rotWithShape="1">
          <a:blip r:embed="rId3"/>
          <a:srcRect l="283" r="36349"/>
          <a:stretch/>
        </p:blipFill>
        <p:spPr>
          <a:xfrm>
            <a:off x="6945839" y="4247535"/>
            <a:ext cx="2837258" cy="2610465"/>
          </a:xfrm>
          <a:prstGeom prst="rect">
            <a:avLst/>
          </a:prstGeom>
        </p:spPr>
      </p:pic>
    </p:spTree>
    <p:extLst>
      <p:ext uri="{BB962C8B-B14F-4D97-AF65-F5344CB8AC3E}">
        <p14:creationId xmlns:p14="http://schemas.microsoft.com/office/powerpoint/2010/main" val="3582678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result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Figure 15 shows the percentages of joined nodes after the NCP for 16 nodes when we increase the contention window size, the percentages of joined nodes as the NCP increased.</a:t>
            </a:r>
          </a:p>
        </p:txBody>
      </p:sp>
      <p:pic>
        <p:nvPicPr>
          <p:cNvPr id="4" name="Picture 3">
            <a:extLst>
              <a:ext uri="{FF2B5EF4-FFF2-40B4-BE49-F238E27FC236}">
                <a16:creationId xmlns:a16="http://schemas.microsoft.com/office/drawing/2014/main" id="{04E97FA3-A8E0-4689-BA6A-BFAC1399EA59}"/>
              </a:ext>
            </a:extLst>
          </p:cNvPr>
          <p:cNvPicPr>
            <a:picLocks noChangeAspect="1"/>
          </p:cNvPicPr>
          <p:nvPr/>
        </p:nvPicPr>
        <p:blipFill>
          <a:blip r:embed="rId3"/>
          <a:stretch>
            <a:fillRect/>
          </a:stretch>
        </p:blipFill>
        <p:spPr>
          <a:xfrm>
            <a:off x="2450744" y="3251955"/>
            <a:ext cx="7290511" cy="3503730"/>
          </a:xfrm>
          <a:prstGeom prst="rect">
            <a:avLst/>
          </a:prstGeom>
        </p:spPr>
      </p:pic>
    </p:spTree>
    <p:extLst>
      <p:ext uri="{BB962C8B-B14F-4D97-AF65-F5344CB8AC3E}">
        <p14:creationId xmlns:p14="http://schemas.microsoft.com/office/powerpoint/2010/main" val="27131128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result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119042"/>
          </a:xfrm>
          <a:prstGeom prst="rect">
            <a:avLst/>
          </a:prstGeom>
          <a:noFill/>
        </p:spPr>
        <p:txBody>
          <a:bodyPr wrap="square" rtlCol="0">
            <a:spAutoFit/>
          </a:bodyPr>
          <a:lstStyle/>
          <a:p>
            <a:pPr algn="thaiDist">
              <a:lnSpc>
                <a:spcPct val="150000"/>
              </a:lnSpc>
            </a:pPr>
            <a:r>
              <a:rPr lang="en-US" dirty="0"/>
              <a:t>The number of timeslots that the proposed protocol used is low because the proposed protocol allows parallel transmissions to minimize the number timeslots used by all nodes in the network; thus, the proposed protocol can increase the </a:t>
            </a:r>
            <a:r>
              <a:rPr lang="en-US" dirty="0" err="1"/>
              <a:t>LoRa</a:t>
            </a:r>
            <a:r>
              <a:rPr lang="en-US" dirty="0"/>
              <a:t> data rate. The result is better than the </a:t>
            </a:r>
            <a:r>
              <a:rPr lang="en-US" dirty="0" err="1"/>
              <a:t>LoRa</a:t>
            </a:r>
            <a:r>
              <a:rPr lang="en-US" dirty="0"/>
              <a:t> linear multi-hop protocol because the </a:t>
            </a:r>
            <a:r>
              <a:rPr lang="en-US" dirty="0" err="1"/>
              <a:t>LoRa</a:t>
            </a:r>
            <a:r>
              <a:rPr lang="en-US" dirty="0"/>
              <a:t> linear multi-hop protocol needs the same number of timeslots as there are nodes in the network.</a:t>
            </a:r>
          </a:p>
        </p:txBody>
      </p:sp>
      <p:pic>
        <p:nvPicPr>
          <p:cNvPr id="5" name="Picture 4">
            <a:extLst>
              <a:ext uri="{FF2B5EF4-FFF2-40B4-BE49-F238E27FC236}">
                <a16:creationId xmlns:a16="http://schemas.microsoft.com/office/drawing/2014/main" id="{E7325C2D-EE76-495F-9FAF-2C725E4097F4}"/>
              </a:ext>
            </a:extLst>
          </p:cNvPr>
          <p:cNvPicPr>
            <a:picLocks noChangeAspect="1"/>
          </p:cNvPicPr>
          <p:nvPr/>
        </p:nvPicPr>
        <p:blipFill>
          <a:blip r:embed="rId3"/>
          <a:stretch>
            <a:fillRect/>
          </a:stretch>
        </p:blipFill>
        <p:spPr>
          <a:xfrm>
            <a:off x="2680410" y="4518188"/>
            <a:ext cx="6831179" cy="1637656"/>
          </a:xfrm>
          <a:prstGeom prst="rect">
            <a:avLst/>
          </a:prstGeom>
        </p:spPr>
      </p:pic>
    </p:spTree>
    <p:extLst>
      <p:ext uri="{BB962C8B-B14F-4D97-AF65-F5344CB8AC3E}">
        <p14:creationId xmlns:p14="http://schemas.microsoft.com/office/powerpoint/2010/main" val="31692997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result</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872547"/>
          </a:xfrm>
          <a:prstGeom prst="rect">
            <a:avLst/>
          </a:prstGeom>
          <a:noFill/>
        </p:spPr>
        <p:txBody>
          <a:bodyPr wrap="square" rtlCol="0">
            <a:spAutoFit/>
          </a:bodyPr>
          <a:lstStyle/>
          <a:p>
            <a:pPr algn="thaiDist">
              <a:lnSpc>
                <a:spcPct val="150000"/>
              </a:lnSpc>
            </a:pPr>
            <a:r>
              <a:rPr lang="en-US" dirty="0"/>
              <a:t>The proposed protocol has a low E2E delay average because it uses parallel transmissions; therefore, the proposed protocol can be applied to low-latency applications.</a:t>
            </a:r>
          </a:p>
        </p:txBody>
      </p:sp>
      <p:pic>
        <p:nvPicPr>
          <p:cNvPr id="8" name="Picture 7">
            <a:extLst>
              <a:ext uri="{FF2B5EF4-FFF2-40B4-BE49-F238E27FC236}">
                <a16:creationId xmlns:a16="http://schemas.microsoft.com/office/drawing/2014/main" id="{6565ED73-580E-4D5F-A0E6-D3EAF6581730}"/>
              </a:ext>
            </a:extLst>
          </p:cNvPr>
          <p:cNvPicPr>
            <a:picLocks noChangeAspect="1"/>
          </p:cNvPicPr>
          <p:nvPr/>
        </p:nvPicPr>
        <p:blipFill>
          <a:blip r:embed="rId3"/>
          <a:stretch>
            <a:fillRect/>
          </a:stretch>
        </p:blipFill>
        <p:spPr>
          <a:xfrm>
            <a:off x="2693459" y="3604434"/>
            <a:ext cx="6805081" cy="1598509"/>
          </a:xfrm>
          <a:prstGeom prst="rect">
            <a:avLst/>
          </a:prstGeom>
        </p:spPr>
      </p:pic>
    </p:spTree>
    <p:extLst>
      <p:ext uri="{BB962C8B-B14F-4D97-AF65-F5344CB8AC3E}">
        <p14:creationId xmlns:p14="http://schemas.microsoft.com/office/powerpoint/2010/main" val="79387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Conclusions</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2135142"/>
            <a:ext cx="10564968" cy="2950038"/>
          </a:xfrm>
          <a:prstGeom prst="rect">
            <a:avLst/>
          </a:prstGeom>
          <a:noFill/>
        </p:spPr>
        <p:txBody>
          <a:bodyPr wrap="square" rtlCol="0">
            <a:spAutoFit/>
          </a:bodyPr>
          <a:lstStyle/>
          <a:p>
            <a:pPr marL="285750" indent="-285750" algn="thaiDist">
              <a:lnSpc>
                <a:spcPct val="150000"/>
              </a:lnSpc>
              <a:buFont typeface="Arial" panose="020B0604020202020204" pitchFamily="34" charset="0"/>
              <a:buChar char="•"/>
            </a:pPr>
            <a:r>
              <a:rPr lang="en-US" dirty="0"/>
              <a:t>This protocol is more suitable for </a:t>
            </a:r>
            <a:r>
              <a:rPr lang="en-US" dirty="0" err="1"/>
              <a:t>LoRa</a:t>
            </a:r>
            <a:r>
              <a:rPr lang="en-US" dirty="0"/>
              <a:t> communication technology because the time we transmit a packet is much longer than with other technologies in WSNs.</a:t>
            </a:r>
          </a:p>
          <a:p>
            <a:pPr marL="285750" indent="-285750" algn="thaiDist">
              <a:lnSpc>
                <a:spcPct val="150000"/>
              </a:lnSpc>
              <a:buFont typeface="Arial" panose="020B0604020202020204" pitchFamily="34" charset="0"/>
              <a:buChar char="•"/>
            </a:pPr>
            <a:r>
              <a:rPr lang="en-US" dirty="0"/>
              <a:t>In the proposed protocol, each node can transmit data reliably by eliminating data packet collisions with neighbor nodes.</a:t>
            </a:r>
          </a:p>
          <a:p>
            <a:pPr marL="285750" indent="-285750" algn="thaiDist">
              <a:lnSpc>
                <a:spcPct val="150000"/>
              </a:lnSpc>
              <a:buFont typeface="Arial" panose="020B0604020202020204" pitchFamily="34" charset="0"/>
              <a:buChar char="•"/>
            </a:pPr>
            <a:r>
              <a:rPr lang="en-US" dirty="0"/>
              <a:t>The experiments demonstrate that the proposed protocol has high data reliability and low latency.</a:t>
            </a:r>
          </a:p>
          <a:p>
            <a:pPr marL="285750" indent="-285750" algn="thaiDist">
              <a:lnSpc>
                <a:spcPct val="150000"/>
              </a:lnSpc>
              <a:buFont typeface="Arial" panose="020B0604020202020204" pitchFamily="34" charset="0"/>
              <a:buChar char="•"/>
            </a:pPr>
            <a:r>
              <a:rPr lang="en-US" dirty="0"/>
              <a:t>In future research, we will analyze the energy consumption of our protocol, and improve its performance in terms of energy consumption.</a:t>
            </a:r>
          </a:p>
        </p:txBody>
      </p:sp>
    </p:spTree>
    <p:extLst>
      <p:ext uri="{BB962C8B-B14F-4D97-AF65-F5344CB8AC3E}">
        <p14:creationId xmlns:p14="http://schemas.microsoft.com/office/powerpoint/2010/main" val="40593433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emtech_SX1272_f">
            <a:extLst>
              <a:ext uri="{FF2B5EF4-FFF2-40B4-BE49-F238E27FC236}">
                <a16:creationId xmlns:a16="http://schemas.microsoft.com/office/drawing/2014/main" id="{62D178E3-9156-497F-A1F0-E90B14BFF1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05827" y="1673351"/>
            <a:ext cx="2857500" cy="28575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Data Transmission in the Proposed Protocol</a:t>
            </a:r>
            <a:endParaRPr lang="th-TH" dirty="0">
              <a:solidFill>
                <a:schemeClr val="tx1"/>
              </a:solidFill>
            </a:endParaRPr>
          </a:p>
        </p:txBody>
      </p:sp>
      <p:sp>
        <p:nvSpPr>
          <p:cNvPr id="6" name="TextBox 5">
            <a:extLst>
              <a:ext uri="{FF2B5EF4-FFF2-40B4-BE49-F238E27FC236}">
                <a16:creationId xmlns:a16="http://schemas.microsoft.com/office/drawing/2014/main" id="{D6600F39-D50B-40E0-B05C-4BA417758BE0}"/>
              </a:ext>
            </a:extLst>
          </p:cNvPr>
          <p:cNvSpPr txBox="1"/>
          <p:nvPr/>
        </p:nvSpPr>
        <p:spPr>
          <a:xfrm>
            <a:off x="813516" y="4530851"/>
            <a:ext cx="10564968" cy="1287917"/>
          </a:xfrm>
          <a:prstGeom prst="rect">
            <a:avLst/>
          </a:prstGeom>
          <a:noFill/>
        </p:spPr>
        <p:txBody>
          <a:bodyPr wrap="square" rtlCol="0">
            <a:spAutoFit/>
          </a:bodyPr>
          <a:lstStyle/>
          <a:p>
            <a:pPr algn="thaiDist">
              <a:lnSpc>
                <a:spcPct val="150000"/>
              </a:lnSpc>
            </a:pPr>
            <a:r>
              <a:rPr lang="en-US" dirty="0"/>
              <a:t>An SX1272 </a:t>
            </a:r>
            <a:r>
              <a:rPr lang="en-US" dirty="0" err="1"/>
              <a:t>LoRa</a:t>
            </a:r>
            <a:r>
              <a:rPr lang="en-US" dirty="0"/>
              <a:t> transceiver has a maximum Rx buffer of 256B.</a:t>
            </a:r>
          </a:p>
          <a:p>
            <a:pPr algn="thaiDist">
              <a:lnSpc>
                <a:spcPct val="150000"/>
              </a:lnSpc>
            </a:pPr>
            <a:r>
              <a:rPr lang="en-US" dirty="0"/>
              <a:t>To allow data aggregation, we restrict the degree (d) and depth (m) of the tree as follows: d × m ≤ ⌊256/L⌋, where L is the size of the data generated in each node.</a:t>
            </a:r>
          </a:p>
        </p:txBody>
      </p:sp>
      <p:pic>
        <p:nvPicPr>
          <p:cNvPr id="3074" name="Picture 2" descr="MultiTech Developer Resources » mDot">
            <a:extLst>
              <a:ext uri="{FF2B5EF4-FFF2-40B4-BE49-F238E27FC236}">
                <a16:creationId xmlns:a16="http://schemas.microsoft.com/office/drawing/2014/main" id="{DF4398B7-F51E-4011-A4B0-EA23A93842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63327" y="2256022"/>
            <a:ext cx="3429000" cy="2076450"/>
          </a:xfrm>
          <a:prstGeom prst="rect">
            <a:avLst/>
          </a:prstGeom>
          <a:noFill/>
          <a:extLst>
            <a:ext uri="{909E8E84-426E-40DD-AFC4-6F175D3DCCD1}">
              <a14:hiddenFill xmlns:a14="http://schemas.microsoft.com/office/drawing/2010/main">
                <a:solidFill>
                  <a:srgbClr val="FFFFFF"/>
                </a:solidFill>
              </a14:hiddenFill>
            </a:ext>
          </a:extLst>
        </p:spPr>
      </p:pic>
      <p:sp>
        <p:nvSpPr>
          <p:cNvPr id="3" name="Isosceles Triangle 2">
            <a:extLst>
              <a:ext uri="{FF2B5EF4-FFF2-40B4-BE49-F238E27FC236}">
                <a16:creationId xmlns:a16="http://schemas.microsoft.com/office/drawing/2014/main" id="{511C5811-8957-4756-AE97-BA8A20F29971}"/>
              </a:ext>
            </a:extLst>
          </p:cNvPr>
          <p:cNvSpPr/>
          <p:nvPr/>
        </p:nvSpPr>
        <p:spPr>
          <a:xfrm rot="5400000">
            <a:off x="4778856" y="2129877"/>
            <a:ext cx="1990393" cy="1985012"/>
          </a:xfrm>
          <a:prstGeom prst="triangle">
            <a:avLst>
              <a:gd name="adj" fmla="val 56287"/>
            </a:avLst>
          </a:prstGeom>
          <a:solidFill>
            <a:srgbClr val="00B0F0">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dirty="0"/>
          </a:p>
        </p:txBody>
      </p:sp>
    </p:spTree>
    <p:extLst>
      <p:ext uri="{BB962C8B-B14F-4D97-AF65-F5344CB8AC3E}">
        <p14:creationId xmlns:p14="http://schemas.microsoft.com/office/powerpoint/2010/main" val="3797471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9A03-1512-4369-9FE2-D698F3178988}"/>
              </a:ext>
            </a:extLst>
          </p:cNvPr>
          <p:cNvSpPr>
            <a:spLocks noGrp="1"/>
          </p:cNvSpPr>
          <p:nvPr>
            <p:ph type="title"/>
          </p:nvPr>
        </p:nvSpPr>
        <p:spPr/>
        <p:txBody>
          <a:bodyPr/>
          <a:lstStyle/>
          <a:p>
            <a:r>
              <a:rPr lang="en-US" dirty="0"/>
              <a:t>Data Transmission in the Proposed Protocol</a:t>
            </a:r>
            <a:endParaRPr lang="th-TH" dirty="0">
              <a:solidFill>
                <a:schemeClr val="tx1"/>
              </a:solidFill>
            </a:endParaRPr>
          </a:p>
        </p:txBody>
      </p:sp>
      <p:grpSp>
        <p:nvGrpSpPr>
          <p:cNvPr id="3" name="Group 2">
            <a:extLst>
              <a:ext uri="{FF2B5EF4-FFF2-40B4-BE49-F238E27FC236}">
                <a16:creationId xmlns:a16="http://schemas.microsoft.com/office/drawing/2014/main" id="{A5128D5E-3B06-4622-8F2D-2D02A09D03D8}"/>
              </a:ext>
            </a:extLst>
          </p:cNvPr>
          <p:cNvGrpSpPr/>
          <p:nvPr/>
        </p:nvGrpSpPr>
        <p:grpSpPr>
          <a:xfrm>
            <a:off x="4056108" y="2223081"/>
            <a:ext cx="4079783" cy="3638704"/>
            <a:chOff x="4842836" y="2848724"/>
            <a:chExt cx="2506328" cy="2235360"/>
          </a:xfrm>
        </p:grpSpPr>
        <p:pic>
          <p:nvPicPr>
            <p:cNvPr id="5" name="Picture 4">
              <a:extLst>
                <a:ext uri="{FF2B5EF4-FFF2-40B4-BE49-F238E27FC236}">
                  <a16:creationId xmlns:a16="http://schemas.microsoft.com/office/drawing/2014/main" id="{BA9FEE85-D606-4DC5-BCFD-ED91D3B5768A}"/>
                </a:ext>
              </a:extLst>
            </p:cNvPr>
            <p:cNvPicPr>
              <a:picLocks noChangeAspect="1"/>
            </p:cNvPicPr>
            <p:nvPr/>
          </p:nvPicPr>
          <p:blipFill rotWithShape="1">
            <a:blip r:embed="rId3"/>
            <a:srcRect b="11451"/>
            <a:stretch/>
          </p:blipFill>
          <p:spPr>
            <a:xfrm>
              <a:off x="4842836" y="2848724"/>
              <a:ext cx="2506328" cy="2235360"/>
            </a:xfrm>
            <a:prstGeom prst="rect">
              <a:avLst/>
            </a:prstGeom>
          </p:spPr>
        </p:pic>
        <p:cxnSp>
          <p:nvCxnSpPr>
            <p:cNvPr id="7" name="Straight Connector 6">
              <a:extLst>
                <a:ext uri="{FF2B5EF4-FFF2-40B4-BE49-F238E27FC236}">
                  <a16:creationId xmlns:a16="http://schemas.microsoft.com/office/drawing/2014/main" id="{C74ED233-92B2-4DB5-9318-764E4F04D620}"/>
                </a:ext>
              </a:extLst>
            </p:cNvPr>
            <p:cNvCxnSpPr/>
            <p:nvPr/>
          </p:nvCxnSpPr>
          <p:spPr>
            <a:xfrm flipH="1" flipV="1">
              <a:off x="6583680" y="3861570"/>
              <a:ext cx="182880" cy="346509"/>
            </a:xfrm>
            <a:prstGeom prst="line">
              <a:avLst/>
            </a:prstGeom>
            <a:ln w="19050"/>
          </p:spPr>
          <p:style>
            <a:lnRef idx="1">
              <a:schemeClr val="dk1"/>
            </a:lnRef>
            <a:fillRef idx="0">
              <a:schemeClr val="dk1"/>
            </a:fillRef>
            <a:effectRef idx="0">
              <a:schemeClr val="dk1"/>
            </a:effectRef>
            <a:fontRef idx="minor">
              <a:schemeClr val="tx1"/>
            </a:fontRef>
          </p:style>
        </p:cxnSp>
      </p:grpSp>
      <p:sp>
        <p:nvSpPr>
          <p:cNvPr id="4" name="TextBox 3">
            <a:extLst>
              <a:ext uri="{FF2B5EF4-FFF2-40B4-BE49-F238E27FC236}">
                <a16:creationId xmlns:a16="http://schemas.microsoft.com/office/drawing/2014/main" id="{3D128F0D-BDA1-4690-A6C0-89EC9E0EC37F}"/>
              </a:ext>
            </a:extLst>
          </p:cNvPr>
          <p:cNvSpPr txBox="1"/>
          <p:nvPr/>
        </p:nvSpPr>
        <p:spPr>
          <a:xfrm>
            <a:off x="5736657" y="2038415"/>
            <a:ext cx="1049153" cy="369332"/>
          </a:xfrm>
          <a:prstGeom prst="rect">
            <a:avLst/>
          </a:prstGeom>
          <a:noFill/>
        </p:spPr>
        <p:txBody>
          <a:bodyPr wrap="square" rtlCol="0">
            <a:spAutoFit/>
          </a:bodyPr>
          <a:lstStyle/>
          <a:p>
            <a:r>
              <a:rPr lang="en-US" dirty="0"/>
              <a:t>d:2, m:0</a:t>
            </a:r>
            <a:endParaRPr lang="th-TH" dirty="0"/>
          </a:p>
        </p:txBody>
      </p:sp>
      <p:sp>
        <p:nvSpPr>
          <p:cNvPr id="9" name="TextBox 8">
            <a:extLst>
              <a:ext uri="{FF2B5EF4-FFF2-40B4-BE49-F238E27FC236}">
                <a16:creationId xmlns:a16="http://schemas.microsoft.com/office/drawing/2014/main" id="{1CB6FDD8-C92E-441F-AE12-91EFD91FFFCE}"/>
              </a:ext>
            </a:extLst>
          </p:cNvPr>
          <p:cNvSpPr txBox="1"/>
          <p:nvPr/>
        </p:nvSpPr>
        <p:spPr>
          <a:xfrm>
            <a:off x="4687504" y="2883833"/>
            <a:ext cx="1049153" cy="369332"/>
          </a:xfrm>
          <a:prstGeom prst="rect">
            <a:avLst/>
          </a:prstGeom>
          <a:noFill/>
        </p:spPr>
        <p:txBody>
          <a:bodyPr wrap="square" rtlCol="0">
            <a:spAutoFit/>
          </a:bodyPr>
          <a:lstStyle/>
          <a:p>
            <a:r>
              <a:rPr lang="en-US" dirty="0"/>
              <a:t>d:2, m:1</a:t>
            </a:r>
            <a:endParaRPr lang="th-TH" dirty="0"/>
          </a:p>
        </p:txBody>
      </p:sp>
      <p:sp>
        <p:nvSpPr>
          <p:cNvPr id="10" name="TextBox 9">
            <a:extLst>
              <a:ext uri="{FF2B5EF4-FFF2-40B4-BE49-F238E27FC236}">
                <a16:creationId xmlns:a16="http://schemas.microsoft.com/office/drawing/2014/main" id="{AE6A119B-3758-41D2-8A78-3D62D0E18981}"/>
              </a:ext>
            </a:extLst>
          </p:cNvPr>
          <p:cNvSpPr txBox="1"/>
          <p:nvPr/>
        </p:nvSpPr>
        <p:spPr>
          <a:xfrm>
            <a:off x="6662956" y="2915115"/>
            <a:ext cx="1049153" cy="369332"/>
          </a:xfrm>
          <a:prstGeom prst="rect">
            <a:avLst/>
          </a:prstGeom>
          <a:noFill/>
        </p:spPr>
        <p:txBody>
          <a:bodyPr wrap="square" rtlCol="0">
            <a:spAutoFit/>
          </a:bodyPr>
          <a:lstStyle/>
          <a:p>
            <a:r>
              <a:rPr lang="en-US" dirty="0"/>
              <a:t>d:1, m:1</a:t>
            </a:r>
            <a:endParaRPr lang="th-TH" dirty="0"/>
          </a:p>
        </p:txBody>
      </p:sp>
      <p:sp>
        <p:nvSpPr>
          <p:cNvPr id="11" name="TextBox 10">
            <a:extLst>
              <a:ext uri="{FF2B5EF4-FFF2-40B4-BE49-F238E27FC236}">
                <a16:creationId xmlns:a16="http://schemas.microsoft.com/office/drawing/2014/main" id="{5A16788A-9446-4784-B769-58CD34D1A048}"/>
              </a:ext>
            </a:extLst>
          </p:cNvPr>
          <p:cNvSpPr txBox="1"/>
          <p:nvPr/>
        </p:nvSpPr>
        <p:spPr>
          <a:xfrm>
            <a:off x="4056108" y="4093035"/>
            <a:ext cx="1049153" cy="369332"/>
          </a:xfrm>
          <a:prstGeom prst="rect">
            <a:avLst/>
          </a:prstGeom>
          <a:noFill/>
        </p:spPr>
        <p:txBody>
          <a:bodyPr wrap="square" rtlCol="0">
            <a:spAutoFit/>
          </a:bodyPr>
          <a:lstStyle/>
          <a:p>
            <a:r>
              <a:rPr lang="en-US" dirty="0"/>
              <a:t>d:0, m:2</a:t>
            </a:r>
            <a:endParaRPr lang="th-TH" dirty="0"/>
          </a:p>
        </p:txBody>
      </p:sp>
      <p:sp>
        <p:nvSpPr>
          <p:cNvPr id="12" name="TextBox 11">
            <a:extLst>
              <a:ext uri="{FF2B5EF4-FFF2-40B4-BE49-F238E27FC236}">
                <a16:creationId xmlns:a16="http://schemas.microsoft.com/office/drawing/2014/main" id="{93440285-BB15-4D4F-8BCB-B86B64CDD49A}"/>
              </a:ext>
            </a:extLst>
          </p:cNvPr>
          <p:cNvSpPr txBox="1"/>
          <p:nvPr/>
        </p:nvSpPr>
        <p:spPr>
          <a:xfrm>
            <a:off x="5464951" y="4066498"/>
            <a:ext cx="1049153" cy="369332"/>
          </a:xfrm>
          <a:prstGeom prst="rect">
            <a:avLst/>
          </a:prstGeom>
          <a:noFill/>
        </p:spPr>
        <p:txBody>
          <a:bodyPr wrap="square" rtlCol="0">
            <a:spAutoFit/>
          </a:bodyPr>
          <a:lstStyle/>
          <a:p>
            <a:r>
              <a:rPr lang="en-US" dirty="0"/>
              <a:t>d:0, m:2</a:t>
            </a:r>
            <a:endParaRPr lang="th-TH" dirty="0"/>
          </a:p>
        </p:txBody>
      </p:sp>
      <p:sp>
        <p:nvSpPr>
          <p:cNvPr id="13" name="TextBox 12">
            <a:extLst>
              <a:ext uri="{FF2B5EF4-FFF2-40B4-BE49-F238E27FC236}">
                <a16:creationId xmlns:a16="http://schemas.microsoft.com/office/drawing/2014/main" id="{F38A4F54-3174-42AD-9B7F-60AA1909D2F8}"/>
              </a:ext>
            </a:extLst>
          </p:cNvPr>
          <p:cNvSpPr txBox="1"/>
          <p:nvPr/>
        </p:nvSpPr>
        <p:spPr>
          <a:xfrm>
            <a:off x="7132666" y="4048026"/>
            <a:ext cx="1049153" cy="369332"/>
          </a:xfrm>
          <a:prstGeom prst="rect">
            <a:avLst/>
          </a:prstGeom>
          <a:noFill/>
        </p:spPr>
        <p:txBody>
          <a:bodyPr wrap="square" rtlCol="0">
            <a:spAutoFit/>
          </a:bodyPr>
          <a:lstStyle/>
          <a:p>
            <a:r>
              <a:rPr lang="en-US" dirty="0"/>
              <a:t>d:0, m:2</a:t>
            </a:r>
            <a:endParaRPr lang="th-TH" dirty="0"/>
          </a:p>
        </p:txBody>
      </p:sp>
      <p:sp>
        <p:nvSpPr>
          <p:cNvPr id="15" name="TextBox 14">
            <a:extLst>
              <a:ext uri="{FF2B5EF4-FFF2-40B4-BE49-F238E27FC236}">
                <a16:creationId xmlns:a16="http://schemas.microsoft.com/office/drawing/2014/main" id="{B4D5F4D2-A211-4BC9-ACBE-95E7BA0A1697}"/>
              </a:ext>
            </a:extLst>
          </p:cNvPr>
          <p:cNvSpPr txBox="1"/>
          <p:nvPr/>
        </p:nvSpPr>
        <p:spPr>
          <a:xfrm>
            <a:off x="835588" y="2010507"/>
            <a:ext cx="1870439" cy="369332"/>
          </a:xfrm>
          <a:prstGeom prst="rect">
            <a:avLst/>
          </a:prstGeom>
          <a:noFill/>
          <a:ln>
            <a:solidFill>
              <a:schemeClr val="tx1"/>
            </a:solidFill>
          </a:ln>
        </p:spPr>
        <p:txBody>
          <a:bodyPr wrap="square">
            <a:spAutoFit/>
          </a:bodyPr>
          <a:lstStyle/>
          <a:p>
            <a:pPr algn="ctr"/>
            <a:r>
              <a:rPr lang="en-US" dirty="0"/>
              <a:t>d × m ≤ ⌊256/L⌋</a:t>
            </a:r>
            <a:endParaRPr lang="th-TH" dirty="0"/>
          </a:p>
        </p:txBody>
      </p:sp>
      <p:sp>
        <p:nvSpPr>
          <p:cNvPr id="16" name="TextBox 15">
            <a:extLst>
              <a:ext uri="{FF2B5EF4-FFF2-40B4-BE49-F238E27FC236}">
                <a16:creationId xmlns:a16="http://schemas.microsoft.com/office/drawing/2014/main" id="{C0AFC5A4-3057-4E91-9820-32B06F58DBED}"/>
              </a:ext>
            </a:extLst>
          </p:cNvPr>
          <p:cNvSpPr txBox="1"/>
          <p:nvPr/>
        </p:nvSpPr>
        <p:spPr>
          <a:xfrm>
            <a:off x="4475748" y="4932905"/>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
        <p:nvSpPr>
          <p:cNvPr id="22" name="TextBox 21">
            <a:extLst>
              <a:ext uri="{FF2B5EF4-FFF2-40B4-BE49-F238E27FC236}">
                <a16:creationId xmlns:a16="http://schemas.microsoft.com/office/drawing/2014/main" id="{D9731920-DFE9-4CA0-80BC-A0B669574CE1}"/>
              </a:ext>
            </a:extLst>
          </p:cNvPr>
          <p:cNvSpPr txBox="1"/>
          <p:nvPr/>
        </p:nvSpPr>
        <p:spPr>
          <a:xfrm>
            <a:off x="5719681" y="4928279"/>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
        <p:nvSpPr>
          <p:cNvPr id="23" name="TextBox 22">
            <a:extLst>
              <a:ext uri="{FF2B5EF4-FFF2-40B4-BE49-F238E27FC236}">
                <a16:creationId xmlns:a16="http://schemas.microsoft.com/office/drawing/2014/main" id="{9CF64774-7737-44D0-B510-AAD3F4870E8F}"/>
              </a:ext>
            </a:extLst>
          </p:cNvPr>
          <p:cNvSpPr txBox="1"/>
          <p:nvPr/>
        </p:nvSpPr>
        <p:spPr>
          <a:xfrm>
            <a:off x="6995373" y="4923602"/>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
        <p:nvSpPr>
          <p:cNvPr id="24" name="TextBox 23">
            <a:extLst>
              <a:ext uri="{FF2B5EF4-FFF2-40B4-BE49-F238E27FC236}">
                <a16:creationId xmlns:a16="http://schemas.microsoft.com/office/drawing/2014/main" id="{E2895D32-5607-458F-A765-D59BDEC82BE3}"/>
              </a:ext>
            </a:extLst>
          </p:cNvPr>
          <p:cNvSpPr txBox="1"/>
          <p:nvPr/>
        </p:nvSpPr>
        <p:spPr>
          <a:xfrm>
            <a:off x="7132666" y="3276022"/>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
        <p:nvSpPr>
          <p:cNvPr id="25" name="TextBox 24">
            <a:extLst>
              <a:ext uri="{FF2B5EF4-FFF2-40B4-BE49-F238E27FC236}">
                <a16:creationId xmlns:a16="http://schemas.microsoft.com/office/drawing/2014/main" id="{E32DC973-63F9-4463-AE86-16CDDB47AF61}"/>
              </a:ext>
            </a:extLst>
          </p:cNvPr>
          <p:cNvSpPr txBox="1"/>
          <p:nvPr/>
        </p:nvSpPr>
        <p:spPr>
          <a:xfrm>
            <a:off x="4263722" y="3203159"/>
            <a:ext cx="948088" cy="369332"/>
          </a:xfrm>
          <a:prstGeom prst="rect">
            <a:avLst/>
          </a:prstGeom>
          <a:noFill/>
          <a:ln>
            <a:solidFill>
              <a:srgbClr val="00B050"/>
            </a:solidFill>
          </a:ln>
        </p:spPr>
        <p:txBody>
          <a:bodyPr wrap="square">
            <a:spAutoFit/>
          </a:bodyPr>
          <a:lstStyle/>
          <a:p>
            <a:pPr algn="ctr"/>
            <a:r>
              <a:rPr lang="en-US" dirty="0">
                <a:solidFill>
                  <a:srgbClr val="00B050"/>
                </a:solidFill>
              </a:rPr>
              <a:t>L ≤ 128</a:t>
            </a:r>
            <a:endParaRPr lang="th-TH" dirty="0">
              <a:solidFill>
                <a:srgbClr val="00B050"/>
              </a:solidFill>
            </a:endParaRPr>
          </a:p>
        </p:txBody>
      </p:sp>
      <p:sp>
        <p:nvSpPr>
          <p:cNvPr id="26" name="TextBox 25">
            <a:extLst>
              <a:ext uri="{FF2B5EF4-FFF2-40B4-BE49-F238E27FC236}">
                <a16:creationId xmlns:a16="http://schemas.microsoft.com/office/drawing/2014/main" id="{7E90AE00-F603-42C1-AC0D-2DEE38A9CA7A}"/>
              </a:ext>
            </a:extLst>
          </p:cNvPr>
          <p:cNvSpPr txBox="1"/>
          <p:nvPr/>
        </p:nvSpPr>
        <p:spPr>
          <a:xfrm>
            <a:off x="4990907" y="2324285"/>
            <a:ext cx="948088" cy="369332"/>
          </a:xfrm>
          <a:prstGeom prst="rect">
            <a:avLst/>
          </a:prstGeom>
          <a:noFill/>
          <a:ln>
            <a:solidFill>
              <a:srgbClr val="00B050"/>
            </a:solidFill>
          </a:ln>
        </p:spPr>
        <p:txBody>
          <a:bodyPr wrap="square">
            <a:spAutoFit/>
          </a:bodyPr>
          <a:lstStyle/>
          <a:p>
            <a:pPr algn="ctr"/>
            <a:r>
              <a:rPr lang="en-US" dirty="0">
                <a:solidFill>
                  <a:srgbClr val="00B050"/>
                </a:solidFill>
              </a:rPr>
              <a:t>L ≤ 256</a:t>
            </a:r>
            <a:endParaRPr lang="th-TH" dirty="0">
              <a:solidFill>
                <a:srgbClr val="00B050"/>
              </a:solidFill>
            </a:endParaRPr>
          </a:p>
        </p:txBody>
      </p:sp>
    </p:spTree>
    <p:extLst>
      <p:ext uri="{BB962C8B-B14F-4D97-AF65-F5344CB8AC3E}">
        <p14:creationId xmlns:p14="http://schemas.microsoft.com/office/powerpoint/2010/main" val="28302493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62972-3449-42D1-8185-B4BEFD52AB44}"/>
              </a:ext>
            </a:extLst>
          </p:cNvPr>
          <p:cNvSpPr>
            <a:spLocks noGrp="1"/>
          </p:cNvSpPr>
          <p:nvPr>
            <p:ph type="title"/>
          </p:nvPr>
        </p:nvSpPr>
        <p:spPr/>
        <p:txBody>
          <a:bodyPr/>
          <a:lstStyle/>
          <a:p>
            <a:r>
              <a:rPr lang="en-US" dirty="0"/>
              <a:t>Title Lorem Ipsum Dolor Sit Amet</a:t>
            </a:r>
          </a:p>
        </p:txBody>
      </p:sp>
      <p:graphicFrame>
        <p:nvGraphicFramePr>
          <p:cNvPr id="4" name="Content Placeholder 2" descr="timeline">
            <a:extLst>
              <a:ext uri="{FF2B5EF4-FFF2-40B4-BE49-F238E27FC236}">
                <a16:creationId xmlns:a16="http://schemas.microsoft.com/office/drawing/2014/main" id="{FF3F0D82-0AA6-45C3-8367-955CBFA02ED6}"/>
              </a:ext>
            </a:extLst>
          </p:cNvPr>
          <p:cNvGraphicFramePr>
            <a:graphicFrameLocks noGrp="1"/>
          </p:cNvGraphicFramePr>
          <p:nvPr>
            <p:ph idx="1"/>
            <p:extLst>
              <p:ext uri="{D42A27DB-BD31-4B8C-83A1-F6EECF244321}">
                <p14:modId xmlns:p14="http://schemas.microsoft.com/office/powerpoint/2010/main" val="2834250016"/>
              </p:ext>
            </p:extLst>
          </p:nvPr>
        </p:nvGraphicFramePr>
        <p:xfrm>
          <a:off x="581025" y="2341563"/>
          <a:ext cx="11029950" cy="36337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784652"/>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289AE2-D2AE-49D1-AFAC-3A79F6794255}">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927BD4C1-B6B1-4715-ABF9-E660A51A4EA0}">
  <ds:schemaRefs>
    <ds:schemaRef ds:uri="http://schemas.microsoft.com/sharepoint/v3/contenttype/forms"/>
  </ds:schemaRefs>
</ds:datastoreItem>
</file>

<file path=customXml/itemProps3.xml><?xml version="1.0" encoding="utf-8"?>
<ds:datastoreItem xmlns:ds="http://schemas.openxmlformats.org/officeDocument/2006/customXml" ds:itemID="{41E7CA09-9778-4414-AE97-8064B12DA30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{4EA0FB54-D899-4B8B-989F-EC94098D0D13}tf33552983_win32</Template>
  <TotalTime>872</TotalTime>
  <Words>3356</Words>
  <Application>Microsoft Office PowerPoint</Application>
  <PresentationFormat>Widescreen</PresentationFormat>
  <Paragraphs>276</Paragraphs>
  <Slides>46</Slides>
  <Notes>32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Franklin Gothic Book</vt:lpstr>
      <vt:lpstr>Franklin Gothic Demi</vt:lpstr>
      <vt:lpstr>Wingdings</vt:lpstr>
      <vt:lpstr>Wingdings 2</vt:lpstr>
      <vt:lpstr>DividendVTI</vt:lpstr>
      <vt:lpstr>Multi-Hop LoRa Network Protocol with  Minimized Latency</vt:lpstr>
      <vt:lpstr>Introduction</vt:lpstr>
      <vt:lpstr>Introduction</vt:lpstr>
      <vt:lpstr>Introduction</vt:lpstr>
      <vt:lpstr>What is LoRa?</vt:lpstr>
      <vt:lpstr>challenge</vt:lpstr>
      <vt:lpstr>Objective</vt:lpstr>
      <vt:lpstr>scope of the study</vt:lpstr>
      <vt:lpstr>scope of the study</vt:lpstr>
      <vt:lpstr>Research methodology</vt:lpstr>
      <vt:lpstr>Minimized Latency Multi-hop LoRa Network Protocol</vt:lpstr>
      <vt:lpstr>Minimized Latency Multi-hop LoRa Network Protocol</vt:lpstr>
      <vt:lpstr>Minimized Latency Multi-hop LoRa Network Protocol</vt:lpstr>
      <vt:lpstr>Minimized Latency Multi-hop LoRa Network Protocol</vt:lpstr>
      <vt:lpstr>Minimized Latency Multi-hop LoRa Network Protocol</vt:lpstr>
      <vt:lpstr>Minimized Latency Multi-hop LoRa’s Key Aspects</vt:lpstr>
      <vt:lpstr>Network Construction Period (NCP)</vt:lpstr>
      <vt:lpstr>Network Construction Period (NCP)</vt:lpstr>
      <vt:lpstr>Network Construction Period (NCP)</vt:lpstr>
      <vt:lpstr>Network Construction Period (NCP)</vt:lpstr>
      <vt:lpstr>Network Construction Period (NCP)</vt:lpstr>
      <vt:lpstr>Network Construction Period (NCP)</vt:lpstr>
      <vt:lpstr>Example</vt:lpstr>
      <vt:lpstr>Example</vt:lpstr>
      <vt:lpstr>Packet Collision Avoidance Mechanism</vt:lpstr>
      <vt:lpstr>Packet Collision Avoidance Mechanism</vt:lpstr>
      <vt:lpstr>Timeslot and Channel Assignment </vt:lpstr>
      <vt:lpstr>Timeslot and Channel Assignment </vt:lpstr>
      <vt:lpstr>Timeslot and Channel Assignment </vt:lpstr>
      <vt:lpstr>Parent Choice Mechanism</vt:lpstr>
      <vt:lpstr>Parent Choice Mechanism</vt:lpstr>
      <vt:lpstr>Parent Choice Mechanism</vt:lpstr>
      <vt:lpstr>Data Transmission in the Proposed Protocol</vt:lpstr>
      <vt:lpstr>REDUCE command packet</vt:lpstr>
      <vt:lpstr>Resynchronize Time Mechanism</vt:lpstr>
      <vt:lpstr>Resynchronize Time Mechanism</vt:lpstr>
      <vt:lpstr>Experiment Evaluation</vt:lpstr>
      <vt:lpstr>parameters</vt:lpstr>
      <vt:lpstr>performance</vt:lpstr>
      <vt:lpstr>result</vt:lpstr>
      <vt:lpstr>result</vt:lpstr>
      <vt:lpstr>result</vt:lpstr>
      <vt:lpstr>Conclusions</vt:lpstr>
      <vt:lpstr>Data Transmission in the Proposed Protocol</vt:lpstr>
      <vt:lpstr>Data Transmission in the Proposed Protocol</vt:lpstr>
      <vt:lpstr>Title Lorem Ipsum Dolor Sit Amet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Multi-Hop LoRa Network Protocol with Minimized Latency</dc:title>
  <dc:creator>WANARUT BOONYUNG</dc:creator>
  <cp:lastModifiedBy>WANARUT BOONYUNG</cp:lastModifiedBy>
  <cp:revision>154</cp:revision>
  <dcterms:created xsi:type="dcterms:W3CDTF">2020-11-05T11:45:38Z</dcterms:created>
  <dcterms:modified xsi:type="dcterms:W3CDTF">2020-11-26T14:26:01Z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
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59"/>
  </p:notesMasterIdLst>
  <p:sldIdLst>
    <p:sldId id="257" r:id="rId5"/>
    <p:sldId id="260" r:id="rId6"/>
    <p:sldId id="308" r:id="rId7"/>
    <p:sldId id="309" r:id="rId8"/>
    <p:sldId id="312" r:id="rId9"/>
    <p:sldId id="314" r:id="rId10"/>
    <p:sldId id="315" r:id="rId11"/>
    <p:sldId id="322" r:id="rId12"/>
    <p:sldId id="313" r:id="rId13"/>
    <p:sldId id="316" r:id="rId14"/>
    <p:sldId id="318" r:id="rId15"/>
    <p:sldId id="317" r:id="rId16"/>
    <p:sldId id="310" r:id="rId17"/>
    <p:sldId id="319" r:id="rId18"/>
    <p:sldId id="267" r:id="rId19"/>
    <p:sldId id="358" r:id="rId20"/>
    <p:sldId id="356" r:id="rId21"/>
    <p:sldId id="359" r:id="rId22"/>
    <p:sldId id="357" r:id="rId23"/>
    <p:sldId id="360" r:id="rId24"/>
    <p:sldId id="263" r:id="rId25"/>
    <p:sldId id="324" r:id="rId26"/>
    <p:sldId id="323" r:id="rId27"/>
    <p:sldId id="320" r:id="rId28"/>
    <p:sldId id="321" r:id="rId29"/>
    <p:sldId id="334" r:id="rId30"/>
    <p:sldId id="325" r:id="rId31"/>
    <p:sldId id="326" r:id="rId32"/>
    <p:sldId id="327" r:id="rId33"/>
    <p:sldId id="328" r:id="rId34"/>
    <p:sldId id="329" r:id="rId35"/>
    <p:sldId id="330" r:id="rId36"/>
    <p:sldId id="333" r:id="rId37"/>
    <p:sldId id="331" r:id="rId38"/>
    <p:sldId id="332" r:id="rId39"/>
    <p:sldId id="335" r:id="rId40"/>
    <p:sldId id="341" r:id="rId41"/>
    <p:sldId id="337" r:id="rId42"/>
    <p:sldId id="336" r:id="rId43"/>
    <p:sldId id="342" r:id="rId44"/>
    <p:sldId id="340" r:id="rId45"/>
    <p:sldId id="338" r:id="rId46"/>
    <p:sldId id="344" r:id="rId47"/>
    <p:sldId id="345" r:id="rId48"/>
    <p:sldId id="347" r:id="rId49"/>
    <p:sldId id="346" r:id="rId50"/>
    <p:sldId id="349" r:id="rId51"/>
    <p:sldId id="348" r:id="rId52"/>
    <p:sldId id="350" r:id="rId53"/>
    <p:sldId id="352" r:id="rId54"/>
    <p:sldId id="353" r:id="rId55"/>
    <p:sldId id="354" r:id="rId56"/>
    <p:sldId id="351" r:id="rId57"/>
    <p:sldId id="355"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171"/>
    <a:srgbClr val="FF5050"/>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25" autoAdjust="0"/>
    <p:restoredTop sz="87333" autoAdjust="0"/>
  </p:normalViewPr>
  <p:slideViewPr>
    <p:cSldViewPr snapToGrid="0">
      <p:cViewPr varScale="1">
        <p:scale>
          <a:sx n="99" d="100"/>
          <a:sy n="99" d="100"/>
        </p:scale>
        <p:origin x="85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ECE35-052C-4519-883A-20811486312B}" type="datetimeFigureOut">
              <a:rPr lang="th-TH" smtClean="0"/>
              <a:t>09/02/64</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690C6-3487-4A2A-A435-A96B59A0BF17}" type="slidenum">
              <a:rPr lang="th-TH" smtClean="0"/>
              <a:t>‹#›</a:t>
            </a:fld>
            <a:endParaRPr lang="th-TH"/>
          </a:p>
        </p:txBody>
      </p:sp>
    </p:spTree>
    <p:extLst>
      <p:ext uri="{BB962C8B-B14F-4D97-AF65-F5344CB8AC3E}">
        <p14:creationId xmlns:p14="http://schemas.microsoft.com/office/powerpoint/2010/main" val="816253733"/>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a:t>
            </a:fld>
            <a:endParaRPr lang="th-TH"/>
          </a:p>
        </p:txBody>
      </p:sp>
    </p:spTree>
    <p:extLst>
      <p:ext uri="{BB962C8B-B14F-4D97-AF65-F5344CB8AC3E}">
        <p14:creationId xmlns:p14="http://schemas.microsoft.com/office/powerpoint/2010/main" val="10038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11111"/>
                </a:solidFill>
                <a:effectLst/>
                <a:latin typeface="Open Sans"/>
              </a:rPr>
              <a:t>When we go grocery shopping, we often have a standard list of things to buy. Each shopper has a distinctive list, depending on one’s needs and preferences. A housewife might buy healthy ingredients for a family dinner, while a bachelor might buy beer and chips. If we can understand these buying patterns. It can help to increase sales in several ways. If there is a pair of items, X and Y, that are frequently bought together.</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a:t>
            </a:fld>
            <a:endParaRPr lang="th-TH"/>
          </a:p>
        </p:txBody>
      </p:sp>
    </p:spTree>
    <p:extLst>
      <p:ext uri="{BB962C8B-B14F-4D97-AF65-F5344CB8AC3E}">
        <p14:creationId xmlns:p14="http://schemas.microsoft.com/office/powerpoint/2010/main" val="21829958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having Y in flavors of X.</a:t>
            </a:r>
          </a:p>
        </p:txBody>
      </p:sp>
      <p:sp>
        <p:nvSpPr>
          <p:cNvPr id="4" name="Slide Number Placeholder 3"/>
          <p:cNvSpPr>
            <a:spLocks noGrp="1"/>
          </p:cNvSpPr>
          <p:nvPr>
            <p:ph type="sldNum" sz="quarter" idx="5"/>
          </p:nvPr>
        </p:nvSpPr>
        <p:spPr/>
        <p:txBody>
          <a:bodyPr/>
          <a:lstStyle/>
          <a:p>
            <a:fld id="{7A6690C6-3487-4A2A-A435-A96B59A0BF17}" type="slidenum">
              <a:rPr lang="th-TH" smtClean="0"/>
              <a:t>3</a:t>
            </a:fld>
            <a:endParaRPr lang="th-TH"/>
          </a:p>
        </p:txBody>
      </p:sp>
    </p:spTree>
    <p:extLst>
      <p:ext uri="{BB962C8B-B14F-4D97-AF65-F5344CB8AC3E}">
        <p14:creationId xmlns:p14="http://schemas.microsoft.com/office/powerpoint/2010/main" val="2941325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a:t>
            </a:fld>
            <a:endParaRPr lang="th-TH"/>
          </a:p>
        </p:txBody>
      </p:sp>
    </p:spTree>
    <p:extLst>
      <p:ext uri="{BB962C8B-B14F-4D97-AF65-F5344CB8AC3E}">
        <p14:creationId xmlns:p14="http://schemas.microsoft.com/office/powerpoint/2010/main" val="3416276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a:t>
            </a:fld>
            <a:endParaRPr lang="th-TH"/>
          </a:p>
        </p:txBody>
      </p:sp>
    </p:spTree>
    <p:extLst>
      <p:ext uri="{BB962C8B-B14F-4D97-AF65-F5344CB8AC3E}">
        <p14:creationId xmlns:p14="http://schemas.microsoft.com/office/powerpoint/2010/main" val="1395574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6</a:t>
            </a:fld>
            <a:endParaRPr lang="th-TH"/>
          </a:p>
        </p:txBody>
      </p:sp>
    </p:spTree>
    <p:extLst>
      <p:ext uri="{BB962C8B-B14F-4D97-AF65-F5344CB8AC3E}">
        <p14:creationId xmlns:p14="http://schemas.microsoft.com/office/powerpoint/2010/main" val="17579022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7</a:t>
            </a:fld>
            <a:endParaRPr lang="th-TH"/>
          </a:p>
        </p:txBody>
      </p:sp>
    </p:spTree>
    <p:extLst>
      <p:ext uri="{BB962C8B-B14F-4D97-AF65-F5344CB8AC3E}">
        <p14:creationId xmlns:p14="http://schemas.microsoft.com/office/powerpoint/2010/main" val="37298991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8</a:t>
            </a:fld>
            <a:endParaRPr lang="th-TH"/>
          </a:p>
        </p:txBody>
      </p:sp>
    </p:spTree>
    <p:extLst>
      <p:ext uri="{BB962C8B-B14F-4D97-AF65-F5344CB8AC3E}">
        <p14:creationId xmlns:p14="http://schemas.microsoft.com/office/powerpoint/2010/main" val="1729903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9</a:t>
            </a:fld>
            <a:endParaRPr lang="th-TH"/>
          </a:p>
        </p:txBody>
      </p:sp>
    </p:spTree>
    <p:extLst>
      <p:ext uri="{BB962C8B-B14F-4D97-AF65-F5344CB8AC3E}">
        <p14:creationId xmlns:p14="http://schemas.microsoft.com/office/powerpoint/2010/main" val="1418131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10</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11</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12</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13</a:t>
            </a:fld>
            <a:endParaRPr lang="th-TH"/>
          </a:p>
        </p:txBody>
      </p:sp>
    </p:spTree>
    <p:extLst>
      <p:ext uri="{BB962C8B-B14F-4D97-AF65-F5344CB8AC3E}">
        <p14:creationId xmlns:p14="http://schemas.microsoft.com/office/powerpoint/2010/main" val="24172059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14</a:t>
            </a:fld>
            <a:endParaRPr lang="th-TH"/>
          </a:p>
        </p:txBody>
      </p:sp>
    </p:spTree>
    <p:extLst>
      <p:ext uri="{BB962C8B-B14F-4D97-AF65-F5344CB8AC3E}">
        <p14:creationId xmlns:p14="http://schemas.microsoft.com/office/powerpoint/2010/main" val="32278948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17</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19</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20</a:t>
            </a:fld>
            <a:endParaRPr lang="th-TH"/>
          </a:p>
        </p:txBody>
      </p:sp>
    </p:spTree>
    <p:extLst>
      <p:ext uri="{BB962C8B-B14F-4D97-AF65-F5344CB8AC3E}">
        <p14:creationId xmlns:p14="http://schemas.microsoft.com/office/powerpoint/2010/main" val="651509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21</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22</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23</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24</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25</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26</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27</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28</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29</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30</a:t>
            </a:fld>
            <a:endParaRPr lang="th-TH"/>
          </a:p>
        </p:txBody>
      </p:sp>
    </p:spTree>
    <p:extLst>
      <p:ext uri="{BB962C8B-B14F-4D97-AF65-F5344CB8AC3E}">
        <p14:creationId xmlns:p14="http://schemas.microsoft.com/office/powerpoint/2010/main" val="34469732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31</a:t>
            </a:fld>
            <a:endParaRPr lang="th-TH"/>
          </a:p>
        </p:txBody>
      </p:sp>
    </p:spTree>
    <p:extLst>
      <p:ext uri="{BB962C8B-B14F-4D97-AF65-F5344CB8AC3E}">
        <p14:creationId xmlns:p14="http://schemas.microsoft.com/office/powerpoint/2010/main" val="25155361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32</a:t>
            </a:fld>
            <a:endParaRPr lang="th-TH"/>
          </a:p>
        </p:txBody>
      </p:sp>
    </p:spTree>
    <p:extLst>
      <p:ext uri="{BB962C8B-B14F-4D97-AF65-F5344CB8AC3E}">
        <p14:creationId xmlns:p14="http://schemas.microsoft.com/office/powerpoint/2010/main" val="25615028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33</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34</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35</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36</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37</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39</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40</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41</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42</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43</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44</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45</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46</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47</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49</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50</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51</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52</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53</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54</a:t>
            </a:fld>
            <a:endParaRPr lang="th-TH"/>
          </a:p>
        </p:txBody>
      </p:sp>
    </p:spTree>
    <p:extLst>
      <p:ext uri="{BB962C8B-B14F-4D97-AF65-F5344CB8AC3E}">
        <p14:creationId xmlns:p14="http://schemas.microsoft.com/office/powerpoint/2010/main" val="30941540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2/9/2021</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2/9/2021</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2/9/2021</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2/9/2021</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2/9/2021</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2/9/2021</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2/9/2021</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2/9/2021</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2/9/2021</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2/9/2021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2/9/2021</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2/9/2021</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fontScale="90000"/>
          </a:bodyPr>
          <a:lstStyle/>
          <a:p>
            <a:pPr algn="ctr"/>
            <a:r>
              <a:rPr lang="en-US" sz="4000" cap="none" dirty="0">
                <a:solidFill>
                  <a:schemeClr val="tx1"/>
                </a:solidFill>
                <a:latin typeface="+mn-lt"/>
              </a:rPr>
              <a:t>Parallel multi-objective optimization for association rules problem with CPU and GPU acceleration</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646331"/>
          </a:xfrm>
          <a:prstGeom prst="rect">
            <a:avLst/>
          </a:prstGeom>
          <a:noFill/>
        </p:spPr>
        <p:txBody>
          <a:bodyPr wrap="square" rtlCol="0">
            <a:spAutoFit/>
          </a:bodyPr>
          <a:lstStyle/>
          <a:p>
            <a:pPr algn="ctr"/>
            <a:r>
              <a:rPr lang="en-US" dirty="0" err="1"/>
              <a:t>Wanarut</a:t>
            </a:r>
            <a:r>
              <a:rPr lang="en-US" dirty="0"/>
              <a:t>	</a:t>
            </a:r>
            <a:r>
              <a:rPr lang="en-US" dirty="0" err="1"/>
              <a:t>Boonyung</a:t>
            </a:r>
            <a:endParaRPr lang="en-US" dirty="0"/>
          </a:p>
          <a:p>
            <a:pPr algn="ctr"/>
            <a:r>
              <a:rPr lang="en-US" dirty="0"/>
              <a:t>630631110</a:t>
            </a:r>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5943685C-CBB0-4FC9-BD10-474972673A66}"/>
              </a:ext>
            </a:extLst>
          </p:cNvPr>
          <p:cNvSpPr>
            <a:spLocks noGrp="1"/>
          </p:cNvSpPr>
          <p:nvPr>
            <p:ph idx="1"/>
          </p:nvPr>
        </p:nvSpPr>
        <p:spPr/>
        <p:txBody>
          <a:bodyPr/>
          <a:lstStyle/>
          <a:p>
            <a:endParaRPr lang="th-TH" dirty="0"/>
          </a:p>
        </p:txBody>
      </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332396"/>
            <a:ext cx="10564968" cy="646331"/>
          </a:xfrm>
          <a:prstGeom prst="rect">
            <a:avLst/>
          </a:prstGeom>
          <a:noFill/>
        </p:spPr>
        <p:txBody>
          <a:bodyPr wrap="square" rtlCol="0">
            <a:spAutoFit/>
          </a:bodyPr>
          <a:lstStyle/>
          <a:p>
            <a:pPr algn="thaiDist"/>
            <a:r>
              <a:rPr lang="en-US" b="0" i="0" dirty="0">
                <a:solidFill>
                  <a:srgbClr val="111111"/>
                </a:solidFill>
                <a:effectLst/>
                <a:latin typeface="Open Sans"/>
              </a:rPr>
              <a:t>	When we go grocery shopping, we often have a standard list of things to buy. If we can understand these buying patterns. It can help to increase sales in several ways.</a:t>
            </a:r>
            <a:endParaRPr lang="th-TH" dirty="0"/>
          </a:p>
        </p:txBody>
      </p:sp>
      <p:pic>
        <p:nvPicPr>
          <p:cNvPr id="2050" name="Picture 2" descr="Image result for supermarket">
            <a:extLst>
              <a:ext uri="{FF2B5EF4-FFF2-40B4-BE49-F238E27FC236}">
                <a16:creationId xmlns:a16="http://schemas.microsoft.com/office/drawing/2014/main" id="{071D47FF-B59D-4A9D-BFF7-7D5E840C1D8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699" b="42520"/>
          <a:stretch/>
        </p:blipFill>
        <p:spPr bwMode="auto">
          <a:xfrm>
            <a:off x="0" y="1992429"/>
            <a:ext cx="12192000" cy="2974696"/>
          </a:xfrm>
          <a:prstGeom prst="rect">
            <a:avLst/>
          </a:prstGeom>
          <a:noFill/>
          <a:extLst>
            <a:ext uri="{909E8E84-426E-40DD-AFC4-6F175D3DCCD1}">
              <a14:hiddenFill xmlns:a14="http://schemas.microsoft.com/office/drawing/2010/main">
                <a:solidFill>
                  <a:srgbClr val="FFFFFF"/>
                </a:solidFill>
              </a14:hiddenFill>
            </a:ext>
          </a:extLst>
        </p:spPr>
      </p:pic>
      <p:sp>
        <p:nvSpPr>
          <p:cNvPr id="3" name="Speech Bubble: Rectangle 2">
            <a:extLst>
              <a:ext uri="{FF2B5EF4-FFF2-40B4-BE49-F238E27FC236}">
                <a16:creationId xmlns:a16="http://schemas.microsoft.com/office/drawing/2014/main" id="{BCEC3D37-7FAD-4606-9411-D1E03738A99F}"/>
              </a:ext>
            </a:extLst>
          </p:cNvPr>
          <p:cNvSpPr/>
          <p:nvPr/>
        </p:nvSpPr>
        <p:spPr>
          <a:xfrm>
            <a:off x="6901313" y="1203158"/>
            <a:ext cx="770021" cy="933650"/>
          </a:xfrm>
          <a:prstGeom prst="wedgeRectCallout">
            <a:avLst>
              <a:gd name="adj1" fmla="val 77381"/>
              <a:gd name="adj2" fmla="val 52686"/>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-Bean</a:t>
            </a:r>
          </a:p>
          <a:p>
            <a:r>
              <a:rPr lang="en-US" sz="1200" b="0" i="0" dirty="0">
                <a:solidFill>
                  <a:srgbClr val="111111"/>
                </a:solidFill>
                <a:effectLst/>
                <a:latin typeface="Open Sans"/>
              </a:rPr>
              <a:t>-Rice</a:t>
            </a:r>
          </a:p>
          <a:p>
            <a:r>
              <a:rPr lang="en-US" sz="1200" dirty="0">
                <a:solidFill>
                  <a:srgbClr val="111111"/>
                </a:solidFill>
                <a:latin typeface="Open Sans"/>
              </a:rPr>
              <a:t>-Onions</a:t>
            </a:r>
          </a:p>
          <a:p>
            <a:r>
              <a:rPr lang="en-US" sz="1200" dirty="0">
                <a:solidFill>
                  <a:srgbClr val="111111"/>
                </a:solidFill>
                <a:latin typeface="Open Sans"/>
              </a:rPr>
              <a:t>-Milk</a:t>
            </a:r>
            <a:endParaRPr lang="th-TH" sz="1200" dirty="0"/>
          </a:p>
        </p:txBody>
      </p:sp>
      <p:sp>
        <p:nvSpPr>
          <p:cNvPr id="7" name="Speech Bubble: Rectangle 6">
            <a:extLst>
              <a:ext uri="{FF2B5EF4-FFF2-40B4-BE49-F238E27FC236}">
                <a16:creationId xmlns:a16="http://schemas.microsoft.com/office/drawing/2014/main" id="{87EB45AB-7C4D-47F7-A138-A5BEC8CD9DCA}"/>
              </a:ext>
            </a:extLst>
          </p:cNvPr>
          <p:cNvSpPr/>
          <p:nvPr/>
        </p:nvSpPr>
        <p:spPr>
          <a:xfrm>
            <a:off x="9394257" y="1525604"/>
            <a:ext cx="662540" cy="933650"/>
          </a:xfrm>
          <a:prstGeom prst="wedgeRectCallout">
            <a:avLst>
              <a:gd name="adj1" fmla="val -42421"/>
              <a:gd name="adj2" fmla="val 90524"/>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-Beer</a:t>
            </a:r>
          </a:p>
          <a:p>
            <a:r>
              <a:rPr lang="en-US" sz="1200" b="0" i="0" dirty="0">
                <a:solidFill>
                  <a:srgbClr val="111111"/>
                </a:solidFill>
                <a:effectLst/>
                <a:latin typeface="Open Sans"/>
              </a:rPr>
              <a:t>-Chips</a:t>
            </a:r>
          </a:p>
          <a:p>
            <a:r>
              <a:rPr lang="en-US" sz="1200" dirty="0">
                <a:solidFill>
                  <a:srgbClr val="111111"/>
                </a:solidFill>
                <a:latin typeface="Open Sans"/>
              </a:rPr>
              <a:t>-Cake</a:t>
            </a:r>
            <a:endParaRPr lang="th-TH" sz="1200" dirty="0"/>
          </a:p>
        </p:txBody>
      </p:sp>
    </p:spTree>
    <p:extLst>
      <p:ext uri="{BB962C8B-B14F-4D97-AF65-F5344CB8AC3E}">
        <p14:creationId xmlns:p14="http://schemas.microsoft.com/office/powerpoint/2010/main" val="391737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C0DCF3-9078-42EE-900B-F9542F4D7819}"/>
              </a:ext>
            </a:extLst>
          </p:cNvPr>
          <p:cNvGrpSpPr/>
          <p:nvPr/>
        </p:nvGrpSpPr>
        <p:grpSpPr>
          <a:xfrm>
            <a:off x="6809966" y="2419066"/>
            <a:ext cx="5823794" cy="3487007"/>
            <a:chOff x="8304616" y="1306374"/>
            <a:chExt cx="3782202" cy="2264600"/>
          </a:xfrm>
        </p:grpSpPr>
        <p:pic>
          <p:nvPicPr>
            <p:cNvPr id="7170" name="Picture 2" descr="Image result for shelf supermarket">
              <a:extLst>
                <a:ext uri="{FF2B5EF4-FFF2-40B4-BE49-F238E27FC236}">
                  <a16:creationId xmlns:a16="http://schemas.microsoft.com/office/drawing/2014/main" id="{6B70D2DB-DAA2-4693-A06E-40D15B3DE2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302" b="57054"/>
            <a:stretch/>
          </p:blipFill>
          <p:spPr bwMode="auto">
            <a:xfrm>
              <a:off x="8304616" y="1992430"/>
              <a:ext cx="3782202" cy="1578544"/>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bread farmhouse">
              <a:extLst>
                <a:ext uri="{FF2B5EF4-FFF2-40B4-BE49-F238E27FC236}">
                  <a16:creationId xmlns:a16="http://schemas.microsoft.com/office/drawing/2014/main" id="{FE0CEA5B-C276-4AC5-A5E7-BB88943AD8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15414" y="1306374"/>
              <a:ext cx="1028762" cy="1607907"/>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Image result for butter png">
              <a:extLst>
                <a:ext uri="{FF2B5EF4-FFF2-40B4-BE49-F238E27FC236}">
                  <a16:creationId xmlns:a16="http://schemas.microsoft.com/office/drawing/2014/main" id="{7016D4E0-4BD8-4B98-B845-45C429AB9B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85659" y="2123787"/>
              <a:ext cx="803044" cy="657915"/>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581192" y="1992430"/>
            <a:ext cx="8186105" cy="3600986"/>
          </a:xfrm>
          <a:prstGeom prst="rect">
            <a:avLst/>
          </a:prstGeom>
          <a:noFill/>
        </p:spPr>
        <p:txBody>
          <a:bodyPr wrap="square" rtlCol="0">
            <a:spAutoFit/>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endParaRPr lang="en-US" sz="1600" dirty="0">
              <a:latin typeface="Open Sans"/>
            </a:endParaRP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lvl="1" algn="thaiDist">
              <a:spcAft>
                <a:spcPts val="600"/>
              </a:spcAft>
            </a:pPr>
            <a:endParaRPr lang="en-US" sz="1600" dirty="0">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Y has X flavors.</a:t>
            </a:r>
          </a:p>
        </p:txBody>
      </p:sp>
      <p:grpSp>
        <p:nvGrpSpPr>
          <p:cNvPr id="4" name="Group 3">
            <a:extLst>
              <a:ext uri="{FF2B5EF4-FFF2-40B4-BE49-F238E27FC236}">
                <a16:creationId xmlns:a16="http://schemas.microsoft.com/office/drawing/2014/main" id="{8FB5A10A-1A31-4441-8613-16CC53A89242}"/>
              </a:ext>
            </a:extLst>
          </p:cNvPr>
          <p:cNvGrpSpPr/>
          <p:nvPr/>
        </p:nvGrpSpPr>
        <p:grpSpPr>
          <a:xfrm>
            <a:off x="8266899" y="4681977"/>
            <a:ext cx="3274158" cy="1490465"/>
            <a:chOff x="8616638" y="4162570"/>
            <a:chExt cx="3274158" cy="1490465"/>
          </a:xfrm>
        </p:grpSpPr>
        <p:pic>
          <p:nvPicPr>
            <p:cNvPr id="9218" name="Picture 2" descr="Image result for buy 2 sace">
              <a:extLst>
                <a:ext uri="{FF2B5EF4-FFF2-40B4-BE49-F238E27FC236}">
                  <a16:creationId xmlns:a16="http://schemas.microsoft.com/office/drawing/2014/main" id="{597872ED-0B42-4A60-9C69-A65162D925A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55666"/>
            <a:stretch/>
          </p:blipFill>
          <p:spPr bwMode="auto">
            <a:xfrm>
              <a:off x="8616638" y="4162570"/>
              <a:ext cx="3014562" cy="1013051"/>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Image result for discount">
              <a:extLst>
                <a:ext uri="{FF2B5EF4-FFF2-40B4-BE49-F238E27FC236}">
                  <a16:creationId xmlns:a16="http://schemas.microsoft.com/office/drawing/2014/main" id="{8768C38A-5D54-4D82-8D52-30089B54376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76428" y="4900469"/>
              <a:ext cx="1214368" cy="752566"/>
            </a:xfrm>
            <a:prstGeom prst="rect">
              <a:avLst/>
            </a:prstGeom>
            <a:noFill/>
            <a:extLst>
              <a:ext uri="{909E8E84-426E-40DD-AFC4-6F175D3DCCD1}">
                <a14:hiddenFill xmlns:a14="http://schemas.microsoft.com/office/drawing/2010/main">
                  <a:solidFill>
                    <a:srgbClr val="FFFFFF"/>
                  </a:solidFill>
                </a14:hiddenFill>
              </a:ext>
            </a:extLst>
          </p:spPr>
        </p:pic>
      </p:grpSp>
      <p:pic>
        <p:nvPicPr>
          <p:cNvPr id="12290" name="Picture 2" descr="Image result for buttermik bread">
            <a:extLst>
              <a:ext uri="{FF2B5EF4-FFF2-40B4-BE49-F238E27FC236}">
                <a16:creationId xmlns:a16="http://schemas.microsoft.com/office/drawing/2014/main" id="{9E62761E-6075-4F66-BFA3-50B064AD4D5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90651" y="2531905"/>
            <a:ext cx="3650406" cy="3650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818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Image result for basket market analysis">
            <a:extLst>
              <a:ext uri="{FF2B5EF4-FFF2-40B4-BE49-F238E27FC236}">
                <a16:creationId xmlns:a16="http://schemas.microsoft.com/office/drawing/2014/main" id="{B1FB7F14-B623-42F4-AA94-D5794DC033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0661" y="3543686"/>
            <a:ext cx="6010676" cy="31556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1015109" y="2483318"/>
            <a:ext cx="10161781" cy="830997"/>
          </a:xfrm>
          <a:prstGeom prst="rect">
            <a:avLst/>
          </a:prstGeom>
          <a:noFill/>
        </p:spPr>
        <p:txBody>
          <a:bodyPr wrap="square" rtlCol="0">
            <a:spAutoFit/>
          </a:bodyPr>
          <a:lstStyle/>
          <a:p>
            <a:pPr algn="thaiDist"/>
            <a:r>
              <a:rPr lang="en-US" sz="2400" b="0" i="0" dirty="0">
                <a:solidFill>
                  <a:srgbClr val="111111"/>
                </a:solidFill>
                <a:effectLst/>
                <a:latin typeface="Open Sans"/>
              </a:rPr>
              <a:t>While we may know that certain items are frequently bought together.</a:t>
            </a:r>
          </a:p>
          <a:p>
            <a:pPr algn="thaiDist"/>
            <a:r>
              <a:rPr lang="en-US" sz="2400" b="0" i="0" dirty="0">
                <a:solidFill>
                  <a:srgbClr val="111111"/>
                </a:solidFill>
                <a:effectLst/>
                <a:latin typeface="Open Sans"/>
              </a:rPr>
              <a:t>the question is, how do we uncover these associations?</a:t>
            </a:r>
            <a:endParaRPr lang="th-TH" sz="2400" dirty="0"/>
          </a:p>
        </p:txBody>
      </p:sp>
    </p:spTree>
    <p:extLst>
      <p:ext uri="{BB962C8B-B14F-4D97-AF65-F5344CB8AC3E}">
        <p14:creationId xmlns:p14="http://schemas.microsoft.com/office/powerpoint/2010/main" val="511152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1: Support. </a:t>
            </a:r>
            <a:r>
              <a:rPr lang="en-US" b="0" i="0" dirty="0">
                <a:solidFill>
                  <a:srgbClr val="111111"/>
                </a:solidFill>
                <a:effectLst/>
                <a:latin typeface="Open Sans"/>
              </a:rPr>
              <a:t>This says how popular an itemset is, as measured by the proportion of transactions in which an item-set appears.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Association Rule Support eqn">
            <a:extLst>
              <a:ext uri="{FF2B5EF4-FFF2-40B4-BE49-F238E27FC236}">
                <a16:creationId xmlns:a16="http://schemas.microsoft.com/office/drawing/2014/main" id="{3E8C9E2B-CB4C-4372-B38A-9683C49733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19661" y="4328950"/>
            <a:ext cx="2352675" cy="638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759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2: Confidence. </a:t>
            </a:r>
            <a:r>
              <a:rPr lang="en-US" i="0" dirty="0">
                <a:solidFill>
                  <a:srgbClr val="111111"/>
                </a:solidFill>
                <a:effectLst/>
                <a:latin typeface="Open Sans"/>
              </a:rPr>
              <a:t>This says how likely item Y is purchased when item X is purchased, expressed as {X -&gt; Y}.</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Association Rule Confidence eqn">
            <a:extLst>
              <a:ext uri="{FF2B5EF4-FFF2-40B4-BE49-F238E27FC236}">
                <a16:creationId xmlns:a16="http://schemas.microsoft.com/office/drawing/2014/main" id="{644F3359-79D7-42C0-8FD0-AA69606B6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41195" y="4730410"/>
            <a:ext cx="5019675" cy="7239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193867" y="4730410"/>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193867" y="4730410"/>
                <a:ext cx="1857676" cy="634789"/>
              </a:xfrm>
              <a:prstGeom prst="rect">
                <a:avLst/>
              </a:prstGeom>
              <a:blipFill>
                <a:blip r:embed="rId5"/>
                <a:stretch>
                  <a:fillRect/>
                </a:stretch>
              </a:blipFill>
            </p:spPr>
            <p:txBody>
              <a:bodyPr/>
              <a:lstStyle/>
              <a:p>
                <a:r>
                  <a:rPr lang="th-TH">
                    <a:noFill/>
                  </a:rPr>
                  <a:t> </a:t>
                </a:r>
              </a:p>
            </p:txBody>
          </p:sp>
        </mc:Fallback>
      </mc:AlternateContent>
      <p:sp>
        <p:nvSpPr>
          <p:cNvPr id="8" name="TextBox 7">
            <a:extLst>
              <a:ext uri="{FF2B5EF4-FFF2-40B4-BE49-F238E27FC236}">
                <a16:creationId xmlns:a16="http://schemas.microsoft.com/office/drawing/2014/main" id="{940F72B1-928E-4F40-9D78-F3A72C3008B7}"/>
              </a:ext>
            </a:extLst>
          </p:cNvPr>
          <p:cNvSpPr txBox="1"/>
          <p:nvPr/>
        </p:nvSpPr>
        <p:spPr>
          <a:xfrm>
            <a:off x="5335104" y="5509513"/>
            <a:ext cx="6099710" cy="646331"/>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Drawback : It might misrepresent the importance of an association. If beers are also very popular in general.</a:t>
            </a:r>
            <a:endParaRPr lang="en-US" i="0" dirty="0">
              <a:solidFill>
                <a:srgbClr val="111111"/>
              </a:solidFill>
              <a:effectLst/>
              <a:latin typeface="Open Sans"/>
            </a:endParaRPr>
          </a:p>
        </p:txBody>
      </p:sp>
      <p:sp>
        <p:nvSpPr>
          <p:cNvPr id="9" name="TextBox 8">
            <a:extLst>
              <a:ext uri="{FF2B5EF4-FFF2-40B4-BE49-F238E27FC236}">
                <a16:creationId xmlns:a16="http://schemas.microsoft.com/office/drawing/2014/main" id="{B02EBAD0-9478-4A81-BB53-63C0E9DF8E4C}"/>
              </a:ext>
            </a:extLst>
          </p:cNvPr>
          <p:cNvSpPr txBox="1"/>
          <p:nvPr/>
        </p:nvSpPr>
        <p:spPr>
          <a:xfrm>
            <a:off x="5178965" y="3626905"/>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X is called </a:t>
            </a:r>
            <a:r>
              <a:rPr lang="en-US" b="1" dirty="0">
                <a:solidFill>
                  <a:srgbClr val="111111"/>
                </a:solidFill>
                <a:latin typeface="Open Sans"/>
              </a:rPr>
              <a:t>antecedent</a:t>
            </a:r>
            <a:r>
              <a:rPr lang="en-US" dirty="0">
                <a:solidFill>
                  <a:srgbClr val="111111"/>
                </a:solidFill>
                <a:latin typeface="Open Sans"/>
              </a:rPr>
              <a:t> of the rule.</a:t>
            </a:r>
          </a:p>
          <a:p>
            <a:pPr algn="thaiDist">
              <a:spcBef>
                <a:spcPts val="600"/>
              </a:spcBef>
              <a:spcAft>
                <a:spcPts val="1200"/>
              </a:spcAft>
            </a:pPr>
            <a:r>
              <a:rPr lang="en-US" i="0" dirty="0">
                <a:solidFill>
                  <a:srgbClr val="111111"/>
                </a:solidFill>
                <a:effectLst/>
                <a:latin typeface="Open Sans"/>
              </a:rPr>
              <a:t>Y </a:t>
            </a:r>
            <a:r>
              <a:rPr lang="en-US" dirty="0">
                <a:solidFill>
                  <a:srgbClr val="111111"/>
                </a:solidFill>
                <a:latin typeface="Open Sans"/>
              </a:rPr>
              <a:t>is called </a:t>
            </a:r>
            <a:r>
              <a:rPr lang="en-US" b="1" dirty="0">
                <a:solidFill>
                  <a:srgbClr val="111111"/>
                </a:solidFill>
                <a:latin typeface="Open Sans"/>
              </a:rPr>
              <a:t>consequence</a:t>
            </a:r>
            <a:r>
              <a:rPr lang="en-US" dirty="0">
                <a:solidFill>
                  <a:srgbClr val="111111"/>
                </a:solidFill>
                <a:latin typeface="Open Sans"/>
              </a:rPr>
              <a:t> of the rule.</a:t>
            </a:r>
          </a:p>
        </p:txBody>
      </p:sp>
    </p:spTree>
    <p:extLst>
      <p:ext uri="{BB962C8B-B14F-4D97-AF65-F5344CB8AC3E}">
        <p14:creationId xmlns:p14="http://schemas.microsoft.com/office/powerpoint/2010/main" val="936427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3: Lift. </a:t>
            </a:r>
            <a:r>
              <a:rPr lang="en-US" i="0" dirty="0">
                <a:solidFill>
                  <a:srgbClr val="111111"/>
                </a:solidFill>
                <a:effectLst/>
                <a:latin typeface="Open Sans"/>
              </a:rPr>
              <a:t>This says how likely item Y is purchased when item X is purchased, while controlling for how popular item Y is.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395997" y="4243225"/>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r>
                            <a:rPr lang="en-US" b="0" i="1" smtClean="0">
                              <a:latin typeface="Cambria Math" panose="02040503050406030204" pitchFamily="18" charset="0"/>
                              <a:ea typeface="Cambria Math" panose="02040503050406030204" pitchFamily="18" charset="0"/>
                            </a:rPr>
                            <m:t>×6</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395997" y="4243225"/>
                <a:ext cx="1857676" cy="634789"/>
              </a:xfrm>
              <a:prstGeom prst="rect">
                <a:avLst/>
              </a:prstGeom>
              <a:blipFill>
                <a:blip r:embed="rId4"/>
                <a:stretch>
                  <a:fillRect/>
                </a:stretch>
              </a:blipFill>
            </p:spPr>
            <p:txBody>
              <a:bodyPr/>
              <a:lstStyle/>
              <a:p>
                <a:r>
                  <a:rPr lang="th-TH">
                    <a:noFill/>
                  </a:rPr>
                  <a:t> </a:t>
                </a:r>
              </a:p>
            </p:txBody>
          </p:sp>
        </mc:Fallback>
      </mc:AlternateContent>
      <p:pic>
        <p:nvPicPr>
          <p:cNvPr id="5122" name="Picture 2" descr="Association Rule Lift eqn">
            <a:extLst>
              <a:ext uri="{FF2B5EF4-FFF2-40B4-BE49-F238E27FC236}">
                <a16:creationId xmlns:a16="http://schemas.microsoft.com/office/drawing/2014/main" id="{8885C83E-93BF-4F30-9726-EADC082206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88080" y="4243225"/>
            <a:ext cx="5391150" cy="7429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E1C716A-225A-4D75-9581-94CD9C19D943}"/>
              </a:ext>
            </a:extLst>
          </p:cNvPr>
          <p:cNvSpPr txBox="1"/>
          <p:nvPr/>
        </p:nvSpPr>
        <p:spPr>
          <a:xfrm>
            <a:off x="5335104" y="5364544"/>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L</a:t>
            </a:r>
            <a:r>
              <a:rPr lang="en-US" b="0" i="0" dirty="0">
                <a:solidFill>
                  <a:srgbClr val="111111"/>
                </a:solidFill>
                <a:effectLst/>
                <a:latin typeface="Open Sans"/>
              </a:rPr>
              <a:t>ift&gt;1 : Item Y is </a:t>
            </a:r>
            <a:r>
              <a:rPr lang="en-US" b="1" i="0" u="sng" dirty="0">
                <a:solidFill>
                  <a:srgbClr val="111111"/>
                </a:solidFill>
                <a:effectLst/>
                <a:latin typeface="Open Sans"/>
              </a:rPr>
              <a:t>likely</a:t>
            </a:r>
            <a:r>
              <a:rPr lang="en-US" b="0" i="0" dirty="0">
                <a:solidFill>
                  <a:srgbClr val="111111"/>
                </a:solidFill>
                <a:effectLst/>
                <a:latin typeface="Open Sans"/>
              </a:rPr>
              <a:t> to be bought if item X is bought.</a:t>
            </a:r>
          </a:p>
          <a:p>
            <a:pPr algn="thaiDist">
              <a:spcBef>
                <a:spcPts val="600"/>
              </a:spcBef>
              <a:spcAft>
                <a:spcPts val="1200"/>
              </a:spcAft>
            </a:pPr>
            <a:r>
              <a:rPr lang="en-US" b="0" i="0" dirty="0">
                <a:solidFill>
                  <a:srgbClr val="111111"/>
                </a:solidFill>
                <a:effectLst/>
                <a:latin typeface="Open Sans"/>
              </a:rPr>
              <a:t>Lift&lt;1 : Item Y is </a:t>
            </a:r>
            <a:r>
              <a:rPr lang="en-US" b="1" i="0" u="sng" dirty="0">
                <a:solidFill>
                  <a:srgbClr val="111111"/>
                </a:solidFill>
                <a:effectLst/>
                <a:latin typeface="Open Sans"/>
              </a:rPr>
              <a:t>unlikely</a:t>
            </a:r>
            <a:r>
              <a:rPr lang="en-US" b="0" i="0" dirty="0">
                <a:solidFill>
                  <a:srgbClr val="111111"/>
                </a:solidFill>
                <a:effectLst/>
                <a:latin typeface="Open Sans"/>
              </a:rPr>
              <a:t> to be bought if item X is bought.</a:t>
            </a:r>
            <a:endParaRPr lang="en-US" i="0" dirty="0">
              <a:solidFill>
                <a:srgbClr val="111111"/>
              </a:solidFill>
              <a:effectLst/>
              <a:latin typeface="Open Sans"/>
            </a:endParaRPr>
          </a:p>
        </p:txBody>
      </p:sp>
    </p:spTree>
    <p:extLst>
      <p:ext uri="{BB962C8B-B14F-4D97-AF65-F5344CB8AC3E}">
        <p14:creationId xmlns:p14="http://schemas.microsoft.com/office/powerpoint/2010/main" val="1026984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Image result for basket market analysis">
            <a:extLst>
              <a:ext uri="{FF2B5EF4-FFF2-40B4-BE49-F238E27FC236}">
                <a16:creationId xmlns:a16="http://schemas.microsoft.com/office/drawing/2014/main" id="{B1FB7F14-B623-42F4-AA94-D5794DC033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0661" y="3543686"/>
            <a:ext cx="6010676" cy="31556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1015109" y="2483318"/>
            <a:ext cx="10161781" cy="1200329"/>
          </a:xfrm>
          <a:prstGeom prst="rect">
            <a:avLst/>
          </a:prstGeom>
          <a:noFill/>
        </p:spPr>
        <p:txBody>
          <a:bodyPr wrap="square" rtlCol="0">
            <a:spAutoFit/>
          </a:bodyPr>
          <a:lstStyle/>
          <a:p>
            <a:pPr algn="thaiDist"/>
            <a:r>
              <a:rPr lang="en-US" sz="2400" b="0" i="0" dirty="0">
                <a:solidFill>
                  <a:srgbClr val="111111"/>
                </a:solidFill>
                <a:effectLst/>
                <a:latin typeface="Open Sans"/>
              </a:rPr>
              <a:t>While we may know that there are measurements for analysis {</a:t>
            </a:r>
            <a:r>
              <a:rPr lang="en-US" sz="2400" i="0" dirty="0">
                <a:solidFill>
                  <a:srgbClr val="111111"/>
                </a:solidFill>
                <a:effectLst/>
                <a:latin typeface="Open Sans"/>
              </a:rPr>
              <a:t>X-&gt;Y</a:t>
            </a:r>
            <a:r>
              <a:rPr lang="en-US" sz="2400" b="0" i="0" dirty="0">
                <a:solidFill>
                  <a:srgbClr val="111111"/>
                </a:solidFill>
                <a:effectLst/>
                <a:latin typeface="Open Sans"/>
              </a:rPr>
              <a:t>} or </a:t>
            </a:r>
            <a:r>
              <a:rPr lang="en-US" sz="2400" b="1" i="0" u="sng" dirty="0">
                <a:solidFill>
                  <a:srgbClr val="111111"/>
                </a:solidFill>
                <a:effectLst/>
                <a:latin typeface="Open Sans"/>
              </a:rPr>
              <a:t>frequent </a:t>
            </a:r>
            <a:r>
              <a:rPr lang="en-US" sz="2400" b="1" i="0" u="sng" dirty="0" err="1">
                <a:solidFill>
                  <a:srgbClr val="111111"/>
                </a:solidFill>
                <a:effectLst/>
                <a:latin typeface="Open Sans"/>
              </a:rPr>
              <a:t>itemsets</a:t>
            </a:r>
            <a:r>
              <a:rPr lang="en-US" sz="2400" b="1" i="0" u="sng" dirty="0">
                <a:solidFill>
                  <a:srgbClr val="111111"/>
                </a:solidFill>
                <a:effectLst/>
                <a:latin typeface="Open Sans"/>
              </a:rPr>
              <a:t>(rules)</a:t>
            </a:r>
            <a:r>
              <a:rPr lang="en-US" sz="2400" b="0" i="0" dirty="0">
                <a:solidFill>
                  <a:srgbClr val="111111"/>
                </a:solidFill>
                <a:effectLst/>
                <a:latin typeface="Open Sans"/>
              </a:rPr>
              <a:t>.</a:t>
            </a:r>
          </a:p>
          <a:p>
            <a:pPr algn="thaiDist"/>
            <a:r>
              <a:rPr lang="en-US" sz="2400" b="0" i="0" dirty="0">
                <a:solidFill>
                  <a:srgbClr val="111111"/>
                </a:solidFill>
                <a:effectLst/>
                <a:latin typeface="Open Sans"/>
              </a:rPr>
              <a:t>the question is, how do we generate </a:t>
            </a:r>
            <a:r>
              <a:rPr lang="en-US" sz="2400" b="1" i="0" u="sng" dirty="0">
                <a:solidFill>
                  <a:srgbClr val="111111"/>
                </a:solidFill>
                <a:effectLst/>
                <a:latin typeface="Open Sans"/>
              </a:rPr>
              <a:t>frequent </a:t>
            </a:r>
            <a:r>
              <a:rPr lang="en-US" sz="2400" b="1" i="0" u="sng" dirty="0" err="1">
                <a:solidFill>
                  <a:srgbClr val="111111"/>
                </a:solidFill>
                <a:effectLst/>
                <a:latin typeface="Open Sans"/>
              </a:rPr>
              <a:t>itemsets</a:t>
            </a:r>
            <a:r>
              <a:rPr lang="en-US" sz="2400" b="1" i="0" u="sng" dirty="0">
                <a:solidFill>
                  <a:srgbClr val="111111"/>
                </a:solidFill>
                <a:effectLst/>
                <a:latin typeface="Open Sans"/>
              </a:rPr>
              <a:t>(rules)</a:t>
            </a:r>
            <a:r>
              <a:rPr lang="en-US" sz="2400" b="0" i="0" dirty="0">
                <a:solidFill>
                  <a:srgbClr val="111111"/>
                </a:solidFill>
                <a:effectLst/>
                <a:latin typeface="Open Sans"/>
              </a:rPr>
              <a:t>?</a:t>
            </a:r>
            <a:endParaRPr lang="th-TH" sz="2400" dirty="0"/>
          </a:p>
        </p:txBody>
      </p:sp>
      <p:pic>
        <p:nvPicPr>
          <p:cNvPr id="1026" name="Picture 2">
            <a:extLst>
              <a:ext uri="{FF2B5EF4-FFF2-40B4-BE49-F238E27FC236}">
                <a16:creationId xmlns:a16="http://schemas.microsoft.com/office/drawing/2014/main" id="{7BAD8D47-A740-4095-9800-0EABAC8DC9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5108" y="4078914"/>
            <a:ext cx="2687806" cy="16224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8805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543423" y="1977503"/>
            <a:ext cx="9105153" cy="3889526"/>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 Mining (ARM) is one of the ways to find patterns among items over transactional databases.</a:t>
            </a:r>
          </a:p>
          <a:p>
            <a:pPr algn="thaiDist">
              <a:lnSpc>
                <a:spcPct val="150000"/>
              </a:lnSpc>
              <a:spcBef>
                <a:spcPts val="600"/>
              </a:spcBef>
              <a:spcAft>
                <a:spcPts val="1200"/>
              </a:spcAft>
            </a:pPr>
            <a:r>
              <a:rPr lang="en-US" dirty="0">
                <a:solidFill>
                  <a:srgbClr val="111111"/>
                </a:solidFill>
                <a:latin typeface="Open Sans"/>
              </a:rPr>
              <a:t>	The most used algorithms to deal with ARMs are APRIORI (Agrawal and Srikant, 1994). It can generate</a:t>
            </a:r>
            <a:r>
              <a:rPr lang="en-US" b="1" dirty="0">
                <a:solidFill>
                  <a:srgbClr val="111111"/>
                </a:solidFill>
                <a:latin typeface="Open Sans"/>
              </a:rPr>
              <a:t> </a:t>
            </a:r>
            <a:r>
              <a:rPr lang="en-US" b="1" u="sng" dirty="0">
                <a:solidFill>
                  <a:srgbClr val="111111"/>
                </a:solidFill>
                <a:latin typeface="Open Sans"/>
              </a:rPr>
              <a:t>frequent </a:t>
            </a:r>
            <a:r>
              <a:rPr lang="en-US" b="1" u="sng" dirty="0" err="1">
                <a:solidFill>
                  <a:srgbClr val="111111"/>
                </a:solidFill>
                <a:latin typeface="Open Sans"/>
              </a:rPr>
              <a:t>itemsets</a:t>
            </a:r>
            <a:r>
              <a:rPr lang="en-US" b="1" dirty="0">
                <a:solidFill>
                  <a:srgbClr val="111111"/>
                </a:solidFill>
                <a:latin typeface="Open Sans"/>
              </a:rPr>
              <a:t> </a:t>
            </a:r>
            <a:r>
              <a:rPr lang="en-US" dirty="0">
                <a:solidFill>
                  <a:srgbClr val="111111"/>
                </a:solidFill>
                <a:latin typeface="Open Sans"/>
              </a:rPr>
              <a:t>from which association rules are built.</a:t>
            </a:r>
          </a:p>
          <a:p>
            <a:pPr algn="thaiDist">
              <a:lnSpc>
                <a:spcPct val="150000"/>
              </a:lnSpc>
              <a:spcBef>
                <a:spcPts val="600"/>
              </a:spcBef>
              <a:spcAft>
                <a:spcPts val="1200"/>
              </a:spcAft>
            </a:pPr>
            <a:r>
              <a:rPr lang="en-US" dirty="0">
                <a:solidFill>
                  <a:srgbClr val="111111"/>
                </a:solidFill>
                <a:latin typeface="Open Sans"/>
              </a:rPr>
              <a:t>	This algorithm is composed of two phases.</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Generates frequent </a:t>
            </a:r>
            <a:r>
              <a:rPr lang="en-US" dirty="0" err="1">
                <a:solidFill>
                  <a:srgbClr val="111111"/>
                </a:solidFill>
                <a:latin typeface="Open Sans"/>
              </a:rPr>
              <a:t>itemsets</a:t>
            </a:r>
            <a:r>
              <a:rPr lang="en-US" dirty="0">
                <a:solidFill>
                  <a:srgbClr val="111111"/>
                </a:solidFill>
                <a:latin typeface="Open Sans"/>
              </a:rPr>
              <a:t>. </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Extracts association rules from those </a:t>
            </a:r>
            <a:r>
              <a:rPr lang="en-US" dirty="0" err="1">
                <a:solidFill>
                  <a:srgbClr val="111111"/>
                </a:solidFill>
                <a:latin typeface="Open Sans"/>
              </a:rPr>
              <a:t>itemsets</a:t>
            </a:r>
            <a:r>
              <a:rPr lang="en-US" dirty="0">
                <a:solidFill>
                  <a:srgbClr val="111111"/>
                </a:solidFill>
                <a:latin typeface="Open Sans"/>
              </a:rPr>
              <a:t>. </a:t>
            </a:r>
            <a:endParaRPr lang="th-TH" dirty="0"/>
          </a:p>
        </p:txBody>
      </p:sp>
    </p:spTree>
    <p:extLst>
      <p:ext uri="{BB962C8B-B14F-4D97-AF65-F5344CB8AC3E}">
        <p14:creationId xmlns:p14="http://schemas.microsoft.com/office/powerpoint/2010/main" val="902584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45621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Generates frequent item-sets.</a:t>
            </a:r>
          </a:p>
        </p:txBody>
      </p:sp>
      <p:pic>
        <p:nvPicPr>
          <p:cNvPr id="7170" name="Picture 2">
            <a:extLst>
              <a:ext uri="{FF2B5EF4-FFF2-40B4-BE49-F238E27FC236}">
                <a16:creationId xmlns:a16="http://schemas.microsoft.com/office/drawing/2014/main" id="{13EDD5BD-9BF7-4B6E-8CDC-035947D78E86}"/>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2925273" y="2537336"/>
            <a:ext cx="6341453" cy="4182177"/>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2FA40E10-11D6-48B8-BD7D-B56224FC2C1A}"/>
              </a:ext>
            </a:extLst>
          </p:cNvPr>
          <p:cNvSpPr/>
          <p:nvPr/>
        </p:nvSpPr>
        <p:spPr>
          <a:xfrm rot="18283636">
            <a:off x="6156876" y="1834194"/>
            <a:ext cx="2386843" cy="4443786"/>
          </a:xfrm>
          <a:prstGeom prst="ellipse">
            <a:avLst/>
          </a:prstGeom>
          <a:noFill/>
        </p:spPr>
        <p:style>
          <a:lnRef idx="2">
            <a:schemeClr val="accent3"/>
          </a:lnRef>
          <a:fillRef idx="1">
            <a:schemeClr val="lt1"/>
          </a:fillRef>
          <a:effectRef idx="0">
            <a:schemeClr val="accent3"/>
          </a:effectRef>
          <a:fontRef idx="minor">
            <a:schemeClr val="dk1"/>
          </a:fontRef>
        </p:style>
        <p:txBody>
          <a:bodyPr rtlCol="0" anchor="ctr"/>
          <a:lstStyle/>
          <a:p>
            <a:pPr algn="ctr"/>
            <a:endParaRPr lang="th-TH"/>
          </a:p>
        </p:txBody>
      </p:sp>
      <p:sp>
        <p:nvSpPr>
          <p:cNvPr id="4" name="Speech Bubble: Rectangle 3">
            <a:extLst>
              <a:ext uri="{FF2B5EF4-FFF2-40B4-BE49-F238E27FC236}">
                <a16:creationId xmlns:a16="http://schemas.microsoft.com/office/drawing/2014/main" id="{19FA49A9-E341-4018-8A3F-95D8A3238EA2}"/>
              </a:ext>
            </a:extLst>
          </p:cNvPr>
          <p:cNvSpPr/>
          <p:nvPr/>
        </p:nvSpPr>
        <p:spPr>
          <a:xfrm>
            <a:off x="9266726" y="2887579"/>
            <a:ext cx="1500388" cy="693019"/>
          </a:xfrm>
          <a:prstGeom prst="wedgeRectCallout">
            <a:avLst>
              <a:gd name="adj1" fmla="val -63815"/>
              <a:gd name="adj2" fmla="val 83333"/>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rgbClr val="111111"/>
                </a:solidFill>
                <a:latin typeface="Open Sans"/>
              </a:rPr>
              <a:t>frequent </a:t>
            </a:r>
            <a:r>
              <a:rPr lang="en-US" dirty="0" err="1">
                <a:solidFill>
                  <a:srgbClr val="111111"/>
                </a:solidFill>
                <a:latin typeface="Open Sans"/>
              </a:rPr>
              <a:t>itemsets</a:t>
            </a:r>
            <a:endParaRPr lang="th-TH" dirty="0"/>
          </a:p>
        </p:txBody>
      </p:sp>
    </p:spTree>
    <p:extLst>
      <p:ext uri="{BB962C8B-B14F-4D97-AF65-F5344CB8AC3E}">
        <p14:creationId xmlns:p14="http://schemas.microsoft.com/office/powerpoint/2010/main" val="2661068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1. Spurious(Fake) Associations. </a:t>
            </a:r>
            <a:r>
              <a:rPr lang="en-US" dirty="0">
                <a:latin typeface="Open Sans"/>
              </a:rPr>
              <a:t>the support threshold might have to be lowered to detect certain associations. However, lowering the support threshold might also increase the number of spurious associations. </a:t>
            </a:r>
            <a:endParaRPr lang="th-TH" dirty="0">
              <a:latin typeface="Open Sans"/>
            </a:endParaRPr>
          </a:p>
        </p:txBody>
      </p:sp>
    </p:spTree>
    <p:extLst>
      <p:ext uri="{BB962C8B-B14F-4D97-AF65-F5344CB8AC3E}">
        <p14:creationId xmlns:p14="http://schemas.microsoft.com/office/powerpoint/2010/main" val="1493023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2. Computationally Expensive. </a:t>
            </a:r>
            <a:r>
              <a:rPr lang="en-US" dirty="0">
                <a:latin typeface="Open Sans"/>
              </a:rPr>
              <a:t>Even though the </a:t>
            </a:r>
            <a:r>
              <a:rPr lang="en-US" dirty="0">
                <a:solidFill>
                  <a:srgbClr val="111111"/>
                </a:solidFill>
                <a:latin typeface="Open Sans"/>
              </a:rPr>
              <a:t>APRIORI</a:t>
            </a:r>
            <a:r>
              <a:rPr lang="en-US" dirty="0">
                <a:latin typeface="Open Sans"/>
              </a:rPr>
              <a:t> algorithm reduces the number of candidate item-sets to consider, this number could still be huge when store inventories are large or when the support threshold is low.</a:t>
            </a:r>
            <a:endParaRPr lang="th-TH" dirty="0">
              <a:latin typeface="Open Sans"/>
            </a:endParaRPr>
          </a:p>
        </p:txBody>
      </p:sp>
    </p:spTree>
    <p:extLst>
      <p:ext uri="{BB962C8B-B14F-4D97-AF65-F5344CB8AC3E}">
        <p14:creationId xmlns:p14="http://schemas.microsoft.com/office/powerpoint/2010/main" val="152551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E52C3D63-9B96-40FB-B8BE-71FC78366B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6354" y="1051834"/>
            <a:ext cx="7675646" cy="521645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4" name="TextBox 3">
            <a:extLst>
              <a:ext uri="{FF2B5EF4-FFF2-40B4-BE49-F238E27FC236}">
                <a16:creationId xmlns:a16="http://schemas.microsoft.com/office/drawing/2014/main" id="{CD23AA50-DE89-4F61-9D58-58435BF182C1}"/>
              </a:ext>
            </a:extLst>
          </p:cNvPr>
          <p:cNvSpPr txBox="1"/>
          <p:nvPr/>
        </p:nvSpPr>
        <p:spPr>
          <a:xfrm>
            <a:off x="5209568" y="6083626"/>
            <a:ext cx="6289217" cy="369332"/>
          </a:xfrm>
          <a:prstGeom prst="rect">
            <a:avLst/>
          </a:prstGeom>
          <a:noFill/>
        </p:spPr>
        <p:txBody>
          <a:bodyPr wrap="square" rtlCol="0">
            <a:spAutoFit/>
          </a:bodyPr>
          <a:lstStyle/>
          <a:p>
            <a:pPr algn="ctr"/>
            <a:r>
              <a:rPr lang="en-US" dirty="0">
                <a:solidFill>
                  <a:srgbClr val="111111"/>
                </a:solidFill>
                <a:latin typeface="Open Sans"/>
              </a:rPr>
              <a:t>A</a:t>
            </a:r>
            <a:r>
              <a:rPr lang="en-US" b="0" i="0" dirty="0">
                <a:solidFill>
                  <a:srgbClr val="111111"/>
                </a:solidFill>
                <a:effectLst/>
                <a:latin typeface="Open Sans"/>
              </a:rPr>
              <a:t>ssociations between selected items. (frequent </a:t>
            </a:r>
            <a:r>
              <a:rPr lang="en-US" b="0" i="0" dirty="0" err="1">
                <a:solidFill>
                  <a:srgbClr val="111111"/>
                </a:solidFill>
                <a:effectLst/>
                <a:latin typeface="Open Sans"/>
              </a:rPr>
              <a:t>itemsets</a:t>
            </a:r>
            <a:r>
              <a:rPr lang="en-US" b="0" i="0" dirty="0">
                <a:solidFill>
                  <a:srgbClr val="111111"/>
                </a:solidFill>
                <a:effectLst/>
                <a:latin typeface="Open Sans"/>
              </a:rPr>
              <a:t>)</a:t>
            </a:r>
            <a:endParaRPr lang="th-TH" dirty="0"/>
          </a:p>
        </p:txBody>
      </p:sp>
      <p:sp>
        <p:nvSpPr>
          <p:cNvPr id="5" name="TextBox 4">
            <a:extLst>
              <a:ext uri="{FF2B5EF4-FFF2-40B4-BE49-F238E27FC236}">
                <a16:creationId xmlns:a16="http://schemas.microsoft.com/office/drawing/2014/main" id="{066747A1-8112-4EEB-AF12-F12BA5E40278}"/>
              </a:ext>
            </a:extLst>
          </p:cNvPr>
          <p:cNvSpPr txBox="1"/>
          <p:nvPr/>
        </p:nvSpPr>
        <p:spPr>
          <a:xfrm>
            <a:off x="775998" y="2114241"/>
            <a:ext cx="4433570" cy="1708160"/>
          </a:xfrm>
          <a:prstGeom prst="rect">
            <a:avLst/>
          </a:prstGeom>
          <a:noFill/>
        </p:spPr>
        <p:txBody>
          <a:bodyPr wrap="square" rtlCol="0">
            <a:spAutoFit/>
          </a:bodyPr>
          <a:lstStyle/>
          <a:p>
            <a:pPr algn="thaiDist">
              <a:spcBef>
                <a:spcPts val="600"/>
              </a:spcBef>
              <a:spcAft>
                <a:spcPts val="1200"/>
              </a:spcAft>
            </a:pPr>
            <a:r>
              <a:rPr lang="en-US" b="0" i="0" dirty="0">
                <a:solidFill>
                  <a:srgbClr val="111111"/>
                </a:solidFill>
                <a:effectLst/>
                <a:latin typeface="Open Sans"/>
              </a:rPr>
              <a:t>	Generating </a:t>
            </a:r>
            <a:r>
              <a:rPr lang="en-US" b="1" i="0" u="sng" dirty="0">
                <a:solidFill>
                  <a:srgbClr val="111111"/>
                </a:solidFill>
                <a:effectLst/>
                <a:latin typeface="Open Sans"/>
              </a:rPr>
              <a:t>frequent </a:t>
            </a:r>
            <a:r>
              <a:rPr lang="en-US" b="1" i="0" u="sng" dirty="0" err="1">
                <a:solidFill>
                  <a:srgbClr val="111111"/>
                </a:solidFill>
                <a:effectLst/>
                <a:latin typeface="Open Sans"/>
              </a:rPr>
              <a:t>itemsets</a:t>
            </a:r>
            <a:r>
              <a:rPr lang="en-US" b="0" i="0" dirty="0">
                <a:solidFill>
                  <a:srgbClr val="111111"/>
                </a:solidFill>
                <a:effectLst/>
                <a:latin typeface="Open Sans"/>
              </a:rPr>
              <a:t> is an NP-hard problem. </a:t>
            </a:r>
          </a:p>
          <a:p>
            <a:pPr algn="thaiDist">
              <a:spcBef>
                <a:spcPts val="600"/>
              </a:spcBef>
              <a:spcAft>
                <a:spcPts val="1200"/>
              </a:spcAft>
            </a:pPr>
            <a:r>
              <a:rPr lang="en-US" dirty="0">
                <a:solidFill>
                  <a:srgbClr val="111111"/>
                </a:solidFill>
                <a:latin typeface="Open Sans"/>
              </a:rPr>
              <a:t>	</a:t>
            </a:r>
            <a:r>
              <a:rPr lang="en-US" b="0" i="0" dirty="0">
                <a:solidFill>
                  <a:srgbClr val="111111"/>
                </a:solidFill>
                <a:effectLst/>
                <a:latin typeface="Open Sans"/>
              </a:rPr>
              <a:t>Because it is time consuming, and some problems can not be solved within polynomial time.</a:t>
            </a:r>
            <a:endParaRPr lang="th-TH" dirty="0"/>
          </a:p>
        </p:txBody>
      </p:sp>
      <p:sp>
        <p:nvSpPr>
          <p:cNvPr id="6" name="Speech Bubble: Rectangle 5">
            <a:extLst>
              <a:ext uri="{FF2B5EF4-FFF2-40B4-BE49-F238E27FC236}">
                <a16:creationId xmlns:a16="http://schemas.microsoft.com/office/drawing/2014/main" id="{972DBC8A-0505-4EBC-A699-5F4F23881F26}"/>
              </a:ext>
            </a:extLst>
          </p:cNvPr>
          <p:cNvSpPr/>
          <p:nvPr/>
        </p:nvSpPr>
        <p:spPr>
          <a:xfrm>
            <a:off x="1925053" y="5007383"/>
            <a:ext cx="2362324" cy="1260909"/>
          </a:xfrm>
          <a:prstGeom prst="wedgeRectCallout">
            <a:avLst>
              <a:gd name="adj1" fmla="val 139390"/>
              <a:gd name="adj2" fmla="val -67299"/>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2400" dirty="0">
                <a:latin typeface="Open Sans"/>
              </a:rPr>
              <a:t>All combination</a:t>
            </a:r>
          </a:p>
          <a:p>
            <a:pPr algn="ctr"/>
            <a:r>
              <a:rPr lang="en-US" sz="3200" dirty="0">
                <a:latin typeface="Open Sans"/>
              </a:rPr>
              <a:t>O(n!)</a:t>
            </a:r>
            <a:endParaRPr lang="th-TH" sz="3200" dirty="0">
              <a:latin typeface="Open Sans"/>
            </a:endParaRPr>
          </a:p>
        </p:txBody>
      </p:sp>
    </p:spTree>
    <p:extLst>
      <p:ext uri="{BB962C8B-B14F-4D97-AF65-F5344CB8AC3E}">
        <p14:creationId xmlns:p14="http://schemas.microsoft.com/office/powerpoint/2010/main" val="544307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5" name="TextBox 4">
            <a:extLst>
              <a:ext uri="{FF2B5EF4-FFF2-40B4-BE49-F238E27FC236}">
                <a16:creationId xmlns:a16="http://schemas.microsoft.com/office/drawing/2014/main" id="{066747A1-8112-4EEB-AF12-F12BA5E40278}"/>
              </a:ext>
            </a:extLst>
          </p:cNvPr>
          <p:cNvSpPr txBox="1"/>
          <p:nvPr/>
        </p:nvSpPr>
        <p:spPr>
          <a:xfrm>
            <a:off x="1221496" y="2114241"/>
            <a:ext cx="9749008" cy="130420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 a result, They are approximate methods based on an intelligent browse of the search space, providing a solution which may not be optimal, but of good quality, in a shorter time with </a:t>
            </a:r>
            <a:r>
              <a:rPr lang="en-US" b="1" i="0" dirty="0">
                <a:solidFill>
                  <a:srgbClr val="111111"/>
                </a:solidFill>
                <a:effectLst/>
                <a:latin typeface="Open Sans"/>
              </a:rPr>
              <a:t>genetic algorithm(GA) optimization</a:t>
            </a:r>
            <a:r>
              <a:rPr lang="en-US" b="0" i="0" dirty="0">
                <a:solidFill>
                  <a:srgbClr val="111111"/>
                </a:solidFill>
                <a:effectLst/>
                <a:latin typeface="Open Sans"/>
              </a:rPr>
              <a:t>.</a:t>
            </a:r>
            <a:endParaRPr lang="th-TH" dirty="0"/>
          </a:p>
        </p:txBody>
      </p:sp>
      <p:sp>
        <p:nvSpPr>
          <p:cNvPr id="6" name="TextBox 5">
            <a:extLst>
              <a:ext uri="{FF2B5EF4-FFF2-40B4-BE49-F238E27FC236}">
                <a16:creationId xmlns:a16="http://schemas.microsoft.com/office/drawing/2014/main" id="{2E9560A8-482B-4F3D-B9A4-1BC77A7F6272}"/>
              </a:ext>
            </a:extLst>
          </p:cNvPr>
          <p:cNvSpPr txBox="1"/>
          <p:nvPr/>
        </p:nvSpPr>
        <p:spPr>
          <a:xfrm>
            <a:off x="8181474" y="3830999"/>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graphicFrame>
        <p:nvGraphicFramePr>
          <p:cNvPr id="7" name="Table 7">
            <a:extLst>
              <a:ext uri="{FF2B5EF4-FFF2-40B4-BE49-F238E27FC236}">
                <a16:creationId xmlns:a16="http://schemas.microsoft.com/office/drawing/2014/main" id="{424DF16E-BFB9-40BE-A1C7-4D68D74A57CB}"/>
              </a:ext>
            </a:extLst>
          </p:cNvPr>
          <p:cNvGraphicFramePr>
            <a:graphicFrameLocks noGrp="1"/>
          </p:cNvGraphicFramePr>
          <p:nvPr>
            <p:extLst>
              <p:ext uri="{D42A27DB-BD31-4B8C-83A1-F6EECF244321}">
                <p14:modId xmlns:p14="http://schemas.microsoft.com/office/powerpoint/2010/main" val="135146476"/>
              </p:ext>
            </p:extLst>
          </p:nvPr>
        </p:nvGraphicFramePr>
        <p:xfrm>
          <a:off x="1541113" y="3641809"/>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864746">
                  <a:extLst>
                    <a:ext uri="{9D8B030D-6E8A-4147-A177-3AD203B41FA5}">
                      <a16:colId xmlns:a16="http://schemas.microsoft.com/office/drawing/2014/main" val="4051779516"/>
                    </a:ext>
                  </a:extLst>
                </a:gridCol>
                <a:gridCol w="864746">
                  <a:extLst>
                    <a:ext uri="{9D8B030D-6E8A-4147-A177-3AD203B41FA5}">
                      <a16:colId xmlns:a16="http://schemas.microsoft.com/office/drawing/2014/main" val="1372535256"/>
                    </a:ext>
                  </a:extLst>
                </a:gridCol>
                <a:gridCol w="864746">
                  <a:extLst>
                    <a:ext uri="{9D8B030D-6E8A-4147-A177-3AD203B41FA5}">
                      <a16:colId xmlns:a16="http://schemas.microsoft.com/office/drawing/2014/main" val="2333961699"/>
                    </a:ext>
                  </a:extLst>
                </a:gridCol>
                <a:gridCol w="864746">
                  <a:extLst>
                    <a:ext uri="{9D8B030D-6E8A-4147-A177-3AD203B41FA5}">
                      <a16:colId xmlns:a16="http://schemas.microsoft.com/office/drawing/2014/main" val="1441248404"/>
                    </a:ext>
                  </a:extLst>
                </a:gridCol>
                <a:gridCol w="864746">
                  <a:extLst>
                    <a:ext uri="{9D8B030D-6E8A-4147-A177-3AD203B41FA5}">
                      <a16:colId xmlns:a16="http://schemas.microsoft.com/office/drawing/2014/main" val="1404750312"/>
                    </a:ext>
                  </a:extLst>
                </a:gridCol>
                <a:gridCol w="864746">
                  <a:extLst>
                    <a:ext uri="{9D8B030D-6E8A-4147-A177-3AD203B41FA5}">
                      <a16:colId xmlns:a16="http://schemas.microsoft.com/office/drawing/2014/main" val="3613773959"/>
                    </a:ext>
                  </a:extLst>
                </a:gridCol>
              </a:tblGrid>
              <a:tr h="37084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4 </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10</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3</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0.78</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8" name="TextBox 7">
            <a:extLst>
              <a:ext uri="{FF2B5EF4-FFF2-40B4-BE49-F238E27FC236}">
                <a16:creationId xmlns:a16="http://schemas.microsoft.com/office/drawing/2014/main" id="{5DCC7D5D-B01F-43B9-9271-599EF6FCEB57}"/>
              </a:ext>
            </a:extLst>
          </p:cNvPr>
          <p:cNvSpPr txBox="1"/>
          <p:nvPr/>
        </p:nvSpPr>
        <p:spPr>
          <a:xfrm>
            <a:off x="1423115" y="5971178"/>
            <a:ext cx="6289217" cy="369332"/>
          </a:xfrm>
          <a:prstGeom prst="rect">
            <a:avLst/>
          </a:prstGeom>
          <a:noFill/>
        </p:spPr>
        <p:txBody>
          <a:bodyPr wrap="square" rtlCol="0">
            <a:spAutoFit/>
          </a:bodyPr>
          <a:lstStyle/>
          <a:p>
            <a:pPr algn="ctr"/>
            <a:r>
              <a:rPr lang="en-US" b="0" i="0" dirty="0">
                <a:solidFill>
                  <a:srgbClr val="111111"/>
                </a:solidFill>
                <a:effectLst/>
                <a:latin typeface="Open Sans"/>
              </a:rPr>
              <a:t>The frequent </a:t>
            </a:r>
            <a:r>
              <a:rPr lang="en-US" b="0" i="0" dirty="0" err="1">
                <a:solidFill>
                  <a:srgbClr val="111111"/>
                </a:solidFill>
                <a:effectLst/>
                <a:latin typeface="Open Sans"/>
              </a:rPr>
              <a:t>itemsets</a:t>
            </a:r>
            <a:r>
              <a:rPr lang="en-US" dirty="0">
                <a:solidFill>
                  <a:srgbClr val="111111"/>
                </a:solidFill>
                <a:latin typeface="Open Sans"/>
              </a:rPr>
              <a:t> solution example</a:t>
            </a:r>
            <a:endParaRPr lang="th-TH" dirty="0"/>
          </a:p>
        </p:txBody>
      </p:sp>
    </p:spTree>
    <p:extLst>
      <p:ext uri="{BB962C8B-B14F-4D97-AF65-F5344CB8AC3E}">
        <p14:creationId xmlns:p14="http://schemas.microsoft.com/office/powerpoint/2010/main" val="3878285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optimization</a:t>
            </a:r>
            <a:endParaRPr lang="th-TH" dirty="0">
              <a:solidFill>
                <a:schemeClr val="tx1"/>
              </a:solidFill>
            </a:endParaRPr>
          </a:p>
        </p:txBody>
      </p:sp>
      <p:pic>
        <p:nvPicPr>
          <p:cNvPr id="1026" name="Picture 2" descr="Image result for optimization">
            <a:extLst>
              <a:ext uri="{FF2B5EF4-FFF2-40B4-BE49-F238E27FC236}">
                <a16:creationId xmlns:a16="http://schemas.microsoft.com/office/drawing/2014/main" id="{06B842FF-13EF-40D1-A32D-8EDA953D02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7608" y="1296516"/>
            <a:ext cx="4736783" cy="374690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C350A3B-EFED-4B69-B80D-571E9B9010D3}"/>
              </a:ext>
            </a:extLst>
          </p:cNvPr>
          <p:cNvSpPr txBox="1"/>
          <p:nvPr/>
        </p:nvSpPr>
        <p:spPr>
          <a:xfrm>
            <a:off x="1221496" y="5221707"/>
            <a:ext cx="9749008" cy="800219"/>
          </a:xfrm>
          <a:prstGeom prst="rect">
            <a:avLst/>
          </a:prstGeom>
          <a:noFill/>
        </p:spPr>
        <p:txBody>
          <a:bodyPr wrap="square" rtlCol="0">
            <a:spAutoFit/>
          </a:bodyPr>
          <a:lstStyle/>
          <a:p>
            <a:pPr algn="thaiDist">
              <a:lnSpc>
                <a:spcPct val="150000"/>
              </a:lnSpc>
              <a:spcBef>
                <a:spcPts val="600"/>
              </a:spcBef>
              <a:spcAft>
                <a:spcPts val="600"/>
              </a:spcAft>
            </a:pPr>
            <a:r>
              <a:rPr lang="en-US" sz="1600" b="0" i="0" dirty="0">
                <a:solidFill>
                  <a:srgbClr val="111111"/>
                </a:solidFill>
                <a:effectLst/>
                <a:latin typeface="Open Sans"/>
              </a:rPr>
              <a:t>	Optimization is the problem of finding a set of inputs to an objective function that results in a maximum or minimum function evaluation.</a:t>
            </a:r>
            <a:endParaRPr lang="th-TH" sz="1600" dirty="0">
              <a:latin typeface="Open Sans"/>
            </a:endParaRPr>
          </a:p>
        </p:txBody>
      </p:sp>
    </p:spTree>
    <p:extLst>
      <p:ext uri="{BB962C8B-B14F-4D97-AF65-F5344CB8AC3E}">
        <p14:creationId xmlns:p14="http://schemas.microsoft.com/office/powerpoint/2010/main" val="37845552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BB41D29A-EB2A-4785-9A5F-792067EC5A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93128" y="1434166"/>
            <a:ext cx="5405743" cy="409554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Genetic Algorithm (GA)</a:t>
            </a:r>
            <a:endParaRPr lang="th-TH" dirty="0">
              <a:solidFill>
                <a:schemeClr val="tx1"/>
              </a:solidFill>
            </a:endParaRPr>
          </a:p>
        </p:txBody>
      </p:sp>
      <p:sp>
        <p:nvSpPr>
          <p:cNvPr id="4" name="TextBox 3">
            <a:extLst>
              <a:ext uri="{FF2B5EF4-FFF2-40B4-BE49-F238E27FC236}">
                <a16:creationId xmlns:a16="http://schemas.microsoft.com/office/drawing/2014/main" id="{1DDB620E-75FF-4DBE-9E78-6818D3D93227}"/>
              </a:ext>
            </a:extLst>
          </p:cNvPr>
          <p:cNvSpPr txBox="1"/>
          <p:nvPr/>
        </p:nvSpPr>
        <p:spPr>
          <a:xfrm>
            <a:off x="1221496" y="5221707"/>
            <a:ext cx="9749008" cy="1323439"/>
          </a:xfrm>
          <a:prstGeom prst="rect">
            <a:avLst/>
          </a:prstGeom>
          <a:noFill/>
        </p:spPr>
        <p:txBody>
          <a:bodyPr wrap="square" rtlCol="0">
            <a:spAutoFit/>
          </a:bodyPr>
          <a:lstStyle/>
          <a:p>
            <a:pPr algn="thaiDist">
              <a:lnSpc>
                <a:spcPct val="150000"/>
              </a:lnSpc>
              <a:spcBef>
                <a:spcPts val="600"/>
              </a:spcBef>
              <a:spcAft>
                <a:spcPts val="600"/>
              </a:spcAft>
            </a:pPr>
            <a:r>
              <a:rPr lang="en-US" sz="1600" b="0" i="0" dirty="0">
                <a:solidFill>
                  <a:srgbClr val="111111"/>
                </a:solidFill>
                <a:effectLst/>
                <a:latin typeface="Open Sans"/>
              </a:rPr>
              <a:t> 	genetic algorithms were inspired by the process of evolution by natural selection.</a:t>
            </a:r>
          </a:p>
          <a:p>
            <a:pPr algn="thaiDist">
              <a:lnSpc>
                <a:spcPct val="150000"/>
              </a:lnSpc>
              <a:spcBef>
                <a:spcPts val="600"/>
              </a:spcBef>
              <a:spcAft>
                <a:spcPts val="600"/>
              </a:spcAft>
            </a:pPr>
            <a:r>
              <a:rPr lang="en-US" sz="1600" dirty="0">
                <a:latin typeface="Open Sans"/>
              </a:rPr>
              <a:t>	the 'fittest' individuals (or the potential solutions) from a 'population' of possible solutions are selected for reproduction and their 'genes' are passed on to future 'generations'.</a:t>
            </a:r>
            <a:endParaRPr lang="th-TH" sz="1600" dirty="0">
              <a:latin typeface="Open Sans"/>
            </a:endParaRPr>
          </a:p>
        </p:txBody>
      </p:sp>
    </p:spTree>
    <p:extLst>
      <p:ext uri="{BB962C8B-B14F-4D97-AF65-F5344CB8AC3E}">
        <p14:creationId xmlns:p14="http://schemas.microsoft.com/office/powerpoint/2010/main" val="37974750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My approach optimization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algn="thaiDist">
              <a:lnSpc>
                <a:spcPct val="150000"/>
              </a:lnSpc>
            </a:pPr>
            <a:r>
              <a:rPr lang="en-US" dirty="0">
                <a:latin typeface="Open Sans"/>
              </a:rPr>
              <a:t>Enhance the solution with my optimization.</a:t>
            </a:r>
          </a:p>
          <a:p>
            <a:pPr marL="342900" indent="-342900" algn="thaiDist">
              <a:lnSpc>
                <a:spcPct val="150000"/>
              </a:lnSpc>
              <a:buFont typeface="+mj-lt"/>
              <a:buAutoNum type="arabicPeriod"/>
            </a:pPr>
            <a:r>
              <a:rPr lang="en-US" b="1" dirty="0">
                <a:latin typeface="Open Sans"/>
              </a:rPr>
              <a:t>solve multi-objective (Support, Confidence, Lift) ARs problem</a:t>
            </a:r>
            <a:endParaRPr lang="en-US" dirty="0">
              <a:latin typeface="Open Sans"/>
            </a:endParaRPr>
          </a:p>
          <a:p>
            <a:pPr marL="342900" indent="-342900" algn="thaiDist">
              <a:lnSpc>
                <a:spcPct val="150000"/>
              </a:lnSpc>
              <a:buFont typeface="+mj-lt"/>
              <a:buAutoNum type="arabicPeriod"/>
            </a:pPr>
            <a:r>
              <a:rPr lang="en-US" b="1" dirty="0">
                <a:latin typeface="Open Sans"/>
              </a:rPr>
              <a:t>enhance average accuracy </a:t>
            </a:r>
          </a:p>
          <a:p>
            <a:pPr marL="342900" indent="-342900" algn="thaiDist">
              <a:lnSpc>
                <a:spcPct val="150000"/>
              </a:lnSpc>
              <a:buFont typeface="+mj-lt"/>
              <a:buAutoNum type="arabicPeriod"/>
            </a:pPr>
            <a:r>
              <a:rPr lang="en-US" b="1" dirty="0">
                <a:latin typeface="Open Sans"/>
              </a:rPr>
              <a:t>reduce time execution with CPU and GPU acceleration</a:t>
            </a:r>
          </a:p>
          <a:p>
            <a:pPr marL="342900" indent="-342900" algn="thaiDist">
              <a:lnSpc>
                <a:spcPct val="150000"/>
              </a:lnSpc>
              <a:buFont typeface="+mj-lt"/>
              <a:buAutoNum type="arabicPeriod"/>
            </a:pPr>
            <a:endParaRPr lang="en-US" dirty="0">
              <a:latin typeface="Open Sans"/>
            </a:endParaRPr>
          </a:p>
        </p:txBody>
      </p:sp>
    </p:spTree>
    <p:extLst>
      <p:ext uri="{BB962C8B-B14F-4D97-AF65-F5344CB8AC3E}">
        <p14:creationId xmlns:p14="http://schemas.microsoft.com/office/powerpoint/2010/main" val="7665119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10ED4F-2A56-4098-91B9-8AE6DC060D24}"/>
              </a:ext>
            </a:extLst>
          </p:cNvPr>
          <p:cNvPicPr>
            <a:picLocks noChangeAspect="1"/>
          </p:cNvPicPr>
          <p:nvPr/>
        </p:nvPicPr>
        <p:blipFill>
          <a:blip r:embed="rId3"/>
          <a:stretch>
            <a:fillRect/>
          </a:stretch>
        </p:blipFill>
        <p:spPr>
          <a:xfrm>
            <a:off x="3191503" y="2636192"/>
            <a:ext cx="5808993" cy="4221807"/>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For this purpose, several datasets of different sizes are used. Each reported result is an average of 10 executions.</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Dataset benchmark</a:t>
            </a:r>
            <a:endParaRPr lang="th-TH" dirty="0">
              <a:solidFill>
                <a:schemeClr val="tx1"/>
              </a:solidFill>
            </a:endParaRPr>
          </a:p>
        </p:txBody>
      </p:sp>
    </p:spTree>
    <p:extLst>
      <p:ext uri="{BB962C8B-B14F-4D97-AF65-F5344CB8AC3E}">
        <p14:creationId xmlns:p14="http://schemas.microsoft.com/office/powerpoint/2010/main" val="17633286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My progress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marL="342900" indent="-342900" algn="thaiDist">
              <a:lnSpc>
                <a:spcPct val="150000"/>
              </a:lnSpc>
              <a:buFont typeface="+mj-lt"/>
              <a:buAutoNum type="arabicPeriod"/>
            </a:pPr>
            <a:r>
              <a:rPr lang="en-US" b="1" dirty="0">
                <a:solidFill>
                  <a:srgbClr val="FFC000"/>
                </a:solidFill>
                <a:latin typeface="Open Sans"/>
              </a:rPr>
              <a:t>CMU-ETEGS Test (in progress)</a:t>
            </a:r>
            <a:endParaRPr lang="en-US" dirty="0">
              <a:solidFill>
                <a:srgbClr val="FFC000"/>
              </a:solidFill>
              <a:latin typeface="Open Sans"/>
            </a:endParaRPr>
          </a:p>
          <a:p>
            <a:pPr marL="342900" indent="-342900" algn="thaiDist">
              <a:lnSpc>
                <a:spcPct val="150000"/>
              </a:lnSpc>
              <a:buFont typeface="+mj-lt"/>
              <a:buAutoNum type="arabicPeriod"/>
            </a:pPr>
            <a:r>
              <a:rPr lang="en-US" b="1" dirty="0">
                <a:latin typeface="Open Sans"/>
              </a:rPr>
              <a:t>Proposal Test (this term)</a:t>
            </a:r>
          </a:p>
          <a:p>
            <a:pPr marL="342900" indent="-342900" algn="thaiDist">
              <a:lnSpc>
                <a:spcPct val="150000"/>
              </a:lnSpc>
              <a:buFont typeface="+mj-lt"/>
              <a:buAutoNum type="arabicPeriod"/>
            </a:pPr>
            <a:r>
              <a:rPr lang="en-US" b="1" dirty="0">
                <a:solidFill>
                  <a:srgbClr val="FFC000"/>
                </a:solidFill>
                <a:latin typeface="Open Sans"/>
              </a:rPr>
              <a:t>Develop and test my optimization (in progress)</a:t>
            </a:r>
          </a:p>
          <a:p>
            <a:pPr marL="342900" indent="-342900" algn="thaiDist">
              <a:lnSpc>
                <a:spcPct val="150000"/>
              </a:lnSpc>
              <a:buFont typeface="+mj-lt"/>
              <a:buAutoNum type="arabicPeriod"/>
            </a:pPr>
            <a:r>
              <a:rPr lang="en-US" b="1" dirty="0">
                <a:latin typeface="Open Sans"/>
              </a:rPr>
              <a:t>CPU and GPU acceleration </a:t>
            </a:r>
            <a:r>
              <a:rPr lang="en-US" b="1" dirty="0">
                <a:solidFill>
                  <a:srgbClr val="92D050"/>
                </a:solidFill>
                <a:latin typeface="Open Sans"/>
              </a:rPr>
              <a:t>(CPU acceleration done)</a:t>
            </a:r>
          </a:p>
          <a:p>
            <a:pPr marL="342900" indent="-342900" algn="thaiDist">
              <a:lnSpc>
                <a:spcPct val="150000"/>
              </a:lnSpc>
              <a:buFont typeface="+mj-lt"/>
              <a:buAutoNum type="arabicPeriod"/>
            </a:pPr>
            <a:r>
              <a:rPr lang="en-US" b="1" dirty="0">
                <a:latin typeface="Open Sans"/>
              </a:rPr>
              <a:t>Journal</a:t>
            </a:r>
            <a:endParaRPr lang="en-US" dirty="0">
              <a:latin typeface="Open Sans"/>
            </a:endParaRPr>
          </a:p>
        </p:txBody>
      </p:sp>
    </p:spTree>
    <p:extLst>
      <p:ext uri="{BB962C8B-B14F-4D97-AF65-F5344CB8AC3E}">
        <p14:creationId xmlns:p14="http://schemas.microsoft.com/office/powerpoint/2010/main" val="1140917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a:bodyPr>
          <a:lstStyle/>
          <a:p>
            <a:pPr algn="ctr"/>
            <a:r>
              <a:rPr lang="en-US" sz="4000" cap="none" dirty="0">
                <a:solidFill>
                  <a:schemeClr val="tx1"/>
                </a:solidFill>
                <a:latin typeface="+mn-lt"/>
              </a:rPr>
              <a:t>Impact of Genetic Algorithms Operators</a:t>
            </a:r>
            <a:br>
              <a:rPr lang="en-US" sz="4000" cap="none" dirty="0">
                <a:solidFill>
                  <a:schemeClr val="tx1"/>
                </a:solidFill>
                <a:latin typeface="+mn-lt"/>
              </a:rPr>
            </a:br>
            <a:r>
              <a:rPr lang="en-US" sz="4000" cap="none" dirty="0">
                <a:solidFill>
                  <a:schemeClr val="tx1"/>
                </a:solidFill>
                <a:latin typeface="+mn-lt"/>
              </a:rPr>
              <a:t>on Association Rules Extraction</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6898104" y="5518483"/>
            <a:ext cx="4676635" cy="882315"/>
          </a:xfrm>
        </p:spPr>
        <p:txBody>
          <a:bodyPr>
            <a:normAutofit/>
          </a:bodyPr>
          <a:lstStyle/>
          <a:p>
            <a:pPr algn="r"/>
            <a:r>
              <a:rPr lang="en-US" sz="1400" cap="none" dirty="0">
                <a:solidFill>
                  <a:schemeClr val="tx1"/>
                </a:solidFill>
              </a:rPr>
              <a:t>Reviewed by </a:t>
            </a:r>
            <a:r>
              <a:rPr lang="en-US" sz="1400" cap="none" dirty="0" err="1">
                <a:solidFill>
                  <a:schemeClr val="tx1"/>
                </a:solidFill>
              </a:rPr>
              <a:t>Wanarut</a:t>
            </a:r>
            <a:r>
              <a:rPr lang="en-US" sz="1400" cap="none" dirty="0">
                <a:solidFill>
                  <a:schemeClr val="tx1"/>
                </a:solidFill>
              </a:rPr>
              <a:t> </a:t>
            </a:r>
            <a:r>
              <a:rPr lang="en-US" sz="1400" cap="none" dirty="0" err="1">
                <a:solidFill>
                  <a:schemeClr val="tx1"/>
                </a:solidFill>
              </a:rPr>
              <a:t>Boonyung</a:t>
            </a:r>
            <a:endParaRPr lang="en-US" sz="1400" cap="none" dirty="0">
              <a:solidFill>
                <a:schemeClr val="tx1"/>
              </a:solidFill>
            </a:endParaRPr>
          </a:p>
          <a:p>
            <a:pPr algn="r"/>
            <a:r>
              <a:rPr lang="en-US" sz="1400" cap="none" dirty="0">
                <a:solidFill>
                  <a:schemeClr val="tx1"/>
                </a:solidFill>
              </a:rPr>
              <a:t>8 </a:t>
            </a:r>
            <a:r>
              <a:rPr lang="en-US" sz="1400" cap="none" dirty="0" err="1">
                <a:solidFill>
                  <a:schemeClr val="tx1"/>
                </a:solidFill>
              </a:rPr>
              <a:t>Febuary</a:t>
            </a:r>
            <a:r>
              <a:rPr lang="en-US" sz="1400" cap="none" dirty="0">
                <a:solidFill>
                  <a:schemeClr val="tx1"/>
                </a:solidFill>
              </a:rPr>
              <a:t> 2021</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2031325"/>
          </a:xfrm>
          <a:prstGeom prst="rect">
            <a:avLst/>
          </a:prstGeom>
          <a:noFill/>
        </p:spPr>
        <p:txBody>
          <a:bodyPr wrap="square" rtlCol="0">
            <a:spAutoFit/>
          </a:bodyPr>
          <a:lstStyle/>
          <a:p>
            <a:pPr algn="ctr"/>
            <a:r>
              <a:rPr lang="en-US" dirty="0"/>
              <a:t>Leila </a:t>
            </a:r>
            <a:r>
              <a:rPr lang="en-US" dirty="0" err="1"/>
              <a:t>Hamdad</a:t>
            </a:r>
            <a:r>
              <a:rPr lang="en-US" dirty="0"/>
              <a:t>, Karima </a:t>
            </a:r>
            <a:r>
              <a:rPr lang="en-US" dirty="0" err="1"/>
              <a:t>Benatchba</a:t>
            </a:r>
            <a:r>
              <a:rPr lang="en-US" dirty="0"/>
              <a:t>, </a:t>
            </a:r>
            <a:r>
              <a:rPr lang="en-US" dirty="0" err="1"/>
              <a:t>Ahcene</a:t>
            </a:r>
            <a:r>
              <a:rPr lang="en-US" dirty="0"/>
              <a:t> </a:t>
            </a:r>
            <a:r>
              <a:rPr lang="en-US" dirty="0" err="1"/>
              <a:t>Bendjoudi</a:t>
            </a:r>
            <a:r>
              <a:rPr lang="en-US" dirty="0"/>
              <a:t>, and Zakaria </a:t>
            </a:r>
            <a:r>
              <a:rPr lang="en-US" dirty="0" err="1"/>
              <a:t>Ournani</a:t>
            </a:r>
            <a:endParaRPr lang="en-US" dirty="0"/>
          </a:p>
          <a:p>
            <a:pPr algn="ctr"/>
            <a:endParaRPr lang="en-US" dirty="0"/>
          </a:p>
          <a:p>
            <a:pPr algn="ctr"/>
            <a:r>
              <a:rPr lang="fr-FR" dirty="0"/>
              <a:t>LCSI, Ecole nationale </a:t>
            </a:r>
            <a:r>
              <a:rPr lang="fr-FR" dirty="0" err="1"/>
              <a:t>Sup´erieure</a:t>
            </a:r>
            <a:r>
              <a:rPr lang="fr-FR" dirty="0"/>
              <a:t> en Informatique ESI,</a:t>
            </a:r>
          </a:p>
          <a:p>
            <a:pPr algn="ctr"/>
            <a:r>
              <a:rPr lang="fr-FR" dirty="0"/>
              <a:t>Oued </a:t>
            </a:r>
            <a:r>
              <a:rPr lang="fr-FR" dirty="0" err="1"/>
              <a:t>ESmar</a:t>
            </a:r>
            <a:r>
              <a:rPr lang="fr-FR" dirty="0"/>
              <a:t>, El Harrach, Algeria</a:t>
            </a:r>
          </a:p>
          <a:p>
            <a:pPr algn="ctr"/>
            <a:endParaRPr lang="en-US" dirty="0"/>
          </a:p>
          <a:p>
            <a:pPr algn="ctr"/>
            <a:r>
              <a:rPr lang="en-US" dirty="0"/>
              <a:t>International Work-Conference on Artificial Neural Networks</a:t>
            </a:r>
          </a:p>
          <a:p>
            <a:pPr algn="ctr"/>
            <a:r>
              <a:rPr lang="en-US" dirty="0"/>
              <a:t>IWANN 2019: Advances in Computational Intelligence pp 747-759</a:t>
            </a:r>
          </a:p>
        </p:txBody>
      </p:sp>
    </p:spTree>
    <p:extLst>
      <p:ext uri="{BB962C8B-B14F-4D97-AF65-F5344CB8AC3E}">
        <p14:creationId xmlns:p14="http://schemas.microsoft.com/office/powerpoint/2010/main" val="2297924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Objective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533707"/>
          </a:xfrm>
          <a:prstGeom prst="rect">
            <a:avLst/>
          </a:prstGeom>
          <a:noFill/>
        </p:spPr>
        <p:txBody>
          <a:bodyPr wrap="square" rtlCol="0">
            <a:spAutoFit/>
          </a:bodyPr>
          <a:lstStyle/>
          <a:p>
            <a:pPr algn="thaiDist">
              <a:lnSpc>
                <a:spcPct val="150000"/>
              </a:lnSpc>
            </a:pPr>
            <a:r>
              <a:rPr lang="en-US" dirty="0">
                <a:latin typeface="Open Sans"/>
              </a:rPr>
              <a:t>This work has two objectives: </a:t>
            </a:r>
          </a:p>
          <a:p>
            <a:pPr algn="thaiDist">
              <a:lnSpc>
                <a:spcPct val="150000"/>
              </a:lnSpc>
            </a:pPr>
            <a:r>
              <a:rPr lang="en-US" dirty="0">
                <a:latin typeface="Open Sans"/>
              </a:rPr>
              <a:t>	First, to study the impact of GAs’ components, such as chromosomes(solutions) encoding and different crossover, mutation and replacement strategies on the number and quality of extracted association rules.</a:t>
            </a:r>
          </a:p>
          <a:p>
            <a:pPr algn="thaiDist">
              <a:lnSpc>
                <a:spcPct val="150000"/>
              </a:lnSpc>
            </a:pPr>
            <a:r>
              <a:rPr lang="en-US" dirty="0">
                <a:latin typeface="Open Sans"/>
              </a:rPr>
              <a:t>	Second, we propose a strategy to manage the population. The latter is divided in sub-populations. A GA is applied on each sub-population.</a:t>
            </a:r>
          </a:p>
        </p:txBody>
      </p:sp>
    </p:spTree>
    <p:extLst>
      <p:ext uri="{BB962C8B-B14F-4D97-AF65-F5344CB8AC3E}">
        <p14:creationId xmlns:p14="http://schemas.microsoft.com/office/powerpoint/2010/main" val="30631888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1685526"/>
          </a:xfrm>
          <a:prstGeom prst="rect">
            <a:avLst/>
          </a:prstGeom>
          <a:noFill/>
        </p:spPr>
        <p:txBody>
          <a:bodyPr wrap="square" rtlCol="0">
            <a:spAutoFit/>
          </a:bodyPr>
          <a:lstStyle/>
          <a:p>
            <a:pPr algn="ctr">
              <a:lnSpc>
                <a:spcPct val="150000"/>
              </a:lnSpc>
            </a:pPr>
            <a:r>
              <a:rPr lang="en-US" sz="2400" dirty="0">
                <a:latin typeface="Open Sans"/>
              </a:rPr>
              <a:t>First GAs’ component </a:t>
            </a:r>
          </a:p>
          <a:p>
            <a:pPr algn="ctr">
              <a:lnSpc>
                <a:spcPct val="150000"/>
              </a:lnSpc>
            </a:pPr>
            <a:endParaRPr lang="en-US" sz="2400" dirty="0">
              <a:latin typeface="Open Sans"/>
            </a:endParaRPr>
          </a:p>
          <a:p>
            <a:pPr algn="ctr">
              <a:lnSpc>
                <a:spcPct val="150000"/>
              </a:lnSpc>
            </a:pPr>
            <a:r>
              <a:rPr lang="en-US" sz="2400" dirty="0">
                <a:latin typeface="Open Sans"/>
              </a:rPr>
              <a:t>Chromosomes(solutions, individuals) Encoding</a:t>
            </a:r>
          </a:p>
        </p:txBody>
      </p:sp>
    </p:spTree>
    <p:extLst>
      <p:ext uri="{BB962C8B-B14F-4D97-AF65-F5344CB8AC3E}">
        <p14:creationId xmlns:p14="http://schemas.microsoft.com/office/powerpoint/2010/main" val="33622810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algn="thaiDist">
              <a:lnSpc>
                <a:spcPct val="150000"/>
              </a:lnSpc>
            </a:pPr>
            <a:r>
              <a:rPr lang="en-US" dirty="0">
                <a:latin typeface="Open Sans"/>
              </a:rPr>
              <a:t>this paper proposed to test two types of population’s organization in chromosomes encoding.</a:t>
            </a:r>
          </a:p>
          <a:p>
            <a:pPr marL="342900" indent="-342900" algn="thaiDist">
              <a:lnSpc>
                <a:spcPct val="150000"/>
              </a:lnSpc>
              <a:buFont typeface="+mj-lt"/>
              <a:buAutoNum type="arabicPeriod"/>
            </a:pPr>
            <a:r>
              <a:rPr lang="en-US" b="1" dirty="0">
                <a:latin typeface="Open Sans"/>
              </a:rPr>
              <a:t>Different rules size of solutions</a:t>
            </a:r>
          </a:p>
          <a:p>
            <a:pPr marL="800100" lvl="1" indent="-342900" algn="thaiDist">
              <a:lnSpc>
                <a:spcPct val="150000"/>
              </a:lnSpc>
              <a:buFont typeface="Arial" panose="020B0604020202020204" pitchFamily="34" charset="0"/>
              <a:buChar char="•"/>
            </a:pPr>
            <a:r>
              <a:rPr lang="en-US" dirty="0">
                <a:latin typeface="Open Sans"/>
              </a:rPr>
              <a:t>population contains solutions of the different rules size.</a:t>
            </a:r>
          </a:p>
          <a:p>
            <a:pPr marL="342900" indent="-342900" algn="thaiDist">
              <a:lnSpc>
                <a:spcPct val="150000"/>
              </a:lnSpc>
              <a:buFont typeface="+mj-lt"/>
              <a:buAutoNum type="arabicPeriod"/>
            </a:pPr>
            <a:r>
              <a:rPr lang="en-US" b="1" dirty="0">
                <a:latin typeface="Open Sans"/>
              </a:rPr>
              <a:t>Different rules size of sub-populations(Class)</a:t>
            </a:r>
          </a:p>
          <a:p>
            <a:pPr marL="800100" lvl="1" indent="-342900" algn="thaiDist">
              <a:lnSpc>
                <a:spcPct val="150000"/>
              </a:lnSpc>
              <a:buFont typeface="Arial" panose="020B0604020202020204" pitchFamily="34" charset="0"/>
              <a:buChar char="•"/>
            </a:pPr>
            <a:r>
              <a:rPr lang="en-US" dirty="0">
                <a:latin typeface="Open Sans"/>
              </a:rPr>
              <a:t>Each sub-population contains solutions of the same rules size.</a:t>
            </a:r>
          </a:p>
        </p:txBody>
      </p:sp>
    </p:spTree>
    <p:extLst>
      <p:ext uri="{BB962C8B-B14F-4D97-AF65-F5344CB8AC3E}">
        <p14:creationId xmlns:p14="http://schemas.microsoft.com/office/powerpoint/2010/main" val="3556144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population contains solutions of the different rules size. solution contains different items. The last one represents the consequence part and the others the antecedent. </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3014035247"/>
              </p:ext>
            </p:extLst>
          </p:nvPr>
        </p:nvGraphicFramePr>
        <p:xfrm>
          <a:off x="1815965" y="3429000"/>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172949">
                  <a:extLst>
                    <a:ext uri="{9D8B030D-6E8A-4147-A177-3AD203B41FA5}">
                      <a16:colId xmlns:a16="http://schemas.microsoft.com/office/drawing/2014/main" val="1152342279"/>
                    </a:ext>
                  </a:extLst>
                </a:gridCol>
                <a:gridCol w="259424">
                  <a:extLst>
                    <a:ext uri="{9D8B030D-6E8A-4147-A177-3AD203B41FA5}">
                      <a16:colId xmlns:a16="http://schemas.microsoft.com/office/drawing/2014/main" val="3939716757"/>
                    </a:ext>
                  </a:extLst>
                </a:gridCol>
                <a:gridCol w="432373">
                  <a:extLst>
                    <a:ext uri="{9D8B030D-6E8A-4147-A177-3AD203B41FA5}">
                      <a16:colId xmlns:a16="http://schemas.microsoft.com/office/drawing/2014/main" val="2431332092"/>
                    </a:ext>
                  </a:extLst>
                </a:gridCol>
                <a:gridCol w="345898">
                  <a:extLst>
                    <a:ext uri="{9D8B030D-6E8A-4147-A177-3AD203B41FA5}">
                      <a16:colId xmlns:a16="http://schemas.microsoft.com/office/drawing/2014/main" val="2310840548"/>
                    </a:ext>
                  </a:extLst>
                </a:gridCol>
                <a:gridCol w="518848">
                  <a:extLst>
                    <a:ext uri="{9D8B030D-6E8A-4147-A177-3AD203B41FA5}">
                      <a16:colId xmlns:a16="http://schemas.microsoft.com/office/drawing/2014/main" val="34225597"/>
                    </a:ext>
                  </a:extLst>
                </a:gridCol>
                <a:gridCol w="518848">
                  <a:extLst>
                    <a:ext uri="{9D8B030D-6E8A-4147-A177-3AD203B41FA5}">
                      <a16:colId xmlns:a16="http://schemas.microsoft.com/office/drawing/2014/main" val="2974336640"/>
                    </a:ext>
                  </a:extLst>
                </a:gridCol>
                <a:gridCol w="345898">
                  <a:extLst>
                    <a:ext uri="{9D8B030D-6E8A-4147-A177-3AD203B41FA5}">
                      <a16:colId xmlns:a16="http://schemas.microsoft.com/office/drawing/2014/main" val="3448972760"/>
                    </a:ext>
                  </a:extLst>
                </a:gridCol>
                <a:gridCol w="432373">
                  <a:extLst>
                    <a:ext uri="{9D8B030D-6E8A-4147-A177-3AD203B41FA5}">
                      <a16:colId xmlns:a16="http://schemas.microsoft.com/office/drawing/2014/main" val="310052831"/>
                    </a:ext>
                  </a:extLst>
                </a:gridCol>
                <a:gridCol w="259424">
                  <a:extLst>
                    <a:ext uri="{9D8B030D-6E8A-4147-A177-3AD203B41FA5}">
                      <a16:colId xmlns:a16="http://schemas.microsoft.com/office/drawing/2014/main" val="920735811"/>
                    </a:ext>
                  </a:extLst>
                </a:gridCol>
                <a:gridCol w="172949">
                  <a:extLst>
                    <a:ext uri="{9D8B030D-6E8A-4147-A177-3AD203B41FA5}">
                      <a16:colId xmlns:a16="http://schemas.microsoft.com/office/drawing/2014/main" val="82693598"/>
                    </a:ext>
                  </a:extLst>
                </a:gridCol>
                <a:gridCol w="864746">
                  <a:extLst>
                    <a:ext uri="{9D8B030D-6E8A-4147-A177-3AD203B41FA5}">
                      <a16:colId xmlns:a16="http://schemas.microsoft.com/office/drawing/2014/main" val="1313672349"/>
                    </a:ext>
                  </a:extLst>
                </a:gridCol>
                <a:gridCol w="864746">
                  <a:extLst>
                    <a:ext uri="{9D8B030D-6E8A-4147-A177-3AD203B41FA5}">
                      <a16:colId xmlns:a16="http://schemas.microsoft.com/office/drawing/2014/main" val="3613773959"/>
                    </a:ext>
                  </a:extLst>
                </a:gridCol>
              </a:tblGrid>
              <a:tr h="370840">
                <a:tc gridSpan="1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10</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3</a:t>
                      </a:r>
                      <a:endParaRPr lang="th-TH" sz="1600" dirty="0">
                        <a:latin typeface="Open Sans"/>
                      </a:endParaRPr>
                    </a:p>
                  </a:txBody>
                  <a:tcPr anchor="ctr">
                    <a:solidFill>
                      <a:srgbClr val="FF7171"/>
                    </a:solidFill>
                  </a:tcPr>
                </a:tc>
                <a:tc hMerge="1">
                  <a:txBody>
                    <a:bodyPr/>
                    <a:lstStyle/>
                    <a:p>
                      <a:endParaRPr lang="th-TH"/>
                    </a:p>
                  </a:txBody>
                  <a:tcPr/>
                </a:tc>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0.92</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1600" dirty="0">
                          <a:latin typeface="Open Sans"/>
                        </a:rPr>
                        <a:t>0.94</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gridSpan="4">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14</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20</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7</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8152599" y="3705523"/>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
        <p:nvSpPr>
          <p:cNvPr id="9" name="Title 1">
            <a:extLst>
              <a:ext uri="{FF2B5EF4-FFF2-40B4-BE49-F238E27FC236}">
                <a16:creationId xmlns:a16="http://schemas.microsoft.com/office/drawing/2014/main" id="{C3142C75-973F-4CDB-AE37-31A504CE7ECB}"/>
              </a:ext>
            </a:extLst>
          </p:cNvPr>
          <p:cNvSpPr>
            <a:spLocks noGrp="1"/>
          </p:cNvSpPr>
          <p:nvPr>
            <p:ph type="title"/>
          </p:nvPr>
        </p:nvSpPr>
        <p:spPr>
          <a:xfrm>
            <a:off x="581192" y="702156"/>
            <a:ext cx="11029616" cy="1188720"/>
          </a:xfrm>
        </p:spPr>
        <p:txBody>
          <a:bodyPr/>
          <a:lstStyle/>
          <a:p>
            <a:r>
              <a:rPr lang="en-US" dirty="0">
                <a:solidFill>
                  <a:schemeClr val="tx1"/>
                </a:solidFill>
              </a:rPr>
              <a:t>Different rules size of solutions</a:t>
            </a:r>
            <a:endParaRPr lang="th-TH" dirty="0">
              <a:solidFill>
                <a:schemeClr val="tx1"/>
              </a:solidFill>
            </a:endParaRPr>
          </a:p>
        </p:txBody>
      </p:sp>
    </p:spTree>
    <p:extLst>
      <p:ext uri="{BB962C8B-B14F-4D97-AF65-F5344CB8AC3E}">
        <p14:creationId xmlns:p14="http://schemas.microsoft.com/office/powerpoint/2010/main" val="25981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741145" y="2100823"/>
            <a:ext cx="3339968" cy="41091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sz="1600" dirty="0">
                <a:latin typeface="Open Sans"/>
              </a:rPr>
              <a:t>Each sub-population contains solutions of the same rules size. </a:t>
            </a:r>
          </a:p>
          <a:p>
            <a:pPr marL="285750" indent="-285750" algn="thaiDist">
              <a:lnSpc>
                <a:spcPct val="150000"/>
              </a:lnSpc>
              <a:buFont typeface="Arial" panose="020B0604020202020204" pitchFamily="34" charset="0"/>
              <a:buChar char="•"/>
            </a:pPr>
            <a:r>
              <a:rPr lang="en-US" sz="1600" dirty="0">
                <a:latin typeface="Open Sans"/>
              </a:rPr>
              <a:t>A subpopulation consists of several rules.</a:t>
            </a:r>
          </a:p>
          <a:p>
            <a:pPr marL="285750" indent="-285750" algn="thaiDist">
              <a:lnSpc>
                <a:spcPct val="150000"/>
              </a:lnSpc>
              <a:buFont typeface="Arial" panose="020B0604020202020204" pitchFamily="34" charset="0"/>
              <a:buChar char="•"/>
            </a:pPr>
            <a:r>
              <a:rPr lang="en-US" sz="1600" dirty="0">
                <a:latin typeface="Open Sans"/>
              </a:rPr>
              <a:t>Many items are considered in the consequence part. </a:t>
            </a:r>
          </a:p>
          <a:p>
            <a:pPr marL="285750" indent="-285750" algn="thaiDist">
              <a:lnSpc>
                <a:spcPct val="150000"/>
              </a:lnSpc>
              <a:buFont typeface="Arial" panose="020B0604020202020204" pitchFamily="34" charset="0"/>
              <a:buChar char="•"/>
            </a:pPr>
            <a:r>
              <a:rPr lang="en-US" sz="1600" dirty="0">
                <a:latin typeface="Open Sans"/>
              </a:rPr>
              <a:t>Hence, an index is used to separate the two parts of the rule.</a:t>
            </a:r>
          </a:p>
          <a:p>
            <a:pPr marL="285750" indent="-285750" algn="thaiDist">
              <a:lnSpc>
                <a:spcPct val="150000"/>
              </a:lnSpc>
              <a:buFont typeface="Arial" panose="020B0604020202020204" pitchFamily="34" charset="0"/>
              <a:buChar char="•"/>
            </a:pPr>
            <a:r>
              <a:rPr lang="en-US" sz="1600" dirty="0">
                <a:latin typeface="Open Sans"/>
              </a:rPr>
              <a:t>A GA is applied on each sub-population.</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569808288"/>
              </p:ext>
            </p:extLst>
          </p:nvPr>
        </p:nvGraphicFramePr>
        <p:xfrm>
          <a:off x="5040429" y="1939710"/>
          <a:ext cx="4786965" cy="4608000"/>
        </p:xfrm>
        <a:graphic>
          <a:graphicData uri="http://schemas.openxmlformats.org/drawingml/2006/table">
            <a:tbl>
              <a:tblPr firstRow="1" bandRow="1">
                <a:tableStyleId>{5C22544A-7EE6-4342-B048-85BDC9FD1C3A}</a:tableStyleId>
              </a:tblPr>
              <a:tblGrid>
                <a:gridCol w="549301">
                  <a:extLst>
                    <a:ext uri="{9D8B030D-6E8A-4147-A177-3AD203B41FA5}">
                      <a16:colId xmlns:a16="http://schemas.microsoft.com/office/drawing/2014/main" val="3738510916"/>
                    </a:ext>
                  </a:extLst>
                </a:gridCol>
                <a:gridCol w="154353">
                  <a:extLst>
                    <a:ext uri="{9D8B030D-6E8A-4147-A177-3AD203B41FA5}">
                      <a16:colId xmlns:a16="http://schemas.microsoft.com/office/drawing/2014/main" val="1607877130"/>
                    </a:ext>
                  </a:extLst>
                </a:gridCol>
                <a:gridCol w="154353">
                  <a:extLst>
                    <a:ext uri="{9D8B030D-6E8A-4147-A177-3AD203B41FA5}">
                      <a16:colId xmlns:a16="http://schemas.microsoft.com/office/drawing/2014/main" val="54834497"/>
                    </a:ext>
                  </a:extLst>
                </a:gridCol>
                <a:gridCol w="192256">
                  <a:extLst>
                    <a:ext uri="{9D8B030D-6E8A-4147-A177-3AD203B41FA5}">
                      <a16:colId xmlns:a16="http://schemas.microsoft.com/office/drawing/2014/main" val="1723043532"/>
                    </a:ext>
                  </a:extLst>
                </a:gridCol>
                <a:gridCol w="154353">
                  <a:extLst>
                    <a:ext uri="{9D8B030D-6E8A-4147-A177-3AD203B41FA5}">
                      <a16:colId xmlns:a16="http://schemas.microsoft.com/office/drawing/2014/main" val="4063169673"/>
                    </a:ext>
                  </a:extLst>
                </a:gridCol>
                <a:gridCol w="183101">
                  <a:extLst>
                    <a:ext uri="{9D8B030D-6E8A-4147-A177-3AD203B41FA5}">
                      <a16:colId xmlns:a16="http://schemas.microsoft.com/office/drawing/2014/main" val="2083857105"/>
                    </a:ext>
                  </a:extLst>
                </a:gridCol>
                <a:gridCol w="256339">
                  <a:extLst>
                    <a:ext uri="{9D8B030D-6E8A-4147-A177-3AD203B41FA5}">
                      <a16:colId xmlns:a16="http://schemas.microsoft.com/office/drawing/2014/main" val="3515211154"/>
                    </a:ext>
                  </a:extLst>
                </a:gridCol>
                <a:gridCol w="154353">
                  <a:extLst>
                    <a:ext uri="{9D8B030D-6E8A-4147-A177-3AD203B41FA5}">
                      <a16:colId xmlns:a16="http://schemas.microsoft.com/office/drawing/2014/main" val="1001875867"/>
                    </a:ext>
                  </a:extLst>
                </a:gridCol>
                <a:gridCol w="274649">
                  <a:extLst>
                    <a:ext uri="{9D8B030D-6E8A-4147-A177-3AD203B41FA5}">
                      <a16:colId xmlns:a16="http://schemas.microsoft.com/office/drawing/2014/main" val="779595328"/>
                    </a:ext>
                  </a:extLst>
                </a:gridCol>
                <a:gridCol w="274649">
                  <a:extLst>
                    <a:ext uri="{9D8B030D-6E8A-4147-A177-3AD203B41FA5}">
                      <a16:colId xmlns:a16="http://schemas.microsoft.com/office/drawing/2014/main" val="490039618"/>
                    </a:ext>
                  </a:extLst>
                </a:gridCol>
                <a:gridCol w="154353">
                  <a:extLst>
                    <a:ext uri="{9D8B030D-6E8A-4147-A177-3AD203B41FA5}">
                      <a16:colId xmlns:a16="http://schemas.microsoft.com/office/drawing/2014/main" val="922192929"/>
                    </a:ext>
                  </a:extLst>
                </a:gridCol>
                <a:gridCol w="256339">
                  <a:extLst>
                    <a:ext uri="{9D8B030D-6E8A-4147-A177-3AD203B41FA5}">
                      <a16:colId xmlns:a16="http://schemas.microsoft.com/office/drawing/2014/main" val="1283635792"/>
                    </a:ext>
                  </a:extLst>
                </a:gridCol>
                <a:gridCol w="183101">
                  <a:extLst>
                    <a:ext uri="{9D8B030D-6E8A-4147-A177-3AD203B41FA5}">
                      <a16:colId xmlns:a16="http://schemas.microsoft.com/office/drawing/2014/main" val="222939114"/>
                    </a:ext>
                  </a:extLst>
                </a:gridCol>
                <a:gridCol w="154353">
                  <a:extLst>
                    <a:ext uri="{9D8B030D-6E8A-4147-A177-3AD203B41FA5}">
                      <a16:colId xmlns:a16="http://schemas.microsoft.com/office/drawing/2014/main" val="3181134407"/>
                    </a:ext>
                  </a:extLst>
                </a:gridCol>
                <a:gridCol w="192256">
                  <a:extLst>
                    <a:ext uri="{9D8B030D-6E8A-4147-A177-3AD203B41FA5}">
                      <a16:colId xmlns:a16="http://schemas.microsoft.com/office/drawing/2014/main" val="1925200940"/>
                    </a:ext>
                  </a:extLst>
                </a:gridCol>
                <a:gridCol w="154353">
                  <a:extLst>
                    <a:ext uri="{9D8B030D-6E8A-4147-A177-3AD203B41FA5}">
                      <a16:colId xmlns:a16="http://schemas.microsoft.com/office/drawing/2014/main" val="3771938537"/>
                    </a:ext>
                  </a:extLst>
                </a:gridCol>
                <a:gridCol w="154353">
                  <a:extLst>
                    <a:ext uri="{9D8B030D-6E8A-4147-A177-3AD203B41FA5}">
                      <a16:colId xmlns:a16="http://schemas.microsoft.com/office/drawing/2014/main" val="3033093664"/>
                    </a:ext>
                  </a:extLst>
                </a:gridCol>
                <a:gridCol w="549301">
                  <a:extLst>
                    <a:ext uri="{9D8B030D-6E8A-4147-A177-3AD203B41FA5}">
                      <a16:colId xmlns:a16="http://schemas.microsoft.com/office/drawing/2014/main" val="2929257369"/>
                    </a:ext>
                  </a:extLst>
                </a:gridCol>
                <a:gridCol w="640849">
                  <a:extLst>
                    <a:ext uri="{9D8B030D-6E8A-4147-A177-3AD203B41FA5}">
                      <a16:colId xmlns:a16="http://schemas.microsoft.com/office/drawing/2014/main" val="3613773959"/>
                    </a:ext>
                  </a:extLst>
                </a:gridCol>
              </a:tblGrid>
              <a:tr h="288000">
                <a:tc gridSpan="18">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Population (Solutions) X -&gt; Y</a:t>
                      </a:r>
                      <a:endParaRPr lang="th-TH" sz="9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Fitness</a:t>
                      </a:r>
                      <a:endParaRPr lang="th-TH" sz="900" dirty="0">
                        <a:latin typeface="Open Sans"/>
                      </a:endParaRPr>
                    </a:p>
                  </a:txBody>
                  <a:tcPr anchor="ctr">
                    <a:solidFill>
                      <a:srgbClr val="00B050"/>
                    </a:solidFill>
                  </a:tcPr>
                </a:tc>
                <a:extLst>
                  <a:ext uri="{0D108BD9-81ED-4DB2-BD59-A6C34878D82A}">
                    <a16:rowId xmlns:a16="http://schemas.microsoft.com/office/drawing/2014/main" val="252612402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28800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88047283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6</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0.90</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224346639"/>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0.71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853667012"/>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0.56</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448527289"/>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11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0.65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32313915"/>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68211313"/>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653394358"/>
                  </a:ext>
                </a:extLst>
              </a:tr>
              <a:tr h="288000">
                <a:tc gridSpan="3">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9</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gridSpan="3">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0.21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288000">
                <a:tc gridSpan="3">
                  <a:txBody>
                    <a:bodyPr/>
                    <a:lstStyle/>
                    <a:p>
                      <a:pPr algn="ctr"/>
                      <a:r>
                        <a:rPr lang="en-US" sz="900" dirty="0">
                          <a:latin typeface="Open Sans"/>
                        </a:rPr>
                        <a:t>Index 3</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0.32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00062199"/>
                  </a:ext>
                </a:extLst>
              </a:tr>
              <a:tr h="288000">
                <a:tc gridSpan="3">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9</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12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530673493"/>
                  </a:ext>
                </a:extLst>
              </a:tr>
              <a:tr h="288000">
                <a:tc gridSpan="2">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solidFill>
                      <a:srgbClr val="FF7171"/>
                    </a:solidFill>
                  </a:tcPr>
                </a:tc>
                <a:tc hMerge="1">
                  <a:txBody>
                    <a:bodyPr/>
                    <a:lstStyle/>
                    <a:p>
                      <a:endParaRPr lang="th-TH"/>
                    </a:p>
                  </a:txBody>
                  <a:tcPr/>
                </a:tc>
                <a:tc gridSpan="3">
                  <a:txBody>
                    <a:bodyPr/>
                    <a:lstStyle/>
                    <a:p>
                      <a:pPr algn="ctr"/>
                      <a:r>
                        <a:rPr lang="en-US" sz="900">
                          <a:latin typeface="Open Sans"/>
                        </a:rPr>
                        <a:t>Item 9</a:t>
                      </a:r>
                      <a:endParaRPr lang="th-TH" sz="9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pPr algn="ctr"/>
                      <a:endParaRPr lang="th-TH" sz="1600" dirty="0">
                        <a:latin typeface="Open Sans"/>
                      </a:endParaRPr>
                    </a:p>
                  </a:txBody>
                  <a:tcPr anchor="ctr"/>
                </a:tc>
                <a:tc hMerge="1">
                  <a:txBody>
                    <a:bodyPr/>
                    <a:lstStyle/>
                    <a:p>
                      <a:endParaRPr lang="th-TH"/>
                    </a:p>
                  </a:txBody>
                  <a:tcPr>
                    <a:solidFill>
                      <a:srgbClr val="FF7171"/>
                    </a:solidFill>
                  </a:tcPr>
                </a:tc>
                <a:tc gridSpan="4">
                  <a:txBody>
                    <a:bodyPr/>
                    <a:lstStyle/>
                    <a:p>
                      <a:pPr algn="ctr"/>
                      <a:r>
                        <a:rPr lang="en-US" sz="90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gridSpan="2">
                  <a:txBody>
                    <a:bodyPr/>
                    <a:lstStyle/>
                    <a:p>
                      <a:pPr algn="ctr"/>
                      <a:r>
                        <a:rPr lang="en-US" sz="900" dirty="0">
                          <a:latin typeface="Open Sans"/>
                        </a:rPr>
                        <a:t>Item 13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288000">
                <a:tc gridSpan="2">
                  <a:txBody>
                    <a:bodyPr/>
                    <a:lstStyle/>
                    <a:p>
                      <a:pPr algn="ctr"/>
                      <a:r>
                        <a:rPr lang="en-US" sz="900" dirty="0">
                          <a:latin typeface="Open Sans"/>
                        </a:rPr>
                        <a:t>Index 4</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14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20</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2">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0.41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093871033"/>
                  </a:ext>
                </a:extLst>
              </a:tr>
              <a:tr h="288000">
                <a:tc>
                  <a:txBody>
                    <a:bodyPr/>
                    <a:lstStyle/>
                    <a:p>
                      <a:pPr algn="ctr"/>
                      <a:r>
                        <a:rPr lang="en-US" sz="800" dirty="0">
                          <a:latin typeface="Open Sans"/>
                        </a:rPr>
                        <a:t>Index 3</a:t>
                      </a:r>
                      <a:endParaRPr lang="th-TH" sz="800" dirty="0">
                        <a:latin typeface="Open Sans"/>
                      </a:endParaRPr>
                    </a:p>
                  </a:txBody>
                  <a:tcPr anchor="ctr">
                    <a:solidFill>
                      <a:srgbClr val="FFC000"/>
                    </a:solidFill>
                  </a:tcPr>
                </a:tc>
                <a:tc gridSpan="4">
                  <a:txBody>
                    <a:bodyPr/>
                    <a:lstStyle/>
                    <a:p>
                      <a:pPr algn="ctr"/>
                      <a:r>
                        <a:rPr lang="en-US" sz="800" dirty="0">
                          <a:latin typeface="Open Sans"/>
                        </a:rPr>
                        <a:t>Item 4</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3</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2">
                  <a:txBody>
                    <a:bodyPr/>
                    <a:lstStyle/>
                    <a:p>
                      <a:pPr algn="ctr"/>
                      <a:r>
                        <a:rPr lang="en-US" sz="800" dirty="0">
                          <a:latin typeface="Open Sans"/>
                        </a:rPr>
                        <a:t>Item 2</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7</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4">
                  <a:txBody>
                    <a:bodyPr/>
                    <a:lstStyle/>
                    <a:p>
                      <a:pPr algn="ctr"/>
                      <a:r>
                        <a:rPr lang="en-US" sz="800" dirty="0">
                          <a:latin typeface="Open Sans"/>
                        </a:rPr>
                        <a:t>Item 8</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a:txBody>
                    <a:bodyPr/>
                    <a:lstStyle/>
                    <a:p>
                      <a:pPr algn="ctr"/>
                      <a:r>
                        <a:rPr lang="en-US" sz="800" dirty="0">
                          <a:latin typeface="Open Sans"/>
                        </a:rPr>
                        <a:t>Item 9</a:t>
                      </a:r>
                      <a:endParaRPr lang="th-TH" sz="800" dirty="0">
                        <a:latin typeface="Open Sans"/>
                      </a:endParaRPr>
                    </a:p>
                  </a:txBody>
                  <a:tcPr anchor="ctr">
                    <a:solidFill>
                      <a:schemeClr val="accent2">
                        <a:lumMod val="60000"/>
                        <a:lumOff val="40000"/>
                      </a:schemeClr>
                    </a:solidFill>
                  </a:tcPr>
                </a:tc>
                <a:tc>
                  <a:txBody>
                    <a:bodyPr/>
                    <a:lstStyle/>
                    <a:p>
                      <a:pPr algn="ctr"/>
                      <a:r>
                        <a:rPr lang="en-US" sz="800" dirty="0">
                          <a:latin typeface="Open Sans"/>
                        </a:rPr>
                        <a:t>0.64</a:t>
                      </a:r>
                      <a:endParaRPr lang="th-TH" sz="8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9968564" y="1939710"/>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
        <p:nvSpPr>
          <p:cNvPr id="13" name="Rectangle 12">
            <a:extLst>
              <a:ext uri="{FF2B5EF4-FFF2-40B4-BE49-F238E27FC236}">
                <a16:creationId xmlns:a16="http://schemas.microsoft.com/office/drawing/2014/main" id="{463FB53F-0394-47EA-83A0-FBB1D6854E61}"/>
              </a:ext>
            </a:extLst>
          </p:cNvPr>
          <p:cNvSpPr/>
          <p:nvPr/>
        </p:nvSpPr>
        <p:spPr>
          <a:xfrm>
            <a:off x="4706754" y="2233060"/>
            <a:ext cx="333675" cy="1424986"/>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100" dirty="0">
                <a:latin typeface="Open Sans"/>
              </a:rPr>
              <a:t>subpopulation 1</a:t>
            </a:r>
            <a:endParaRPr lang="th-TH" sz="1200" dirty="0">
              <a:latin typeface="Open Sans"/>
            </a:endParaRPr>
          </a:p>
        </p:txBody>
      </p:sp>
      <p:sp>
        <p:nvSpPr>
          <p:cNvPr id="14" name="Rectangle 13">
            <a:extLst>
              <a:ext uri="{FF2B5EF4-FFF2-40B4-BE49-F238E27FC236}">
                <a16:creationId xmlns:a16="http://schemas.microsoft.com/office/drawing/2014/main" id="{EC96242F-16A2-45CB-AFC7-9B85434921D9}"/>
              </a:ext>
            </a:extLst>
          </p:cNvPr>
          <p:cNvSpPr/>
          <p:nvPr/>
        </p:nvSpPr>
        <p:spPr>
          <a:xfrm>
            <a:off x="4706753" y="3687630"/>
            <a:ext cx="333675" cy="1105752"/>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050" dirty="0">
                <a:latin typeface="Open Sans"/>
              </a:rPr>
              <a:t>subpopulation 2</a:t>
            </a:r>
            <a:endParaRPr lang="th-TH" sz="1050" dirty="0">
              <a:latin typeface="Open Sans"/>
            </a:endParaRPr>
          </a:p>
        </p:txBody>
      </p:sp>
      <p:sp>
        <p:nvSpPr>
          <p:cNvPr id="15" name="Rectangle 14">
            <a:extLst>
              <a:ext uri="{FF2B5EF4-FFF2-40B4-BE49-F238E27FC236}">
                <a16:creationId xmlns:a16="http://schemas.microsoft.com/office/drawing/2014/main" id="{5191294C-C184-4C8E-B7A5-4F69AAF29FC8}"/>
              </a:ext>
            </a:extLst>
          </p:cNvPr>
          <p:cNvSpPr/>
          <p:nvPr/>
        </p:nvSpPr>
        <p:spPr>
          <a:xfrm>
            <a:off x="4706752" y="4822966"/>
            <a:ext cx="333675" cy="85593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800" dirty="0">
                <a:latin typeface="Open Sans"/>
              </a:rPr>
              <a:t>subpopulation 3</a:t>
            </a:r>
            <a:endParaRPr lang="th-TH" sz="800" dirty="0">
              <a:latin typeface="Open Sans"/>
            </a:endParaRPr>
          </a:p>
        </p:txBody>
      </p:sp>
      <p:sp>
        <p:nvSpPr>
          <p:cNvPr id="16" name="Rectangle 15">
            <a:extLst>
              <a:ext uri="{FF2B5EF4-FFF2-40B4-BE49-F238E27FC236}">
                <a16:creationId xmlns:a16="http://schemas.microsoft.com/office/drawing/2014/main" id="{C01FE450-20F4-42D3-B240-54E2108A62A2}"/>
              </a:ext>
            </a:extLst>
          </p:cNvPr>
          <p:cNvSpPr/>
          <p:nvPr/>
        </p:nvSpPr>
        <p:spPr>
          <a:xfrm>
            <a:off x="4803006" y="5708624"/>
            <a:ext cx="237421" cy="56864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sup 4</a:t>
            </a:r>
            <a:endParaRPr lang="th-TH" sz="900" dirty="0">
              <a:latin typeface="Open Sans"/>
            </a:endParaRPr>
          </a:p>
        </p:txBody>
      </p:sp>
      <p:sp>
        <p:nvSpPr>
          <p:cNvPr id="17" name="Rectangle 16">
            <a:extLst>
              <a:ext uri="{FF2B5EF4-FFF2-40B4-BE49-F238E27FC236}">
                <a16:creationId xmlns:a16="http://schemas.microsoft.com/office/drawing/2014/main" id="{638262D8-1C57-4F38-A38D-0652741D330B}"/>
              </a:ext>
            </a:extLst>
          </p:cNvPr>
          <p:cNvSpPr/>
          <p:nvPr/>
        </p:nvSpPr>
        <p:spPr>
          <a:xfrm>
            <a:off x="4803004" y="6306992"/>
            <a:ext cx="237421" cy="21995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5</a:t>
            </a:r>
            <a:endParaRPr lang="th-TH" sz="900" dirty="0">
              <a:latin typeface="Open Sans"/>
            </a:endParaRPr>
          </a:p>
        </p:txBody>
      </p:sp>
      <p:sp>
        <p:nvSpPr>
          <p:cNvPr id="3" name="Right Brace 2">
            <a:extLst>
              <a:ext uri="{FF2B5EF4-FFF2-40B4-BE49-F238E27FC236}">
                <a16:creationId xmlns:a16="http://schemas.microsoft.com/office/drawing/2014/main" id="{6E2483B6-EA4C-4944-8CB9-81510DB3C2B1}"/>
              </a:ext>
            </a:extLst>
          </p:cNvPr>
          <p:cNvSpPr/>
          <p:nvPr/>
        </p:nvSpPr>
        <p:spPr>
          <a:xfrm>
            <a:off x="9856269" y="2233060"/>
            <a:ext cx="333675" cy="4293891"/>
          </a:xfrm>
          <a:prstGeom prst="rightBrace">
            <a:avLst>
              <a:gd name="adj1" fmla="val 8333"/>
              <a:gd name="adj2" fmla="val 6591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8AE7265-DC71-4DDD-B7C8-FB53DF3BA0D3}"/>
                  </a:ext>
                </a:extLst>
              </p:cNvPr>
              <p:cNvSpPr txBox="1"/>
              <p:nvPr/>
            </p:nvSpPr>
            <p:spPr>
              <a:xfrm>
                <a:off x="10218819" y="4546398"/>
                <a:ext cx="1780673" cy="1181477"/>
              </a:xfrm>
              <a:prstGeom prst="rect">
                <a:avLst/>
              </a:prstGeom>
              <a:noFill/>
            </p:spPr>
            <p:txBody>
              <a:bodyPr wrap="square" rtlCol="0">
                <a:spAutoFit/>
              </a:bodyPr>
              <a:lstStyle/>
              <a:p>
                <a:r>
                  <a:rPr lang="en-US" sz="1200" dirty="0">
                    <a:latin typeface="Open Sans"/>
                  </a:rPr>
                  <a:t>N sub-population size</a:t>
                </a:r>
              </a:p>
              <a:p>
                <a:endParaRPr lang="en-US" sz="1200" dirty="0">
                  <a:latin typeface="Open Sans"/>
                </a:endParaRPr>
              </a:p>
              <a:p>
                <a:r>
                  <a:rPr lang="en-US" sz="1200" dirty="0">
                    <a:latin typeface="Open Sans"/>
                  </a:rPr>
                  <a:t>K Population size</a:t>
                </a:r>
              </a:p>
              <a:p>
                <a:endParaRPr lang="en-US" sz="1200" dirty="0">
                  <a:latin typeface="Open Sans"/>
                </a:endParaRPr>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𝐾</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𝑁</m:t>
                          </m:r>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oMath>
                  </m:oMathPara>
                </a14:m>
                <a:endParaRPr lang="th-TH" sz="1200" dirty="0">
                  <a:latin typeface="Open Sans"/>
                </a:endParaRPr>
              </a:p>
            </p:txBody>
          </p:sp>
        </mc:Choice>
        <mc:Fallback xmlns="">
          <p:sp>
            <p:nvSpPr>
              <p:cNvPr id="7" name="TextBox 6">
                <a:extLst>
                  <a:ext uri="{FF2B5EF4-FFF2-40B4-BE49-F238E27FC236}">
                    <a16:creationId xmlns:a16="http://schemas.microsoft.com/office/drawing/2014/main" id="{A8AE7265-DC71-4DDD-B7C8-FB53DF3BA0D3}"/>
                  </a:ext>
                </a:extLst>
              </p:cNvPr>
              <p:cNvSpPr txBox="1">
                <a:spLocks noRot="1" noChangeAspect="1" noMove="1" noResize="1" noEditPoints="1" noAdjustHandles="1" noChangeArrowheads="1" noChangeShapeType="1" noTextEdit="1"/>
              </p:cNvSpPr>
              <p:nvPr/>
            </p:nvSpPr>
            <p:spPr>
              <a:xfrm>
                <a:off x="10218819" y="4546398"/>
                <a:ext cx="1780673" cy="1181477"/>
              </a:xfrm>
              <a:prstGeom prst="rect">
                <a:avLst/>
              </a:prstGeom>
              <a:blipFill>
                <a:blip r:embed="rId3"/>
                <a:stretch>
                  <a:fillRect t="-1031"/>
                </a:stretch>
              </a:blipFill>
            </p:spPr>
            <p:txBody>
              <a:bodyPr/>
              <a:lstStyle/>
              <a:p>
                <a:r>
                  <a:rPr lang="th-TH">
                    <a:noFill/>
                  </a:rPr>
                  <a:t> </a:t>
                </a:r>
              </a:p>
            </p:txBody>
          </p:sp>
        </mc:Fallback>
      </mc:AlternateContent>
      <p:sp>
        <p:nvSpPr>
          <p:cNvPr id="19" name="Title 1">
            <a:extLst>
              <a:ext uri="{FF2B5EF4-FFF2-40B4-BE49-F238E27FC236}">
                <a16:creationId xmlns:a16="http://schemas.microsoft.com/office/drawing/2014/main" id="{FFD1F981-6C97-4035-BB8E-F010CAC99B00}"/>
              </a:ext>
            </a:extLst>
          </p:cNvPr>
          <p:cNvSpPr>
            <a:spLocks noGrp="1"/>
          </p:cNvSpPr>
          <p:nvPr>
            <p:ph type="title"/>
          </p:nvPr>
        </p:nvSpPr>
        <p:spPr>
          <a:xfrm>
            <a:off x="581192" y="702156"/>
            <a:ext cx="11029616" cy="1188720"/>
          </a:xfrm>
        </p:spPr>
        <p:txBody>
          <a:bodyPr/>
          <a:lstStyle/>
          <a:p>
            <a:r>
              <a:rPr lang="en-US" dirty="0">
                <a:solidFill>
                  <a:schemeClr val="tx1"/>
                </a:solidFill>
              </a:rPr>
              <a:t>Different rules size of sub-populations</a:t>
            </a:r>
            <a:endParaRPr lang="th-TH" dirty="0">
              <a:solidFill>
                <a:schemeClr val="tx1"/>
              </a:solidFill>
            </a:endParaRPr>
          </a:p>
        </p:txBody>
      </p:sp>
    </p:spTree>
    <p:extLst>
      <p:ext uri="{BB962C8B-B14F-4D97-AF65-F5344CB8AC3E}">
        <p14:creationId xmlns:p14="http://schemas.microsoft.com/office/powerpoint/2010/main" val="2380292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Different rules size of sub-populations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1702710"/>
          </a:xfrm>
          <a:prstGeom prst="rect">
            <a:avLst/>
          </a:prstGeom>
          <a:noFill/>
        </p:spPr>
        <p:txBody>
          <a:bodyPr wrap="square" rtlCol="0">
            <a:spAutoFit/>
          </a:bodyPr>
          <a:lstStyle/>
          <a:p>
            <a:pPr algn="thaiDist">
              <a:lnSpc>
                <a:spcPct val="150000"/>
              </a:lnSpc>
            </a:pPr>
            <a:r>
              <a:rPr lang="en-US" dirty="0">
                <a:latin typeface="Open Sans"/>
              </a:rPr>
              <a:t>Why to do this?</a:t>
            </a:r>
          </a:p>
          <a:p>
            <a:pPr marL="342900" indent="-342900" algn="thaiDist">
              <a:lnSpc>
                <a:spcPct val="150000"/>
              </a:lnSpc>
              <a:buFont typeface="+mj-lt"/>
              <a:buAutoNum type="arabicPeriod"/>
            </a:pPr>
            <a:r>
              <a:rPr lang="en-US" dirty="0">
                <a:latin typeface="Open Sans"/>
              </a:rPr>
              <a:t>Be sure to have several rules of different sizes. </a:t>
            </a:r>
          </a:p>
          <a:p>
            <a:pPr marL="342900" indent="-342900" algn="thaiDist">
              <a:lnSpc>
                <a:spcPct val="150000"/>
              </a:lnSpc>
              <a:buFont typeface="+mj-lt"/>
              <a:buAutoNum type="arabicPeriod"/>
            </a:pPr>
            <a:r>
              <a:rPr lang="en-US" dirty="0">
                <a:latin typeface="Open Sans"/>
              </a:rPr>
              <a:t>Give preference to the smallest rules which usually are the relevant ones. The strategy of distribution is made according to a decreasing arithmetic progression.</a:t>
            </a:r>
          </a:p>
        </p:txBody>
      </p:sp>
    </p:spTree>
    <p:extLst>
      <p:ext uri="{BB962C8B-B14F-4D97-AF65-F5344CB8AC3E}">
        <p14:creationId xmlns:p14="http://schemas.microsoft.com/office/powerpoint/2010/main" val="704818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1685526"/>
          </a:xfrm>
          <a:prstGeom prst="rect">
            <a:avLst/>
          </a:prstGeom>
          <a:noFill/>
        </p:spPr>
        <p:txBody>
          <a:bodyPr wrap="square" rtlCol="0">
            <a:spAutoFit/>
          </a:bodyPr>
          <a:lstStyle/>
          <a:p>
            <a:pPr algn="ctr">
              <a:lnSpc>
                <a:spcPct val="150000"/>
              </a:lnSpc>
            </a:pPr>
            <a:r>
              <a:rPr lang="en-US" sz="2400" dirty="0">
                <a:latin typeface="Open Sans"/>
              </a:rPr>
              <a:t>Second GAs’ component </a:t>
            </a:r>
          </a:p>
          <a:p>
            <a:pPr algn="ctr">
              <a:lnSpc>
                <a:spcPct val="150000"/>
              </a:lnSpc>
            </a:pPr>
            <a:endParaRPr lang="en-US" sz="2400" dirty="0">
              <a:latin typeface="Open Sans"/>
            </a:endParaRPr>
          </a:p>
          <a:p>
            <a:pPr algn="ctr">
              <a:lnSpc>
                <a:spcPct val="150000"/>
              </a:lnSpc>
            </a:pPr>
            <a:r>
              <a:rPr lang="en-US" sz="2400" dirty="0">
                <a:latin typeface="Open Sans"/>
              </a:rPr>
              <a:t>Fitness(score) Calculation</a:t>
            </a:r>
          </a:p>
        </p:txBody>
      </p:sp>
    </p:spTree>
    <p:extLst>
      <p:ext uri="{BB962C8B-B14F-4D97-AF65-F5344CB8AC3E}">
        <p14:creationId xmlns:p14="http://schemas.microsoft.com/office/powerpoint/2010/main" val="1009842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Usually support and confidence are used to evaluate rules. The fitness function can be defined as follows:</a:t>
            </a:r>
          </a:p>
        </p:txBody>
      </p:sp>
      <p:pic>
        <p:nvPicPr>
          <p:cNvPr id="9" name="Picture 8">
            <a:extLst>
              <a:ext uri="{FF2B5EF4-FFF2-40B4-BE49-F238E27FC236}">
                <a16:creationId xmlns:a16="http://schemas.microsoft.com/office/drawing/2014/main" id="{0E6DF627-8703-4114-A43C-DFDD730012DD}"/>
              </a:ext>
            </a:extLst>
          </p:cNvPr>
          <p:cNvPicPr>
            <a:picLocks noChangeAspect="1"/>
          </p:cNvPicPr>
          <p:nvPr/>
        </p:nvPicPr>
        <p:blipFill>
          <a:blip r:embed="rId3"/>
          <a:stretch>
            <a:fillRect/>
          </a:stretch>
        </p:blipFill>
        <p:spPr>
          <a:xfrm>
            <a:off x="3418823" y="2818532"/>
            <a:ext cx="5354353" cy="749609"/>
          </a:xfrm>
          <a:prstGeom prst="rect">
            <a:avLst/>
          </a:prstGeom>
        </p:spPr>
      </p:pic>
      <p:sp>
        <p:nvSpPr>
          <p:cNvPr id="10" name="TextBox 9">
            <a:extLst>
              <a:ext uri="{FF2B5EF4-FFF2-40B4-BE49-F238E27FC236}">
                <a16:creationId xmlns:a16="http://schemas.microsoft.com/office/drawing/2014/main" id="{E26A0314-314F-48EE-BB22-465B23BA093B}"/>
              </a:ext>
            </a:extLst>
          </p:cNvPr>
          <p:cNvSpPr txBox="1"/>
          <p:nvPr/>
        </p:nvSpPr>
        <p:spPr>
          <a:xfrm>
            <a:off x="813515" y="3811361"/>
            <a:ext cx="10564968" cy="456215"/>
          </a:xfrm>
          <a:prstGeom prst="rect">
            <a:avLst/>
          </a:prstGeom>
          <a:noFill/>
        </p:spPr>
        <p:txBody>
          <a:bodyPr wrap="square" rtlCol="0">
            <a:spAutoFit/>
          </a:bodyPr>
          <a:lstStyle/>
          <a:p>
            <a:pPr algn="thaiDist">
              <a:lnSpc>
                <a:spcPct val="150000"/>
              </a:lnSpc>
            </a:pPr>
            <a:r>
              <a:rPr lang="en-US" dirty="0">
                <a:latin typeface="Open Sans"/>
              </a:rPr>
              <a:t>	Where α and β are two parameters in range [0, 1].</a:t>
            </a:r>
          </a:p>
        </p:txBody>
      </p:sp>
      <p:sp>
        <p:nvSpPr>
          <p:cNvPr id="11" name="TextBox 10">
            <a:extLst>
              <a:ext uri="{FF2B5EF4-FFF2-40B4-BE49-F238E27FC236}">
                <a16:creationId xmlns:a16="http://schemas.microsoft.com/office/drawing/2014/main" id="{C77A167E-D1D2-4990-B6B9-B12EF87A4A83}"/>
              </a:ext>
            </a:extLst>
          </p:cNvPr>
          <p:cNvSpPr txBox="1"/>
          <p:nvPr/>
        </p:nvSpPr>
        <p:spPr>
          <a:xfrm>
            <a:off x="813515" y="4739017"/>
            <a:ext cx="9658771" cy="456215"/>
          </a:xfrm>
          <a:prstGeom prst="rect">
            <a:avLst/>
          </a:prstGeom>
          <a:noFill/>
        </p:spPr>
        <p:txBody>
          <a:bodyPr wrap="square" rtlCol="0">
            <a:spAutoFit/>
          </a:bodyPr>
          <a:lstStyle/>
          <a:p>
            <a:pPr algn="thaiDist">
              <a:lnSpc>
                <a:spcPct val="150000"/>
              </a:lnSpc>
            </a:pPr>
            <a:r>
              <a:rPr lang="en-US" dirty="0">
                <a:latin typeface="Open Sans"/>
              </a:rPr>
              <a:t>Fitness value will be computed. After some solutions were mutated.</a:t>
            </a:r>
          </a:p>
        </p:txBody>
      </p:sp>
      <p:sp>
        <p:nvSpPr>
          <p:cNvPr id="12" name="Title 1">
            <a:extLst>
              <a:ext uri="{FF2B5EF4-FFF2-40B4-BE49-F238E27FC236}">
                <a16:creationId xmlns:a16="http://schemas.microsoft.com/office/drawing/2014/main" id="{DE52D3EC-47BF-47EC-8338-8DEDE9401E4C}"/>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Fitness calculation</a:t>
            </a:r>
            <a:endParaRPr lang="th-TH" dirty="0">
              <a:solidFill>
                <a:schemeClr val="tx1"/>
              </a:solidFill>
            </a:endParaRPr>
          </a:p>
        </p:txBody>
      </p:sp>
    </p:spTree>
    <p:extLst>
      <p:ext uri="{BB962C8B-B14F-4D97-AF65-F5344CB8AC3E}">
        <p14:creationId xmlns:p14="http://schemas.microsoft.com/office/powerpoint/2010/main" val="641025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3543662"/>
          </a:xfrm>
          <a:prstGeom prst="rect">
            <a:avLst/>
          </a:prstGeom>
          <a:noFill/>
        </p:spPr>
        <p:txBody>
          <a:bodyPr wrap="square" rtlCol="0">
            <a:spAutoFit/>
          </a:bodyPr>
          <a:lstStyle/>
          <a:p>
            <a:pPr algn="ctr">
              <a:lnSpc>
                <a:spcPct val="150000"/>
              </a:lnSpc>
            </a:pPr>
            <a:r>
              <a:rPr lang="en-US" sz="2400" dirty="0">
                <a:latin typeface="Open Sans"/>
              </a:rPr>
              <a:t>Third GAs’ component </a:t>
            </a:r>
          </a:p>
          <a:p>
            <a:pPr algn="ctr">
              <a:lnSpc>
                <a:spcPct val="150000"/>
              </a:lnSpc>
            </a:pPr>
            <a:endParaRPr lang="en-US" sz="2400" dirty="0">
              <a:latin typeface="Open Sans"/>
            </a:endParaRPr>
          </a:p>
          <a:p>
            <a:pPr algn="ctr">
              <a:lnSpc>
                <a:spcPct val="150000"/>
              </a:lnSpc>
            </a:pPr>
            <a:r>
              <a:rPr lang="en-US" sz="2400" dirty="0">
                <a:latin typeface="Open Sans"/>
              </a:rPr>
              <a:t>Genetic Operators</a:t>
            </a:r>
          </a:p>
          <a:p>
            <a:pPr marL="4114800" lvl="8" indent="-457200">
              <a:lnSpc>
                <a:spcPct val="150000"/>
              </a:lnSpc>
              <a:buFont typeface="+mj-lt"/>
              <a:buAutoNum type="arabicPeriod"/>
            </a:pPr>
            <a:r>
              <a:rPr lang="en-US" sz="2000" dirty="0">
                <a:latin typeface="Open Sans"/>
              </a:rPr>
              <a:t>Selection</a:t>
            </a:r>
          </a:p>
          <a:p>
            <a:pPr marL="4114800" lvl="8" indent="-457200">
              <a:lnSpc>
                <a:spcPct val="150000"/>
              </a:lnSpc>
              <a:buFont typeface="+mj-lt"/>
              <a:buAutoNum type="arabicPeriod"/>
            </a:pPr>
            <a:r>
              <a:rPr lang="en-US" sz="2000" dirty="0">
                <a:latin typeface="Open Sans"/>
              </a:rPr>
              <a:t>Crossover</a:t>
            </a:r>
          </a:p>
          <a:p>
            <a:pPr marL="4114800" lvl="8" indent="-457200">
              <a:lnSpc>
                <a:spcPct val="150000"/>
              </a:lnSpc>
              <a:buFont typeface="+mj-lt"/>
              <a:buAutoNum type="arabicPeriod"/>
            </a:pPr>
            <a:r>
              <a:rPr lang="en-US" sz="2000" dirty="0">
                <a:latin typeface="Open Sans"/>
              </a:rPr>
              <a:t>Mutation</a:t>
            </a:r>
          </a:p>
          <a:p>
            <a:pPr marL="4114800" lvl="8" indent="-457200">
              <a:lnSpc>
                <a:spcPct val="150000"/>
              </a:lnSpc>
              <a:buFont typeface="+mj-lt"/>
              <a:buAutoNum type="arabicPeriod"/>
            </a:pPr>
            <a:r>
              <a:rPr lang="en-US" sz="2000" dirty="0">
                <a:latin typeface="Open Sans"/>
              </a:rPr>
              <a:t>Replacement </a:t>
            </a:r>
          </a:p>
        </p:txBody>
      </p:sp>
    </p:spTree>
    <p:extLst>
      <p:ext uri="{BB962C8B-B14F-4D97-AF65-F5344CB8AC3E}">
        <p14:creationId xmlns:p14="http://schemas.microsoft.com/office/powerpoint/2010/main" val="1226240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mage result for Evolution Humans">
            <a:extLst>
              <a:ext uri="{FF2B5EF4-FFF2-40B4-BE49-F238E27FC236}">
                <a16:creationId xmlns:a16="http://schemas.microsoft.com/office/drawing/2014/main" id="{78C0BAB6-7B83-4A2D-976D-95625345EE96}"/>
              </a:ext>
            </a:extLst>
          </p:cNvPr>
          <p:cNvPicPr>
            <a:picLocks noChangeAspect="1" noChangeArrowheads="1"/>
          </p:cNvPicPr>
          <p:nvPr/>
        </p:nvPicPr>
        <p:blipFill rotWithShape="1">
          <a:blip r:embed="rId3">
            <a:alphaModFix amt="50000"/>
            <a:extLst>
              <a:ext uri="{28A0092B-C50C-407E-A947-70E740481C1C}">
                <a14:useLocalDpi xmlns:a14="http://schemas.microsoft.com/office/drawing/2010/main" val="0"/>
              </a:ext>
            </a:extLst>
          </a:blip>
          <a:srcRect b="31873"/>
          <a:stretch/>
        </p:blipFill>
        <p:spPr bwMode="auto">
          <a:xfrm>
            <a:off x="0" y="2179123"/>
            <a:ext cx="12192000" cy="467887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Selection, crossover, mutation and replacement are applied on a population of chromosomes for several iterations(generations) times.</a:t>
            </a:r>
          </a:p>
        </p:txBody>
      </p:sp>
      <p:sp>
        <p:nvSpPr>
          <p:cNvPr id="3" name="TextBox 2">
            <a:extLst>
              <a:ext uri="{FF2B5EF4-FFF2-40B4-BE49-F238E27FC236}">
                <a16:creationId xmlns:a16="http://schemas.microsoft.com/office/drawing/2014/main" id="{943F159A-0244-4B5D-825C-876186A52928}"/>
              </a:ext>
            </a:extLst>
          </p:cNvPr>
          <p:cNvSpPr txBox="1"/>
          <p:nvPr/>
        </p:nvSpPr>
        <p:spPr>
          <a:xfrm>
            <a:off x="240633" y="5111015"/>
            <a:ext cx="1934678" cy="369332"/>
          </a:xfrm>
          <a:prstGeom prst="rect">
            <a:avLst/>
          </a:prstGeom>
          <a:noFill/>
        </p:spPr>
        <p:txBody>
          <a:bodyPr wrap="square" rtlCol="0">
            <a:spAutoFit/>
          </a:bodyPr>
          <a:lstStyle/>
          <a:p>
            <a:pPr algn="ctr"/>
            <a:r>
              <a:rPr lang="en-US" dirty="0">
                <a:latin typeface="Open Sans"/>
              </a:rPr>
              <a:t>20,000 iterations</a:t>
            </a:r>
            <a:endParaRPr lang="th-TH" dirty="0">
              <a:latin typeface="Open Sans"/>
            </a:endParaRPr>
          </a:p>
        </p:txBody>
      </p:sp>
      <p:sp>
        <p:nvSpPr>
          <p:cNvPr id="7" name="TextBox 6">
            <a:extLst>
              <a:ext uri="{FF2B5EF4-FFF2-40B4-BE49-F238E27FC236}">
                <a16:creationId xmlns:a16="http://schemas.microsoft.com/office/drawing/2014/main" id="{D6B774C8-E118-4017-B892-0C8FDB1C5FCA}"/>
              </a:ext>
            </a:extLst>
          </p:cNvPr>
          <p:cNvSpPr txBox="1"/>
          <p:nvPr/>
        </p:nvSpPr>
        <p:spPr>
          <a:xfrm>
            <a:off x="2000452" y="4284268"/>
            <a:ext cx="1934678" cy="369332"/>
          </a:xfrm>
          <a:prstGeom prst="rect">
            <a:avLst/>
          </a:prstGeom>
          <a:noFill/>
        </p:spPr>
        <p:txBody>
          <a:bodyPr wrap="square" rtlCol="0">
            <a:spAutoFit/>
          </a:bodyPr>
          <a:lstStyle/>
          <a:p>
            <a:pPr algn="ctr"/>
            <a:r>
              <a:rPr lang="en-US" dirty="0">
                <a:latin typeface="Open Sans"/>
              </a:rPr>
              <a:t>50,000 iterations</a:t>
            </a:r>
            <a:endParaRPr lang="th-TH" dirty="0">
              <a:latin typeface="Open Sans"/>
            </a:endParaRPr>
          </a:p>
        </p:txBody>
      </p:sp>
      <p:sp>
        <p:nvSpPr>
          <p:cNvPr id="8" name="TextBox 7">
            <a:extLst>
              <a:ext uri="{FF2B5EF4-FFF2-40B4-BE49-F238E27FC236}">
                <a16:creationId xmlns:a16="http://schemas.microsoft.com/office/drawing/2014/main" id="{BC2997B5-5CED-4A7A-9186-8D0091713EC0}"/>
              </a:ext>
            </a:extLst>
          </p:cNvPr>
          <p:cNvSpPr txBox="1"/>
          <p:nvPr/>
        </p:nvSpPr>
        <p:spPr>
          <a:xfrm>
            <a:off x="3935130" y="3541278"/>
            <a:ext cx="2388669" cy="369332"/>
          </a:xfrm>
          <a:prstGeom prst="rect">
            <a:avLst/>
          </a:prstGeom>
          <a:noFill/>
        </p:spPr>
        <p:txBody>
          <a:bodyPr wrap="square" rtlCol="0">
            <a:spAutoFit/>
          </a:bodyPr>
          <a:lstStyle/>
          <a:p>
            <a:pPr algn="ctr"/>
            <a:r>
              <a:rPr lang="en-US" dirty="0">
                <a:latin typeface="Open Sans"/>
              </a:rPr>
              <a:t>100,000 iterations</a:t>
            </a:r>
            <a:endParaRPr lang="th-TH" dirty="0">
              <a:latin typeface="Open Sans"/>
            </a:endParaRPr>
          </a:p>
        </p:txBody>
      </p:sp>
      <p:sp>
        <p:nvSpPr>
          <p:cNvPr id="9" name="TextBox 8">
            <a:extLst>
              <a:ext uri="{FF2B5EF4-FFF2-40B4-BE49-F238E27FC236}">
                <a16:creationId xmlns:a16="http://schemas.microsoft.com/office/drawing/2014/main" id="{FD3DBA58-26DC-4655-BB1D-4732D38D3FB2}"/>
              </a:ext>
            </a:extLst>
          </p:cNvPr>
          <p:cNvSpPr txBox="1"/>
          <p:nvPr/>
        </p:nvSpPr>
        <p:spPr>
          <a:xfrm>
            <a:off x="5897080" y="3182068"/>
            <a:ext cx="2388669" cy="369332"/>
          </a:xfrm>
          <a:prstGeom prst="rect">
            <a:avLst/>
          </a:prstGeom>
          <a:noFill/>
        </p:spPr>
        <p:txBody>
          <a:bodyPr wrap="square" rtlCol="0">
            <a:spAutoFit/>
          </a:bodyPr>
          <a:lstStyle/>
          <a:p>
            <a:pPr algn="ctr"/>
            <a:r>
              <a:rPr lang="en-US" dirty="0">
                <a:latin typeface="Open Sans"/>
              </a:rPr>
              <a:t>160,000 iterations</a:t>
            </a:r>
            <a:endParaRPr lang="th-TH" dirty="0">
              <a:latin typeface="Open Sans"/>
            </a:endParaRPr>
          </a:p>
        </p:txBody>
      </p:sp>
      <p:sp>
        <p:nvSpPr>
          <p:cNvPr id="10" name="TextBox 9">
            <a:extLst>
              <a:ext uri="{FF2B5EF4-FFF2-40B4-BE49-F238E27FC236}">
                <a16:creationId xmlns:a16="http://schemas.microsoft.com/office/drawing/2014/main" id="{F34804BE-7D07-450A-AEFB-2319D00DC327}"/>
              </a:ext>
            </a:extLst>
          </p:cNvPr>
          <p:cNvSpPr txBox="1"/>
          <p:nvPr/>
        </p:nvSpPr>
        <p:spPr>
          <a:xfrm>
            <a:off x="7620001" y="2852451"/>
            <a:ext cx="2388669" cy="369332"/>
          </a:xfrm>
          <a:prstGeom prst="rect">
            <a:avLst/>
          </a:prstGeom>
          <a:noFill/>
        </p:spPr>
        <p:txBody>
          <a:bodyPr wrap="square" rtlCol="0">
            <a:spAutoFit/>
          </a:bodyPr>
          <a:lstStyle/>
          <a:p>
            <a:pPr algn="ctr"/>
            <a:r>
              <a:rPr lang="en-US" dirty="0">
                <a:latin typeface="Open Sans"/>
              </a:rPr>
              <a:t>200,000 iterations</a:t>
            </a:r>
            <a:endParaRPr lang="th-TH" dirty="0">
              <a:latin typeface="Open Sans"/>
            </a:endParaRPr>
          </a:p>
        </p:txBody>
      </p:sp>
      <p:sp>
        <p:nvSpPr>
          <p:cNvPr id="11" name="TextBox 10">
            <a:extLst>
              <a:ext uri="{FF2B5EF4-FFF2-40B4-BE49-F238E27FC236}">
                <a16:creationId xmlns:a16="http://schemas.microsoft.com/office/drawing/2014/main" id="{778694A5-0DAE-43FA-A708-19745496CD87}"/>
              </a:ext>
            </a:extLst>
          </p:cNvPr>
          <p:cNvSpPr txBox="1"/>
          <p:nvPr/>
        </p:nvSpPr>
        <p:spPr>
          <a:xfrm>
            <a:off x="9803331" y="2810573"/>
            <a:ext cx="2388669" cy="369332"/>
          </a:xfrm>
          <a:prstGeom prst="rect">
            <a:avLst/>
          </a:prstGeom>
          <a:noFill/>
        </p:spPr>
        <p:txBody>
          <a:bodyPr wrap="square" rtlCol="0">
            <a:spAutoFit/>
          </a:bodyPr>
          <a:lstStyle/>
          <a:p>
            <a:pPr algn="ctr"/>
            <a:r>
              <a:rPr lang="en-US" dirty="0">
                <a:latin typeface="Open Sans"/>
              </a:rPr>
              <a:t>220,000 iterations</a:t>
            </a:r>
            <a:endParaRPr lang="th-TH" dirty="0">
              <a:latin typeface="Open Sans"/>
            </a:endParaRPr>
          </a:p>
        </p:txBody>
      </p:sp>
      <p:sp>
        <p:nvSpPr>
          <p:cNvPr id="12" name="Title 1">
            <a:extLst>
              <a:ext uri="{FF2B5EF4-FFF2-40B4-BE49-F238E27FC236}">
                <a16:creationId xmlns:a16="http://schemas.microsoft.com/office/drawing/2014/main" id="{8289E73C-22E2-49DB-B378-799BBD0F3ADF}"/>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Genetic Operators</a:t>
            </a:r>
            <a:endParaRPr lang="th-TH" dirty="0">
              <a:solidFill>
                <a:schemeClr val="tx1"/>
              </a:solidFill>
            </a:endParaRPr>
          </a:p>
        </p:txBody>
      </p:sp>
    </p:spTree>
    <p:extLst>
      <p:ext uri="{BB962C8B-B14F-4D97-AF65-F5344CB8AC3E}">
        <p14:creationId xmlns:p14="http://schemas.microsoft.com/office/powerpoint/2010/main" val="13241897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There are many methods of selection, such as Rank Selection, Tournament Selection, Elitism Selection, and Roulette Wheel Selection.</a:t>
            </a:r>
          </a:p>
          <a:p>
            <a:pPr algn="thaiDist">
              <a:lnSpc>
                <a:spcPct val="150000"/>
              </a:lnSpc>
            </a:pPr>
            <a:r>
              <a:rPr lang="en-US" dirty="0">
                <a:latin typeface="Open Sans"/>
              </a:rPr>
              <a:t>	But this paper </a:t>
            </a:r>
            <a:r>
              <a:rPr lang="en-US" b="1" u="sng" dirty="0">
                <a:latin typeface="Open Sans"/>
              </a:rPr>
              <a:t>randomly selects</a:t>
            </a:r>
            <a:r>
              <a:rPr lang="en-US" dirty="0">
                <a:latin typeface="Open Sans"/>
              </a:rPr>
              <a:t> two chromosomes(solutions) to crossover each other.</a:t>
            </a:r>
          </a:p>
        </p:txBody>
      </p:sp>
      <p:pic>
        <p:nvPicPr>
          <p:cNvPr id="3074" name="Picture 2" descr="Image result for จับใบกำ">
            <a:extLst>
              <a:ext uri="{FF2B5EF4-FFF2-40B4-BE49-F238E27FC236}">
                <a16:creationId xmlns:a16="http://schemas.microsoft.com/office/drawing/2014/main" id="{6B666B94-94AB-4173-8619-C562411121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8179" y="3623970"/>
            <a:ext cx="4435642" cy="2661385"/>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BFEAFBA9-E9A0-41AA-BA2E-2541C6FF891F}"/>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selection</a:t>
            </a:r>
            <a:endParaRPr lang="th-TH" dirty="0">
              <a:solidFill>
                <a:schemeClr val="tx1"/>
              </a:solidFill>
            </a:endParaRPr>
          </a:p>
        </p:txBody>
      </p:sp>
    </p:spTree>
    <p:extLst>
      <p:ext uri="{BB962C8B-B14F-4D97-AF65-F5344CB8AC3E}">
        <p14:creationId xmlns:p14="http://schemas.microsoft.com/office/powerpoint/2010/main" val="41557551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Image result for crossover ga">
            <a:extLst>
              <a:ext uri="{FF2B5EF4-FFF2-40B4-BE49-F238E27FC236}">
                <a16:creationId xmlns:a16="http://schemas.microsoft.com/office/drawing/2014/main" id="{2E84B166-DA43-4BAF-B407-85F9AFA65E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57450" y="2403034"/>
            <a:ext cx="7277100" cy="44386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	The two selected chromosomes are crossed with a probability to give two new solutions.</a:t>
            </a:r>
          </a:p>
        </p:txBody>
      </p:sp>
      <p:sp>
        <p:nvSpPr>
          <p:cNvPr id="5" name="Title 1">
            <a:extLst>
              <a:ext uri="{FF2B5EF4-FFF2-40B4-BE49-F238E27FC236}">
                <a16:creationId xmlns:a16="http://schemas.microsoft.com/office/drawing/2014/main" id="{244DFA13-FCAF-4025-B72A-94818A2E9D48}"/>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crossover</a:t>
            </a:r>
            <a:endParaRPr lang="th-TH" dirty="0">
              <a:solidFill>
                <a:schemeClr val="tx1"/>
              </a:solidFill>
            </a:endParaRPr>
          </a:p>
        </p:txBody>
      </p:sp>
    </p:spTree>
    <p:extLst>
      <p:ext uri="{BB962C8B-B14F-4D97-AF65-F5344CB8AC3E}">
        <p14:creationId xmlns:p14="http://schemas.microsoft.com/office/powerpoint/2010/main" val="38085434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1702710"/>
          </a:xfrm>
          <a:prstGeom prst="rect">
            <a:avLst/>
          </a:prstGeom>
          <a:noFill/>
        </p:spPr>
        <p:txBody>
          <a:bodyPr wrap="square" rtlCol="0">
            <a:spAutoFit/>
          </a:bodyPr>
          <a:lstStyle/>
          <a:p>
            <a:pPr algn="thaiDist">
              <a:lnSpc>
                <a:spcPct val="150000"/>
              </a:lnSpc>
            </a:pPr>
            <a:r>
              <a:rPr lang="en-US" dirty="0">
                <a:latin typeface="Open Sans"/>
              </a:rPr>
              <a:t>this paper proposed to test three types of crossover.</a:t>
            </a:r>
          </a:p>
          <a:p>
            <a:pPr marL="342900" indent="-342900" algn="thaiDist">
              <a:lnSpc>
                <a:spcPct val="150000"/>
              </a:lnSpc>
              <a:buFont typeface="+mj-lt"/>
              <a:buAutoNum type="arabicPeriod"/>
            </a:pPr>
            <a:r>
              <a:rPr lang="en-US" b="1" dirty="0">
                <a:latin typeface="Open Sans"/>
              </a:rPr>
              <a:t>One-point crossover</a:t>
            </a:r>
          </a:p>
          <a:p>
            <a:pPr marL="342900" indent="-342900" algn="thaiDist">
              <a:lnSpc>
                <a:spcPct val="150000"/>
              </a:lnSpc>
              <a:buFont typeface="+mj-lt"/>
              <a:buAutoNum type="arabicPeriod"/>
            </a:pPr>
            <a:r>
              <a:rPr lang="en-US" b="1" dirty="0">
                <a:latin typeface="Open Sans"/>
              </a:rPr>
              <a:t>Two-point crossover</a:t>
            </a:r>
          </a:p>
          <a:p>
            <a:pPr marL="342900" indent="-342900" algn="thaiDist">
              <a:lnSpc>
                <a:spcPct val="150000"/>
              </a:lnSpc>
              <a:buFont typeface="+mj-lt"/>
              <a:buAutoNum type="arabicPeriod"/>
            </a:pPr>
            <a:r>
              <a:rPr lang="en-US" b="1" dirty="0">
                <a:latin typeface="Open Sans"/>
              </a:rPr>
              <a:t>Uniform crossover</a:t>
            </a:r>
            <a:endParaRPr lang="en-US" dirty="0">
              <a:latin typeface="Open Sans"/>
            </a:endParaRPr>
          </a:p>
        </p:txBody>
      </p:sp>
      <p:pic>
        <p:nvPicPr>
          <p:cNvPr id="4" name="Picture 3">
            <a:extLst>
              <a:ext uri="{FF2B5EF4-FFF2-40B4-BE49-F238E27FC236}">
                <a16:creationId xmlns:a16="http://schemas.microsoft.com/office/drawing/2014/main" id="{9DEB65F4-40CC-4A23-BD77-4D03C390DFC0}"/>
              </a:ext>
            </a:extLst>
          </p:cNvPr>
          <p:cNvPicPr>
            <a:picLocks noChangeAspect="1"/>
          </p:cNvPicPr>
          <p:nvPr/>
        </p:nvPicPr>
        <p:blipFill>
          <a:blip r:embed="rId3"/>
          <a:stretch>
            <a:fillRect/>
          </a:stretch>
        </p:blipFill>
        <p:spPr>
          <a:xfrm>
            <a:off x="6443436" y="2605539"/>
            <a:ext cx="4830027" cy="4117708"/>
          </a:xfrm>
          <a:prstGeom prst="rect">
            <a:avLst/>
          </a:prstGeom>
        </p:spPr>
      </p:pic>
      <p:sp>
        <p:nvSpPr>
          <p:cNvPr id="5" name="TextBox 4">
            <a:extLst>
              <a:ext uri="{FF2B5EF4-FFF2-40B4-BE49-F238E27FC236}">
                <a16:creationId xmlns:a16="http://schemas.microsoft.com/office/drawing/2014/main" id="{4CE9C4B2-69DD-4AD9-A896-3841D44F9F53}"/>
              </a:ext>
            </a:extLst>
          </p:cNvPr>
          <p:cNvSpPr txBox="1"/>
          <p:nvPr/>
        </p:nvSpPr>
        <p:spPr>
          <a:xfrm>
            <a:off x="3964005" y="3294246"/>
            <a:ext cx="2388669" cy="2585323"/>
          </a:xfrm>
          <a:prstGeom prst="rect">
            <a:avLst/>
          </a:prstGeom>
          <a:noFill/>
        </p:spPr>
        <p:txBody>
          <a:bodyPr wrap="square" rtlCol="0">
            <a:spAutoFit/>
          </a:bodyPr>
          <a:lstStyle/>
          <a:p>
            <a:pPr algn="r"/>
            <a:r>
              <a:rPr lang="en-US" dirty="0">
                <a:latin typeface="Open Sans"/>
              </a:rPr>
              <a:t>One point crossover</a:t>
            </a:r>
          </a:p>
          <a:p>
            <a:pPr algn="r"/>
            <a:endParaRPr lang="en-US" dirty="0">
              <a:latin typeface="Open Sans"/>
            </a:endParaRPr>
          </a:p>
          <a:p>
            <a:pPr algn="r"/>
            <a:endParaRPr lang="en-US" dirty="0">
              <a:latin typeface="Open Sans"/>
            </a:endParaRPr>
          </a:p>
          <a:p>
            <a:pPr algn="r"/>
            <a:endParaRPr lang="en-US" dirty="0">
              <a:latin typeface="Open Sans"/>
            </a:endParaRPr>
          </a:p>
          <a:p>
            <a:pPr algn="r"/>
            <a:r>
              <a:rPr lang="en-US" dirty="0">
                <a:latin typeface="Open Sans"/>
              </a:rPr>
              <a:t>Two-point crossover</a:t>
            </a:r>
          </a:p>
          <a:p>
            <a:pPr algn="r"/>
            <a:endParaRPr lang="en-US" dirty="0">
              <a:latin typeface="Open Sans"/>
            </a:endParaRPr>
          </a:p>
          <a:p>
            <a:pPr algn="r"/>
            <a:endParaRPr lang="en-US" dirty="0">
              <a:latin typeface="Open Sans"/>
            </a:endParaRPr>
          </a:p>
          <a:p>
            <a:pPr algn="r"/>
            <a:endParaRPr lang="en-US" dirty="0">
              <a:latin typeface="Open Sans"/>
            </a:endParaRPr>
          </a:p>
          <a:p>
            <a:pPr algn="r"/>
            <a:r>
              <a:rPr lang="en-US" dirty="0">
                <a:latin typeface="Open Sans"/>
              </a:rPr>
              <a:t>Uniform crossover</a:t>
            </a:r>
            <a:endParaRPr lang="th-TH" dirty="0">
              <a:latin typeface="Open Sans"/>
            </a:endParaRPr>
          </a:p>
        </p:txBody>
      </p:sp>
    </p:spTree>
    <p:extLst>
      <p:ext uri="{BB962C8B-B14F-4D97-AF65-F5344CB8AC3E}">
        <p14:creationId xmlns:p14="http://schemas.microsoft.com/office/powerpoint/2010/main" val="9042711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Before fitness will be computed. Each chromosome is mutated with a probability. The mutation consists of changing a random item in a chromosome with another value randomly. This mutation might generate a new association leading to a diversification.</a:t>
            </a:r>
          </a:p>
        </p:txBody>
      </p:sp>
      <p:pic>
        <p:nvPicPr>
          <p:cNvPr id="4098" name="Picture 2" descr="Image result for one point mutation ga">
            <a:extLst>
              <a:ext uri="{FF2B5EF4-FFF2-40B4-BE49-F238E27FC236}">
                <a16:creationId xmlns:a16="http://schemas.microsoft.com/office/drawing/2014/main" id="{2E7DAA64-1582-4CB0-8A25-FDC432794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1065" y="3961749"/>
            <a:ext cx="6524625" cy="1552575"/>
          </a:xfrm>
          <a:prstGeom prst="rect">
            <a:avLst/>
          </a:prstGeom>
          <a:noFill/>
          <a:extLst>
            <a:ext uri="{909E8E84-426E-40DD-AFC4-6F175D3DCCD1}">
              <a14:hiddenFill xmlns:a14="http://schemas.microsoft.com/office/drawing/2010/main">
                <a:solidFill>
                  <a:srgbClr val="FFFFFF"/>
                </a:solidFill>
              </a14:hiddenFill>
            </a:ext>
          </a:extLst>
        </p:spPr>
      </p:pic>
      <p:sp>
        <p:nvSpPr>
          <p:cNvPr id="4" name="Arrow: Down 3">
            <a:extLst>
              <a:ext uri="{FF2B5EF4-FFF2-40B4-BE49-F238E27FC236}">
                <a16:creationId xmlns:a16="http://schemas.microsoft.com/office/drawing/2014/main" id="{392A797A-A539-430A-A4F1-29EEDDC54A2D}"/>
              </a:ext>
            </a:extLst>
          </p:cNvPr>
          <p:cNvSpPr/>
          <p:nvPr/>
        </p:nvSpPr>
        <p:spPr>
          <a:xfrm>
            <a:off x="7969717" y="3289974"/>
            <a:ext cx="250257" cy="548640"/>
          </a:xfrm>
          <a:prstGeom prst="downArrow">
            <a:avLst/>
          </a:prstGeom>
          <a:solidFill>
            <a:srgbClr val="FF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Mutation</a:t>
            </a:r>
            <a:endParaRPr lang="th-TH" dirty="0">
              <a:solidFill>
                <a:schemeClr val="tx1"/>
              </a:solidFill>
            </a:endParaRPr>
          </a:p>
        </p:txBody>
      </p:sp>
    </p:spTree>
    <p:extLst>
      <p:ext uri="{BB962C8B-B14F-4D97-AF65-F5344CB8AC3E}">
        <p14:creationId xmlns:p14="http://schemas.microsoft.com/office/powerpoint/2010/main" val="2508985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2118209"/>
          </a:xfrm>
          <a:prstGeom prst="rect">
            <a:avLst/>
          </a:prstGeom>
          <a:noFill/>
        </p:spPr>
        <p:txBody>
          <a:bodyPr wrap="square" rtlCol="0">
            <a:spAutoFit/>
          </a:bodyPr>
          <a:lstStyle/>
          <a:p>
            <a:pPr algn="thaiDist">
              <a:lnSpc>
                <a:spcPct val="150000"/>
              </a:lnSpc>
            </a:pPr>
            <a:r>
              <a:rPr lang="en-US" dirty="0">
                <a:latin typeface="Open Sans"/>
              </a:rPr>
              <a:t>	After fitness is computed. fitness value can help to decide whether the new chromosome will be added to the new population. This paper proposed to test two replacement techniques after a crossover.</a:t>
            </a:r>
          </a:p>
          <a:p>
            <a:pPr marL="342900" indent="-342900" algn="thaiDist">
              <a:lnSpc>
                <a:spcPct val="150000"/>
              </a:lnSpc>
              <a:buFont typeface="+mj-lt"/>
              <a:buAutoNum type="arabicPeriod"/>
            </a:pPr>
            <a:r>
              <a:rPr lang="en-US" dirty="0">
                <a:latin typeface="Open Sans"/>
              </a:rPr>
              <a:t>A parent is replaced by its son if son’s fitness is better.</a:t>
            </a:r>
          </a:p>
          <a:p>
            <a:pPr marL="342900" indent="-342900" algn="thaiDist">
              <a:lnSpc>
                <a:spcPct val="150000"/>
              </a:lnSpc>
              <a:buFont typeface="+mj-lt"/>
              <a:buAutoNum type="arabicPeriod"/>
            </a:pPr>
            <a:r>
              <a:rPr lang="en-US" dirty="0">
                <a:latin typeface="Open Sans"/>
              </a:rPr>
              <a:t>The worst chromosome in the population is replaced by the new one if its fitness is better.</a:t>
            </a:r>
          </a:p>
        </p:txBody>
      </p:sp>
      <p:graphicFrame>
        <p:nvGraphicFramePr>
          <p:cNvPr id="7" name="Table 7">
            <a:extLst>
              <a:ext uri="{FF2B5EF4-FFF2-40B4-BE49-F238E27FC236}">
                <a16:creationId xmlns:a16="http://schemas.microsoft.com/office/drawing/2014/main" id="{B3A30F7E-89DB-4D5D-9E0B-C710C6173051}"/>
              </a:ext>
            </a:extLst>
          </p:cNvPr>
          <p:cNvGraphicFramePr>
            <a:graphicFrameLocks noGrp="1"/>
          </p:cNvGraphicFramePr>
          <p:nvPr>
            <p:extLst>
              <p:ext uri="{D42A27DB-BD31-4B8C-83A1-F6EECF244321}">
                <p14:modId xmlns:p14="http://schemas.microsoft.com/office/powerpoint/2010/main" val="955675788"/>
              </p:ext>
            </p:extLst>
          </p:nvPr>
        </p:nvGraphicFramePr>
        <p:xfrm>
          <a:off x="6031628" y="4374472"/>
          <a:ext cx="5777294" cy="2225040"/>
        </p:xfrm>
        <a:graphic>
          <a:graphicData uri="http://schemas.openxmlformats.org/drawingml/2006/table">
            <a:tbl>
              <a:tblPr firstRow="1" bandRow="1">
                <a:tableStyleId>{5C22544A-7EE6-4342-B048-85BDC9FD1C3A}</a:tableStyleId>
              </a:tblPr>
              <a:tblGrid>
                <a:gridCol w="825328">
                  <a:extLst>
                    <a:ext uri="{9D8B030D-6E8A-4147-A177-3AD203B41FA5}">
                      <a16:colId xmlns:a16="http://schemas.microsoft.com/office/drawing/2014/main" val="3738510916"/>
                    </a:ext>
                  </a:extLst>
                </a:gridCol>
                <a:gridCol w="165065">
                  <a:extLst>
                    <a:ext uri="{9D8B030D-6E8A-4147-A177-3AD203B41FA5}">
                      <a16:colId xmlns:a16="http://schemas.microsoft.com/office/drawing/2014/main" val="1152342279"/>
                    </a:ext>
                  </a:extLst>
                </a:gridCol>
                <a:gridCol w="247598">
                  <a:extLst>
                    <a:ext uri="{9D8B030D-6E8A-4147-A177-3AD203B41FA5}">
                      <a16:colId xmlns:a16="http://schemas.microsoft.com/office/drawing/2014/main" val="3939716757"/>
                    </a:ext>
                  </a:extLst>
                </a:gridCol>
                <a:gridCol w="412664">
                  <a:extLst>
                    <a:ext uri="{9D8B030D-6E8A-4147-A177-3AD203B41FA5}">
                      <a16:colId xmlns:a16="http://schemas.microsoft.com/office/drawing/2014/main" val="2431332092"/>
                    </a:ext>
                  </a:extLst>
                </a:gridCol>
                <a:gridCol w="330130">
                  <a:extLst>
                    <a:ext uri="{9D8B030D-6E8A-4147-A177-3AD203B41FA5}">
                      <a16:colId xmlns:a16="http://schemas.microsoft.com/office/drawing/2014/main" val="2310840548"/>
                    </a:ext>
                  </a:extLst>
                </a:gridCol>
                <a:gridCol w="495198">
                  <a:extLst>
                    <a:ext uri="{9D8B030D-6E8A-4147-A177-3AD203B41FA5}">
                      <a16:colId xmlns:a16="http://schemas.microsoft.com/office/drawing/2014/main" val="34225597"/>
                    </a:ext>
                  </a:extLst>
                </a:gridCol>
                <a:gridCol w="495198">
                  <a:extLst>
                    <a:ext uri="{9D8B030D-6E8A-4147-A177-3AD203B41FA5}">
                      <a16:colId xmlns:a16="http://schemas.microsoft.com/office/drawing/2014/main" val="2974336640"/>
                    </a:ext>
                  </a:extLst>
                </a:gridCol>
                <a:gridCol w="330130">
                  <a:extLst>
                    <a:ext uri="{9D8B030D-6E8A-4147-A177-3AD203B41FA5}">
                      <a16:colId xmlns:a16="http://schemas.microsoft.com/office/drawing/2014/main" val="3448972760"/>
                    </a:ext>
                  </a:extLst>
                </a:gridCol>
                <a:gridCol w="412664">
                  <a:extLst>
                    <a:ext uri="{9D8B030D-6E8A-4147-A177-3AD203B41FA5}">
                      <a16:colId xmlns:a16="http://schemas.microsoft.com/office/drawing/2014/main" val="310052831"/>
                    </a:ext>
                  </a:extLst>
                </a:gridCol>
                <a:gridCol w="247598">
                  <a:extLst>
                    <a:ext uri="{9D8B030D-6E8A-4147-A177-3AD203B41FA5}">
                      <a16:colId xmlns:a16="http://schemas.microsoft.com/office/drawing/2014/main" val="920735811"/>
                    </a:ext>
                  </a:extLst>
                </a:gridCol>
                <a:gridCol w="165065">
                  <a:extLst>
                    <a:ext uri="{9D8B030D-6E8A-4147-A177-3AD203B41FA5}">
                      <a16:colId xmlns:a16="http://schemas.microsoft.com/office/drawing/2014/main" val="82693598"/>
                    </a:ext>
                  </a:extLst>
                </a:gridCol>
                <a:gridCol w="769413">
                  <a:extLst>
                    <a:ext uri="{9D8B030D-6E8A-4147-A177-3AD203B41FA5}">
                      <a16:colId xmlns:a16="http://schemas.microsoft.com/office/drawing/2014/main" val="1313672349"/>
                    </a:ext>
                  </a:extLst>
                </a:gridCol>
                <a:gridCol w="881243">
                  <a:extLst>
                    <a:ext uri="{9D8B030D-6E8A-4147-A177-3AD203B41FA5}">
                      <a16:colId xmlns:a16="http://schemas.microsoft.com/office/drawing/2014/main" val="3613773959"/>
                    </a:ext>
                  </a:extLst>
                </a:gridCol>
              </a:tblGrid>
              <a:tr h="370840">
                <a:tc gridSpan="1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10</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3</a:t>
                      </a:r>
                      <a:endParaRPr lang="th-TH" sz="1600" dirty="0">
                        <a:latin typeface="Open Sans"/>
                      </a:endParaRPr>
                    </a:p>
                  </a:txBody>
                  <a:tcPr anchor="ctr">
                    <a:solidFill>
                      <a:srgbClr val="FF7171"/>
                    </a:solidFill>
                  </a:tcPr>
                </a:tc>
                <a:tc hMerge="1">
                  <a:txBody>
                    <a:bodyPr/>
                    <a:lstStyle/>
                    <a:p>
                      <a:endParaRPr lang="th-TH"/>
                    </a:p>
                  </a:txBody>
                  <a:tcPr/>
                </a:tc>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0.92</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1600" dirty="0">
                          <a:latin typeface="Open Sans"/>
                        </a:rPr>
                        <a:t>0.94</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gridSpan="4">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14</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20</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7</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graphicFrame>
        <p:nvGraphicFramePr>
          <p:cNvPr id="5" name="Table 4">
            <a:extLst>
              <a:ext uri="{FF2B5EF4-FFF2-40B4-BE49-F238E27FC236}">
                <a16:creationId xmlns:a16="http://schemas.microsoft.com/office/drawing/2014/main" id="{E605AB4D-F38B-47C0-A486-02F43BAFD180}"/>
              </a:ext>
            </a:extLst>
          </p:cNvPr>
          <p:cNvGraphicFramePr/>
          <p:nvPr>
            <p:extLst>
              <p:ext uri="{D42A27DB-BD31-4B8C-83A1-F6EECF244321}">
                <p14:modId xmlns:p14="http://schemas.microsoft.com/office/powerpoint/2010/main" val="2438648096"/>
              </p:ext>
            </p:extLst>
          </p:nvPr>
        </p:nvGraphicFramePr>
        <p:xfrm>
          <a:off x="392698" y="5320822"/>
          <a:ext cx="4325151" cy="370840"/>
        </p:xfrm>
        <a:graphic>
          <a:graphicData uri="http://schemas.openxmlformats.org/drawingml/2006/table">
            <a:tbl>
              <a:tblPr firstRow="1" bandRow="1">
                <a:tableStyleId>{5C22544A-7EE6-4342-B048-85BDC9FD1C3A}</a:tableStyleId>
              </a:tblPr>
              <a:tblGrid>
                <a:gridCol w="929259">
                  <a:extLst>
                    <a:ext uri="{9D8B030D-6E8A-4147-A177-3AD203B41FA5}">
                      <a16:colId xmlns:a16="http://schemas.microsoft.com/office/drawing/2014/main" val="4061916808"/>
                    </a:ext>
                  </a:extLst>
                </a:gridCol>
                <a:gridCol w="922425">
                  <a:extLst>
                    <a:ext uri="{9D8B030D-6E8A-4147-A177-3AD203B41FA5}">
                      <a16:colId xmlns:a16="http://schemas.microsoft.com/office/drawing/2014/main" val="3974092637"/>
                    </a:ext>
                  </a:extLst>
                </a:gridCol>
                <a:gridCol w="922425">
                  <a:extLst>
                    <a:ext uri="{9D8B030D-6E8A-4147-A177-3AD203B41FA5}">
                      <a16:colId xmlns:a16="http://schemas.microsoft.com/office/drawing/2014/main" val="2159992756"/>
                    </a:ext>
                  </a:extLst>
                </a:gridCol>
                <a:gridCol w="929259">
                  <a:extLst>
                    <a:ext uri="{9D8B030D-6E8A-4147-A177-3AD203B41FA5}">
                      <a16:colId xmlns:a16="http://schemas.microsoft.com/office/drawing/2014/main" val="27299752"/>
                    </a:ext>
                  </a:extLst>
                </a:gridCol>
                <a:gridCol w="621783">
                  <a:extLst>
                    <a:ext uri="{9D8B030D-6E8A-4147-A177-3AD203B41FA5}">
                      <a16:colId xmlns:a16="http://schemas.microsoft.com/office/drawing/2014/main" val="3394356769"/>
                    </a:ext>
                  </a:extLst>
                </a:gridCol>
              </a:tblGrid>
              <a:tr h="370840">
                <a:tc>
                  <a:txBody>
                    <a:bodyPr/>
                    <a:lstStyle/>
                    <a:p>
                      <a:pPr algn="ctr" fontAlgn="ctr">
                        <a:spcBef>
                          <a:spcPts val="0"/>
                        </a:spcBef>
                        <a:spcAft>
                          <a:spcPts val="0"/>
                        </a:spcAft>
                      </a:pPr>
                      <a:r>
                        <a:rPr lang="en-US" sz="1600" b="0" u="none" strike="noStrike" dirty="0">
                          <a:solidFill>
                            <a:schemeClr val="tx1"/>
                          </a:solidFill>
                          <a:effectLst/>
                          <a:latin typeface="Open Sans"/>
                        </a:rPr>
                        <a:t>Item 3</a:t>
                      </a:r>
                      <a:endParaRPr lang="en-US" sz="1800" b="0" i="0" u="none" strike="noStrike" dirty="0">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Item 8</a:t>
                      </a:r>
                      <a:endParaRPr lang="en-US" sz="1800" b="0" i="0" u="none" strike="noStrike" dirty="0">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a:solidFill>
                            <a:schemeClr val="tx1"/>
                          </a:solidFill>
                          <a:effectLst/>
                          <a:latin typeface="Open Sans"/>
                        </a:rPr>
                        <a:t>Item 13</a:t>
                      </a:r>
                      <a:endParaRPr lang="en-US" sz="1800" b="0" i="0" u="none" strike="noStrike">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Item 10</a:t>
                      </a:r>
                      <a:endParaRPr lang="en-US" sz="1800" b="0" i="0" u="none" strike="noStrike" dirty="0">
                        <a:solidFill>
                          <a:schemeClr val="tx1"/>
                        </a:solidFill>
                        <a:effectLst/>
                        <a:latin typeface="Open Sans"/>
                      </a:endParaRPr>
                    </a:p>
                  </a:txBody>
                  <a:tcPr anchor="ctr">
                    <a:solidFill>
                      <a:schemeClr val="accent2">
                        <a:lumMod val="60000"/>
                        <a:lumOff val="40000"/>
                      </a:schemeClr>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0.87</a:t>
                      </a:r>
                      <a:endParaRPr lang="en-US" sz="1800" b="0" i="0" u="none" strike="noStrike" dirty="0">
                        <a:solidFill>
                          <a:schemeClr val="tx1"/>
                        </a:solidFill>
                        <a:effectLst/>
                        <a:latin typeface="Open Sans"/>
                      </a:endParaRPr>
                    </a:p>
                  </a:txBody>
                  <a:tcPr anchor="ctr">
                    <a:solidFill>
                      <a:schemeClr val="accent5">
                        <a:lumMod val="60000"/>
                        <a:lumOff val="40000"/>
                      </a:schemeClr>
                    </a:solidFill>
                  </a:tcPr>
                </a:tc>
                <a:extLst>
                  <a:ext uri="{0D108BD9-81ED-4DB2-BD59-A6C34878D82A}">
                    <a16:rowId xmlns:a16="http://schemas.microsoft.com/office/drawing/2014/main" val="338242022"/>
                  </a:ext>
                </a:extLst>
              </a:tr>
            </a:tbl>
          </a:graphicData>
        </a:graphic>
      </p:graphicFrame>
      <p:sp>
        <p:nvSpPr>
          <p:cNvPr id="8" name="Arrow: Right 7">
            <a:extLst>
              <a:ext uri="{FF2B5EF4-FFF2-40B4-BE49-F238E27FC236}">
                <a16:creationId xmlns:a16="http://schemas.microsoft.com/office/drawing/2014/main" id="{B9A68D33-D496-434B-8FD3-5F4A9465E8F8}"/>
              </a:ext>
            </a:extLst>
          </p:cNvPr>
          <p:cNvSpPr/>
          <p:nvPr/>
        </p:nvSpPr>
        <p:spPr>
          <a:xfrm rot="20670895">
            <a:off x="4777142" y="5059055"/>
            <a:ext cx="1185570" cy="195230"/>
          </a:xfrm>
          <a:prstGeom prst="rightArrow">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0" name="Arrow: Right 9">
            <a:extLst>
              <a:ext uri="{FF2B5EF4-FFF2-40B4-BE49-F238E27FC236}">
                <a16:creationId xmlns:a16="http://schemas.microsoft.com/office/drawing/2014/main" id="{1BAED6CB-8D4D-415F-B92A-513C1071C6F2}"/>
              </a:ext>
            </a:extLst>
          </p:cNvPr>
          <p:cNvSpPr/>
          <p:nvPr/>
        </p:nvSpPr>
        <p:spPr>
          <a:xfrm rot="929105" flipV="1">
            <a:off x="4777141" y="5749153"/>
            <a:ext cx="1185570" cy="195230"/>
          </a:xfrm>
          <a:prstGeom prst="rightArrow">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9" name="Oval 8">
            <a:extLst>
              <a:ext uri="{FF2B5EF4-FFF2-40B4-BE49-F238E27FC236}">
                <a16:creationId xmlns:a16="http://schemas.microsoft.com/office/drawing/2014/main" id="{E896CE03-35D4-47CA-959B-207443E7B1F9}"/>
              </a:ext>
            </a:extLst>
          </p:cNvPr>
          <p:cNvSpPr/>
          <p:nvPr/>
        </p:nvSpPr>
        <p:spPr>
          <a:xfrm>
            <a:off x="5107238" y="4778826"/>
            <a:ext cx="393165" cy="393165"/>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Open Sans"/>
              </a:rPr>
              <a:t>1</a:t>
            </a:r>
            <a:endParaRPr lang="th-TH" dirty="0">
              <a:latin typeface="Open Sans"/>
            </a:endParaRPr>
          </a:p>
        </p:txBody>
      </p:sp>
      <p:sp>
        <p:nvSpPr>
          <p:cNvPr id="12" name="Oval 11">
            <a:extLst>
              <a:ext uri="{FF2B5EF4-FFF2-40B4-BE49-F238E27FC236}">
                <a16:creationId xmlns:a16="http://schemas.microsoft.com/office/drawing/2014/main" id="{CB64E6D6-B58B-4921-AD55-495F37EAD934}"/>
              </a:ext>
            </a:extLst>
          </p:cNvPr>
          <p:cNvSpPr/>
          <p:nvPr/>
        </p:nvSpPr>
        <p:spPr>
          <a:xfrm>
            <a:off x="5107237" y="5832491"/>
            <a:ext cx="393165" cy="393165"/>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Open Sans"/>
              </a:rPr>
              <a:t>2</a:t>
            </a:r>
            <a:endParaRPr lang="th-TH" dirty="0">
              <a:latin typeface="Open Sans"/>
            </a:endParaRPr>
          </a:p>
        </p:txBody>
      </p:sp>
      <p:sp>
        <p:nvSpPr>
          <p:cNvPr id="11" name="TextBox 10">
            <a:extLst>
              <a:ext uri="{FF2B5EF4-FFF2-40B4-BE49-F238E27FC236}">
                <a16:creationId xmlns:a16="http://schemas.microsoft.com/office/drawing/2014/main" id="{9E23DBA7-E190-445B-8706-52C001B1EB81}"/>
              </a:ext>
            </a:extLst>
          </p:cNvPr>
          <p:cNvSpPr txBox="1"/>
          <p:nvPr/>
        </p:nvSpPr>
        <p:spPr>
          <a:xfrm>
            <a:off x="4717849" y="4120971"/>
            <a:ext cx="1694047" cy="369332"/>
          </a:xfrm>
          <a:prstGeom prst="rect">
            <a:avLst/>
          </a:prstGeom>
          <a:noFill/>
        </p:spPr>
        <p:txBody>
          <a:bodyPr wrap="square" rtlCol="0">
            <a:spAutoFit/>
          </a:bodyPr>
          <a:lstStyle/>
          <a:p>
            <a:r>
              <a:rPr lang="en-US" dirty="0"/>
              <a:t>parent</a:t>
            </a:r>
            <a:endParaRPr lang="th-TH" dirty="0"/>
          </a:p>
        </p:txBody>
      </p:sp>
      <p:cxnSp>
        <p:nvCxnSpPr>
          <p:cNvPr id="16" name="Straight Arrow Connector 15">
            <a:extLst>
              <a:ext uri="{FF2B5EF4-FFF2-40B4-BE49-F238E27FC236}">
                <a16:creationId xmlns:a16="http://schemas.microsoft.com/office/drawing/2014/main" id="{78055D40-A9F5-4C0F-850B-7AAF1CBCD7ED}"/>
              </a:ext>
            </a:extLst>
          </p:cNvPr>
          <p:cNvCxnSpPr/>
          <p:nvPr/>
        </p:nvCxnSpPr>
        <p:spPr>
          <a:xfrm>
            <a:off x="5303819" y="4427579"/>
            <a:ext cx="663436" cy="350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AC53D842-8336-4350-B060-360E4615DD0C}"/>
              </a:ext>
            </a:extLst>
          </p:cNvPr>
          <p:cNvSpPr txBox="1"/>
          <p:nvPr/>
        </p:nvSpPr>
        <p:spPr>
          <a:xfrm>
            <a:off x="4714437" y="6430141"/>
            <a:ext cx="1694047" cy="369332"/>
          </a:xfrm>
          <a:prstGeom prst="rect">
            <a:avLst/>
          </a:prstGeom>
          <a:noFill/>
        </p:spPr>
        <p:txBody>
          <a:bodyPr wrap="square" rtlCol="0">
            <a:spAutoFit/>
          </a:bodyPr>
          <a:lstStyle/>
          <a:p>
            <a:r>
              <a:rPr lang="en-US" dirty="0"/>
              <a:t>worst</a:t>
            </a:r>
            <a:endParaRPr lang="th-TH" dirty="0"/>
          </a:p>
        </p:txBody>
      </p:sp>
      <p:cxnSp>
        <p:nvCxnSpPr>
          <p:cNvPr id="19" name="Straight Arrow Connector 18">
            <a:extLst>
              <a:ext uri="{FF2B5EF4-FFF2-40B4-BE49-F238E27FC236}">
                <a16:creationId xmlns:a16="http://schemas.microsoft.com/office/drawing/2014/main" id="{035960F8-87CF-43FC-8778-29FDFB2033C8}"/>
              </a:ext>
            </a:extLst>
          </p:cNvPr>
          <p:cNvCxnSpPr>
            <a:cxnSpLocks/>
          </p:cNvCxnSpPr>
          <p:nvPr/>
        </p:nvCxnSpPr>
        <p:spPr>
          <a:xfrm flipV="1">
            <a:off x="5300407" y="6128489"/>
            <a:ext cx="663436" cy="350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Title 1">
            <a:extLst>
              <a:ext uri="{FF2B5EF4-FFF2-40B4-BE49-F238E27FC236}">
                <a16:creationId xmlns:a16="http://schemas.microsoft.com/office/drawing/2014/main" id="{721B20A4-8CA3-46DB-8C77-8A541C0F708C}"/>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Replacement</a:t>
            </a:r>
            <a:endParaRPr lang="th-TH" dirty="0">
              <a:solidFill>
                <a:schemeClr val="tx1"/>
              </a:solidFill>
            </a:endParaRPr>
          </a:p>
        </p:txBody>
      </p:sp>
    </p:spTree>
    <p:extLst>
      <p:ext uri="{BB962C8B-B14F-4D97-AF65-F5344CB8AC3E}">
        <p14:creationId xmlns:p14="http://schemas.microsoft.com/office/powerpoint/2010/main" val="18220509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10ED4F-2A56-4098-91B9-8AE6DC060D24}"/>
              </a:ext>
            </a:extLst>
          </p:cNvPr>
          <p:cNvPicPr>
            <a:picLocks noChangeAspect="1"/>
          </p:cNvPicPr>
          <p:nvPr/>
        </p:nvPicPr>
        <p:blipFill>
          <a:blip r:embed="rId3"/>
          <a:stretch>
            <a:fillRect/>
          </a:stretch>
        </p:blipFill>
        <p:spPr>
          <a:xfrm>
            <a:off x="3191503" y="2636192"/>
            <a:ext cx="5808993" cy="4221807"/>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For this purpose, several datasets of different sizes are used. Each reported result is an average of 10 executions.</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Tests and Results</a:t>
            </a:r>
            <a:endParaRPr lang="th-TH" dirty="0">
              <a:solidFill>
                <a:schemeClr val="tx1"/>
              </a:solidFill>
            </a:endParaRPr>
          </a:p>
        </p:txBody>
      </p:sp>
    </p:spTree>
    <p:extLst>
      <p:ext uri="{BB962C8B-B14F-4D97-AF65-F5344CB8AC3E}">
        <p14:creationId xmlns:p14="http://schemas.microsoft.com/office/powerpoint/2010/main" val="984610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Rule type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3949550977"/>
              </p:ext>
            </p:extLst>
          </p:nvPr>
        </p:nvGraphicFramePr>
        <p:xfrm>
          <a:off x="4147418" y="2870007"/>
          <a:ext cx="3897163" cy="31699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152400">
                <a:tc>
                  <a:txBody>
                    <a:bodyPr/>
                    <a:lstStyle/>
                    <a:p>
                      <a:pPr algn="ctr"/>
                      <a:r>
                        <a:rPr lang="en-US" sz="1400" dirty="0">
                          <a:latin typeface="Open Sans"/>
                        </a:rPr>
                        <a:t>Rule type</a:t>
                      </a:r>
                      <a:endParaRPr lang="th-TH" sz="1400" dirty="0">
                        <a:latin typeface="Open Sans"/>
                      </a:endParaRPr>
                    </a:p>
                  </a:txBody>
                  <a:tcPr anchor="ctr"/>
                </a:tc>
                <a:tc>
                  <a:txBody>
                    <a:bodyPr/>
                    <a:lstStyle/>
                    <a:p>
                      <a:pPr algn="ctr"/>
                      <a:r>
                        <a:rPr lang="en-US" sz="1400" dirty="0">
                          <a:latin typeface="Open Sans"/>
                        </a:rPr>
                        <a:t>One rule, </a:t>
                      </a:r>
                    </a:p>
                    <a:p>
                      <a:pPr algn="ctr"/>
                      <a:r>
                        <a:rPr lang="en-US" sz="1400" dirty="0">
                          <a:latin typeface="Open Sans"/>
                        </a:rPr>
                        <a:t>Several rules</a:t>
                      </a:r>
                      <a:endParaRPr lang="th-TH" sz="1400" dirty="0">
                        <a:latin typeface="Open Sans"/>
                      </a:endParaRPr>
                    </a:p>
                  </a:txBody>
                  <a:tcPr anchor="ctr"/>
                </a:tc>
                <a:extLst>
                  <a:ext uri="{0D108BD9-81ED-4DB2-BD59-A6C34878D82A}">
                    <a16:rowId xmlns:a16="http://schemas.microsoft.com/office/drawing/2014/main" val="817105432"/>
                  </a:ext>
                </a:extLst>
              </a:tr>
              <a:tr h="1524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2896483063"/>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1860485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0D5ADE5-5021-4594-948D-71DFBC5AA602}"/>
              </a:ext>
            </a:extLst>
          </p:cNvPr>
          <p:cNvPicPr>
            <a:picLocks noChangeAspect="1"/>
          </p:cNvPicPr>
          <p:nvPr/>
        </p:nvPicPr>
        <p:blipFill>
          <a:blip r:embed="rId3"/>
          <a:stretch>
            <a:fillRect/>
          </a:stretch>
        </p:blipFill>
        <p:spPr>
          <a:xfrm>
            <a:off x="2917756" y="2131675"/>
            <a:ext cx="6356488" cy="3722558"/>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Rule type TEST</a:t>
            </a:r>
            <a:endParaRPr lang="th-TH" dirty="0">
              <a:solidFill>
                <a:schemeClr val="tx1"/>
              </a:solidFill>
            </a:endParaRPr>
          </a:p>
        </p:txBody>
      </p:sp>
    </p:spTree>
    <p:extLst>
      <p:ext uri="{BB962C8B-B14F-4D97-AF65-F5344CB8AC3E}">
        <p14:creationId xmlns:p14="http://schemas.microsoft.com/office/powerpoint/2010/main" val="37693633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1608311" y="1946819"/>
            <a:ext cx="8975377" cy="2533707"/>
          </a:xfrm>
          <a:prstGeom prst="rect">
            <a:avLst/>
          </a:prstGeom>
          <a:noFill/>
        </p:spPr>
        <p:txBody>
          <a:bodyPr wrap="square" rtlCol="0">
            <a:spAutoFit/>
          </a:bodyPr>
          <a:lstStyle/>
          <a:p>
            <a:pPr algn="thaiDist">
              <a:lnSpc>
                <a:spcPct val="150000"/>
              </a:lnSpc>
            </a:pPr>
            <a:r>
              <a:rPr lang="en-US" dirty="0">
                <a:latin typeface="Open Sans"/>
              </a:rPr>
              <a:t>	The first encoding (one rule) gives best results with the small dataset C20d10 and medium one C73d10 since it gives highest fitness. </a:t>
            </a:r>
          </a:p>
          <a:p>
            <a:pPr algn="thaiDist">
              <a:lnSpc>
                <a:spcPct val="150000"/>
              </a:lnSpc>
            </a:pPr>
            <a:r>
              <a:rPr lang="en-US" dirty="0">
                <a:latin typeface="Open Sans"/>
              </a:rPr>
              <a:t>	Otherwise, for the rest, the two encodings are almost similar with a slight advantage for the first one.</a:t>
            </a:r>
          </a:p>
          <a:p>
            <a:pPr algn="thaiDist">
              <a:lnSpc>
                <a:spcPct val="150000"/>
              </a:lnSpc>
            </a:pPr>
            <a:r>
              <a:rPr lang="en-US" dirty="0">
                <a:latin typeface="Open Sans"/>
              </a:rPr>
              <a:t>	In the following tests, we use </a:t>
            </a:r>
            <a:r>
              <a:rPr lang="en-US" b="1" u="sng" dirty="0">
                <a:latin typeface="Open Sans"/>
              </a:rPr>
              <a:t>one rule encoding</a:t>
            </a:r>
            <a:r>
              <a:rPr lang="en-US" dirty="0">
                <a:latin typeface="Open Sans"/>
              </a:rPr>
              <a:t> as it gives association rules with the best quality.</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of Chromosome Encoding</a:t>
            </a:r>
            <a:endParaRPr lang="th-TH" dirty="0">
              <a:solidFill>
                <a:schemeClr val="tx1"/>
              </a:solidFill>
            </a:endParaRPr>
          </a:p>
        </p:txBody>
      </p:sp>
      <p:pic>
        <p:nvPicPr>
          <p:cNvPr id="4" name="Picture 3">
            <a:extLst>
              <a:ext uri="{FF2B5EF4-FFF2-40B4-BE49-F238E27FC236}">
                <a16:creationId xmlns:a16="http://schemas.microsoft.com/office/drawing/2014/main" id="{949775C9-991F-431A-9675-839E68D7E10A}"/>
              </a:ext>
            </a:extLst>
          </p:cNvPr>
          <p:cNvPicPr>
            <a:picLocks noChangeAspect="1"/>
          </p:cNvPicPr>
          <p:nvPr/>
        </p:nvPicPr>
        <p:blipFill>
          <a:blip r:embed="rId3"/>
          <a:stretch>
            <a:fillRect/>
          </a:stretch>
        </p:blipFill>
        <p:spPr>
          <a:xfrm>
            <a:off x="6554804" y="4194409"/>
            <a:ext cx="4548239" cy="2663591"/>
          </a:xfrm>
          <a:prstGeom prst="rect">
            <a:avLst/>
          </a:prstGeom>
        </p:spPr>
      </p:pic>
    </p:spTree>
    <p:extLst>
      <p:ext uri="{BB962C8B-B14F-4D97-AF65-F5344CB8AC3E}">
        <p14:creationId xmlns:p14="http://schemas.microsoft.com/office/powerpoint/2010/main" val="2437316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2773835922"/>
              </p:ext>
            </p:extLst>
          </p:nvPr>
        </p:nvGraphicFramePr>
        <p:xfrm>
          <a:off x="4147418" y="2835974"/>
          <a:ext cx="3897163" cy="28651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100, 200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Population,</a:t>
                      </a:r>
                    </a:p>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4226361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C299B8-8041-4F2A-9A37-A5F18EE7BB05}"/>
              </a:ext>
            </a:extLst>
          </p:cNvPr>
          <p:cNvPicPr>
            <a:picLocks noChangeAspect="1"/>
          </p:cNvPicPr>
          <p:nvPr/>
        </p:nvPicPr>
        <p:blipFill>
          <a:blip r:embed="rId3"/>
          <a:stretch>
            <a:fillRect/>
          </a:stretch>
        </p:blipFill>
        <p:spPr>
          <a:xfrm>
            <a:off x="6840184" y="1078030"/>
            <a:ext cx="4770624" cy="5587465"/>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pic>
        <p:nvPicPr>
          <p:cNvPr id="10" name="Picture 9">
            <a:extLst>
              <a:ext uri="{FF2B5EF4-FFF2-40B4-BE49-F238E27FC236}">
                <a16:creationId xmlns:a16="http://schemas.microsoft.com/office/drawing/2014/main" id="{812825FB-F0AB-41CA-BF65-59596C8DDBA9}"/>
              </a:ext>
            </a:extLst>
          </p:cNvPr>
          <p:cNvPicPr>
            <a:picLocks noChangeAspect="1"/>
          </p:cNvPicPr>
          <p:nvPr/>
        </p:nvPicPr>
        <p:blipFill>
          <a:blip r:embed="rId4"/>
          <a:stretch>
            <a:fillRect/>
          </a:stretch>
        </p:blipFill>
        <p:spPr>
          <a:xfrm>
            <a:off x="262072" y="2242686"/>
            <a:ext cx="6452983" cy="3258152"/>
          </a:xfrm>
          <a:prstGeom prst="rect">
            <a:avLst/>
          </a:prstGeom>
        </p:spPr>
      </p:pic>
    </p:spTree>
    <p:extLst>
      <p:ext uri="{BB962C8B-B14F-4D97-AF65-F5344CB8AC3E}">
        <p14:creationId xmlns:p14="http://schemas.microsoft.com/office/powerpoint/2010/main" val="26796529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Table 2 shows that organizing the </a:t>
            </a:r>
            <a:r>
              <a:rPr lang="en-US" dirty="0">
                <a:solidFill>
                  <a:srgbClr val="0070C0"/>
                </a:solidFill>
                <a:latin typeface="Open Sans"/>
              </a:rPr>
              <a:t>population in classes </a:t>
            </a:r>
            <a:r>
              <a:rPr lang="en-US" dirty="0">
                <a:latin typeface="Open Sans"/>
              </a:rPr>
              <a:t>gives usually </a:t>
            </a:r>
            <a:r>
              <a:rPr lang="en-US" b="1" u="sng" dirty="0">
                <a:solidFill>
                  <a:srgbClr val="0070C0"/>
                </a:solidFill>
                <a:latin typeface="Open Sans"/>
              </a:rPr>
              <a:t>better confidence</a:t>
            </a:r>
            <a:r>
              <a:rPr lang="en-US" dirty="0">
                <a:latin typeface="Open Sans"/>
              </a:rPr>
              <a:t>. One can notice that increasing the size of the population gives more rules and increases confidence.</a:t>
            </a:r>
          </a:p>
          <a:p>
            <a:pPr algn="thaiDist">
              <a:lnSpc>
                <a:spcPct val="150000"/>
              </a:lnSpc>
            </a:pPr>
            <a:r>
              <a:rPr lang="en-US" dirty="0">
                <a:latin typeface="Open Sans"/>
              </a:rPr>
              <a:t>	But we obtain </a:t>
            </a:r>
            <a:r>
              <a:rPr lang="en-US" b="1" u="sng" dirty="0">
                <a:solidFill>
                  <a:srgbClr val="C00000"/>
                </a:solidFill>
                <a:latin typeface="Open Sans"/>
              </a:rPr>
              <a:t>more rules</a:t>
            </a:r>
            <a:r>
              <a:rPr lang="en-US" dirty="0">
                <a:latin typeface="Open Sans"/>
              </a:rPr>
              <a:t> with </a:t>
            </a:r>
            <a:r>
              <a:rPr lang="en-US" dirty="0">
                <a:solidFill>
                  <a:srgbClr val="C00000"/>
                </a:solidFill>
                <a:latin typeface="Open Sans"/>
              </a:rPr>
              <a:t>one population </a:t>
            </a:r>
            <a:r>
              <a:rPr lang="en-US" dirty="0">
                <a:latin typeface="Open Sans"/>
              </a:rPr>
              <a:t>than with divided population.</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of Population Type and Size</a:t>
            </a:r>
            <a:endParaRPr lang="th-TH" dirty="0">
              <a:solidFill>
                <a:schemeClr val="tx1"/>
              </a:solidFill>
            </a:endParaRPr>
          </a:p>
        </p:txBody>
      </p:sp>
      <p:pic>
        <p:nvPicPr>
          <p:cNvPr id="5" name="Picture 4">
            <a:extLst>
              <a:ext uri="{FF2B5EF4-FFF2-40B4-BE49-F238E27FC236}">
                <a16:creationId xmlns:a16="http://schemas.microsoft.com/office/drawing/2014/main" id="{4DE5F9DB-23D8-47E4-A064-59AF52AF9038}"/>
              </a:ext>
            </a:extLst>
          </p:cNvPr>
          <p:cNvPicPr>
            <a:picLocks noChangeAspect="1"/>
          </p:cNvPicPr>
          <p:nvPr/>
        </p:nvPicPr>
        <p:blipFill rotWithShape="1">
          <a:blip r:embed="rId3"/>
          <a:srcRect b="52110"/>
          <a:stretch/>
        </p:blipFill>
        <p:spPr>
          <a:xfrm>
            <a:off x="3312610" y="3508466"/>
            <a:ext cx="5566780" cy="3122384"/>
          </a:xfrm>
          <a:prstGeom prst="rect">
            <a:avLst/>
          </a:prstGeom>
        </p:spPr>
      </p:pic>
      <p:sp>
        <p:nvSpPr>
          <p:cNvPr id="2" name="Rectangle 1">
            <a:extLst>
              <a:ext uri="{FF2B5EF4-FFF2-40B4-BE49-F238E27FC236}">
                <a16:creationId xmlns:a16="http://schemas.microsoft.com/office/drawing/2014/main" id="{7AA0A014-F747-4409-BB52-24BF52CD0CEC}"/>
              </a:ext>
            </a:extLst>
          </p:cNvPr>
          <p:cNvSpPr/>
          <p:nvPr/>
        </p:nvSpPr>
        <p:spPr>
          <a:xfrm>
            <a:off x="6025415" y="4803007"/>
            <a:ext cx="413886" cy="118390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1" name="Rectangle 10">
            <a:extLst>
              <a:ext uri="{FF2B5EF4-FFF2-40B4-BE49-F238E27FC236}">
                <a16:creationId xmlns:a16="http://schemas.microsoft.com/office/drawing/2014/main" id="{5D3636ED-E15D-405D-85A9-EA0DF9A7E9A6}"/>
              </a:ext>
            </a:extLst>
          </p:cNvPr>
          <p:cNvSpPr/>
          <p:nvPr/>
        </p:nvSpPr>
        <p:spPr>
          <a:xfrm>
            <a:off x="6497051" y="4803005"/>
            <a:ext cx="288756" cy="1183907"/>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2" name="Rectangle 11">
            <a:extLst>
              <a:ext uri="{FF2B5EF4-FFF2-40B4-BE49-F238E27FC236}">
                <a16:creationId xmlns:a16="http://schemas.microsoft.com/office/drawing/2014/main" id="{C12C23D6-9FEB-4AB9-9790-0E4B9AD9756D}"/>
              </a:ext>
            </a:extLst>
          </p:cNvPr>
          <p:cNvSpPr/>
          <p:nvPr/>
        </p:nvSpPr>
        <p:spPr>
          <a:xfrm>
            <a:off x="8251338" y="4803005"/>
            <a:ext cx="413886" cy="118390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3" name="Rectangle 12">
            <a:extLst>
              <a:ext uri="{FF2B5EF4-FFF2-40B4-BE49-F238E27FC236}">
                <a16:creationId xmlns:a16="http://schemas.microsoft.com/office/drawing/2014/main" id="{5C7820F9-4E7A-4918-9BE2-D042B2AEDF2B}"/>
              </a:ext>
            </a:extLst>
          </p:cNvPr>
          <p:cNvSpPr/>
          <p:nvPr/>
        </p:nvSpPr>
        <p:spPr>
          <a:xfrm>
            <a:off x="4635325" y="4803003"/>
            <a:ext cx="288756" cy="1183907"/>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cxnSp>
        <p:nvCxnSpPr>
          <p:cNvPr id="15" name="Straight Arrow Connector 14">
            <a:extLst>
              <a:ext uri="{FF2B5EF4-FFF2-40B4-BE49-F238E27FC236}">
                <a16:creationId xmlns:a16="http://schemas.microsoft.com/office/drawing/2014/main" id="{265E766C-A466-4615-A7C4-FEA0E5C3FE02}"/>
              </a:ext>
            </a:extLst>
          </p:cNvPr>
          <p:cNvCxnSpPr>
            <a:cxnSpLocks/>
          </p:cNvCxnSpPr>
          <p:nvPr/>
        </p:nvCxnSpPr>
        <p:spPr>
          <a:xfrm>
            <a:off x="3858805" y="3234031"/>
            <a:ext cx="2782624" cy="148234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3C92A5F-8A1A-41A5-A385-58ABAAC02766}"/>
              </a:ext>
            </a:extLst>
          </p:cNvPr>
          <p:cNvCxnSpPr>
            <a:cxnSpLocks/>
          </p:cNvCxnSpPr>
          <p:nvPr/>
        </p:nvCxnSpPr>
        <p:spPr>
          <a:xfrm flipH="1">
            <a:off x="6241776" y="2355640"/>
            <a:ext cx="3300565" cy="23607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741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Figure 5 shows the average rules size when using the two types of population. One can notice that the average is </a:t>
            </a:r>
            <a:r>
              <a:rPr lang="en-US" dirty="0">
                <a:solidFill>
                  <a:srgbClr val="0070C0"/>
                </a:solidFill>
                <a:latin typeface="Open Sans"/>
              </a:rPr>
              <a:t>higher</a:t>
            </a:r>
            <a:r>
              <a:rPr lang="en-US" dirty="0">
                <a:latin typeface="Open Sans"/>
              </a:rPr>
              <a:t> for the </a:t>
            </a:r>
            <a:r>
              <a:rPr lang="en-US" b="1" dirty="0">
                <a:solidFill>
                  <a:srgbClr val="0070C0"/>
                </a:solidFill>
                <a:latin typeface="Open Sans"/>
              </a:rPr>
              <a:t>population organized in classes</a:t>
            </a:r>
            <a:r>
              <a:rPr lang="en-US" dirty="0">
                <a:latin typeface="Open Sans"/>
              </a:rPr>
              <a:t> than the other one. This is due to the convergence toward rules of the smallest size.</a:t>
            </a:r>
          </a:p>
        </p:txBody>
      </p:sp>
      <p:pic>
        <p:nvPicPr>
          <p:cNvPr id="5" name="Picture 4">
            <a:extLst>
              <a:ext uri="{FF2B5EF4-FFF2-40B4-BE49-F238E27FC236}">
                <a16:creationId xmlns:a16="http://schemas.microsoft.com/office/drawing/2014/main" id="{0C400BDC-B2B6-4234-99E7-9FFAB39AB03F}"/>
              </a:ext>
            </a:extLst>
          </p:cNvPr>
          <p:cNvPicPr>
            <a:picLocks noChangeAspect="1"/>
          </p:cNvPicPr>
          <p:nvPr/>
        </p:nvPicPr>
        <p:blipFill>
          <a:blip r:embed="rId3"/>
          <a:stretch>
            <a:fillRect/>
          </a:stretch>
        </p:blipFill>
        <p:spPr>
          <a:xfrm>
            <a:off x="3224212" y="1890876"/>
            <a:ext cx="5743575" cy="2771775"/>
          </a:xfrm>
          <a:prstGeom prst="rect">
            <a:avLst/>
          </a:prstGeom>
        </p:spPr>
      </p:pic>
    </p:spTree>
    <p:extLst>
      <p:ext uri="{BB962C8B-B14F-4D97-AF65-F5344CB8AC3E}">
        <p14:creationId xmlns:p14="http://schemas.microsoft.com/office/powerpoint/2010/main" val="5972047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F576F1-8072-4862-9636-2F7884C9E86E}"/>
              </a:ext>
            </a:extLst>
          </p:cNvPr>
          <p:cNvPicPr>
            <a:picLocks noChangeAspect="1"/>
          </p:cNvPicPr>
          <p:nvPr/>
        </p:nvPicPr>
        <p:blipFill>
          <a:blip r:embed="rId3"/>
          <a:stretch>
            <a:fillRect/>
          </a:stretch>
        </p:blipFill>
        <p:spPr>
          <a:xfrm>
            <a:off x="3454780" y="1892603"/>
            <a:ext cx="5282440" cy="2864571"/>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we present the different results obtained while </a:t>
            </a:r>
            <a:r>
              <a:rPr lang="en-US" b="1" u="sng" dirty="0">
                <a:latin typeface="Open Sans"/>
              </a:rPr>
              <a:t>varying the number of classes</a:t>
            </a:r>
            <a:r>
              <a:rPr lang="en-US" dirty="0">
                <a:latin typeface="Open Sans"/>
              </a:rPr>
              <a:t> in the population. The number of classes </a:t>
            </a:r>
            <a:r>
              <a:rPr lang="en-US" b="1" u="sng" dirty="0">
                <a:latin typeface="Open Sans"/>
              </a:rPr>
              <a:t>influences the number of extracted rules</a:t>
            </a:r>
            <a:r>
              <a:rPr lang="en-US" dirty="0">
                <a:latin typeface="Open Sans"/>
              </a:rPr>
              <a:t> but not on the average fitness.</a:t>
            </a:r>
          </a:p>
        </p:txBody>
      </p:sp>
    </p:spTree>
    <p:extLst>
      <p:ext uri="{BB962C8B-B14F-4D97-AF65-F5344CB8AC3E}">
        <p14:creationId xmlns:p14="http://schemas.microsoft.com/office/powerpoint/2010/main" val="9806979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Crossover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649570529"/>
              </p:ext>
            </p:extLst>
          </p:nvPr>
        </p:nvGraphicFramePr>
        <p:xfrm>
          <a:off x="3554395" y="2835974"/>
          <a:ext cx="5083209" cy="1828800"/>
        </p:xfrm>
        <a:graphic>
          <a:graphicData uri="http://schemas.openxmlformats.org/drawingml/2006/table">
            <a:tbl>
              <a:tblPr firstRow="1" bandRow="1">
                <a:tableStyleId>{9D7B26C5-4107-4FEC-AEDC-1716B250A1EF}</a:tableStyleId>
              </a:tblPr>
              <a:tblGrid>
                <a:gridCol w="2099378">
                  <a:extLst>
                    <a:ext uri="{9D8B030D-6E8A-4147-A177-3AD203B41FA5}">
                      <a16:colId xmlns:a16="http://schemas.microsoft.com/office/drawing/2014/main" val="4054967562"/>
                    </a:ext>
                  </a:extLst>
                </a:gridCol>
                <a:gridCol w="2983831">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One-point, Two-point, Uniform</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bl>
          </a:graphicData>
        </a:graphic>
      </p:graphicFrame>
    </p:spTree>
    <p:extLst>
      <p:ext uri="{BB962C8B-B14F-4D97-AF65-F5344CB8AC3E}">
        <p14:creationId xmlns:p14="http://schemas.microsoft.com/office/powerpoint/2010/main" val="5422670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 Impact on the Type of Crossover</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Figures 6 and 7 show that the </a:t>
            </a:r>
            <a:r>
              <a:rPr lang="en-US" b="1" u="sng" dirty="0">
                <a:solidFill>
                  <a:srgbClr val="C00000"/>
                </a:solidFill>
                <a:latin typeface="Open Sans"/>
              </a:rPr>
              <a:t>two-point crossover</a:t>
            </a:r>
            <a:r>
              <a:rPr lang="en-US" b="1" dirty="0">
                <a:solidFill>
                  <a:srgbClr val="C00000"/>
                </a:solidFill>
                <a:latin typeface="Open Sans"/>
              </a:rPr>
              <a:t> </a:t>
            </a:r>
            <a:r>
              <a:rPr lang="en-US" dirty="0">
                <a:latin typeface="Open Sans"/>
              </a:rPr>
              <a:t>gives more often the </a:t>
            </a:r>
            <a:r>
              <a:rPr lang="en-US" b="1" dirty="0">
                <a:latin typeface="Open Sans"/>
              </a:rPr>
              <a:t>best result</a:t>
            </a:r>
            <a:r>
              <a:rPr lang="en-US" dirty="0">
                <a:latin typeface="Open Sans"/>
              </a:rPr>
              <a:t> in terms of the number of obtained rules and quality of rules (fitness). The </a:t>
            </a:r>
            <a:r>
              <a:rPr lang="en-US" dirty="0">
                <a:solidFill>
                  <a:srgbClr val="00B050"/>
                </a:solidFill>
                <a:latin typeface="Open Sans"/>
              </a:rPr>
              <a:t>uniform mask</a:t>
            </a:r>
            <a:r>
              <a:rPr lang="en-US" dirty="0">
                <a:latin typeface="Open Sans"/>
              </a:rPr>
              <a:t> crossover gives more rules than the </a:t>
            </a:r>
            <a:r>
              <a:rPr lang="en-US" dirty="0">
                <a:solidFill>
                  <a:srgbClr val="0070C0"/>
                </a:solidFill>
                <a:latin typeface="Open Sans"/>
              </a:rPr>
              <a:t>one-point crossover</a:t>
            </a:r>
            <a:r>
              <a:rPr lang="en-US" dirty="0">
                <a:latin typeface="Open Sans"/>
              </a:rPr>
              <a:t>.</a:t>
            </a:r>
          </a:p>
        </p:txBody>
      </p:sp>
      <p:grpSp>
        <p:nvGrpSpPr>
          <p:cNvPr id="11" name="Group 10">
            <a:extLst>
              <a:ext uri="{FF2B5EF4-FFF2-40B4-BE49-F238E27FC236}">
                <a16:creationId xmlns:a16="http://schemas.microsoft.com/office/drawing/2014/main" id="{C41F91D2-4FD4-47AA-A01C-69CFF66C5627}"/>
              </a:ext>
            </a:extLst>
          </p:cNvPr>
          <p:cNvGrpSpPr/>
          <p:nvPr/>
        </p:nvGrpSpPr>
        <p:grpSpPr>
          <a:xfrm>
            <a:off x="643408" y="2117811"/>
            <a:ext cx="10905183" cy="2317904"/>
            <a:chOff x="813516" y="2286220"/>
            <a:chExt cx="10905183" cy="2317904"/>
          </a:xfrm>
        </p:grpSpPr>
        <p:pic>
          <p:nvPicPr>
            <p:cNvPr id="4" name="Picture 3">
              <a:extLst>
                <a:ext uri="{FF2B5EF4-FFF2-40B4-BE49-F238E27FC236}">
                  <a16:creationId xmlns:a16="http://schemas.microsoft.com/office/drawing/2014/main" id="{F4C737A3-31FD-43C1-9192-CA8871C95CC3}"/>
                </a:ext>
              </a:extLst>
            </p:cNvPr>
            <p:cNvPicPr>
              <a:picLocks noChangeAspect="1"/>
            </p:cNvPicPr>
            <p:nvPr/>
          </p:nvPicPr>
          <p:blipFill>
            <a:blip r:embed="rId3"/>
            <a:stretch>
              <a:fillRect/>
            </a:stretch>
          </p:blipFill>
          <p:spPr>
            <a:xfrm>
              <a:off x="813516" y="2492769"/>
              <a:ext cx="5588471" cy="2111355"/>
            </a:xfrm>
            <a:prstGeom prst="rect">
              <a:avLst/>
            </a:prstGeom>
          </p:spPr>
        </p:pic>
        <p:pic>
          <p:nvPicPr>
            <p:cNvPr id="10" name="Picture 9">
              <a:extLst>
                <a:ext uri="{FF2B5EF4-FFF2-40B4-BE49-F238E27FC236}">
                  <a16:creationId xmlns:a16="http://schemas.microsoft.com/office/drawing/2014/main" id="{17B20607-D6C5-44FA-BE52-611DE95040F4}"/>
                </a:ext>
              </a:extLst>
            </p:cNvPr>
            <p:cNvPicPr>
              <a:picLocks noChangeAspect="1"/>
            </p:cNvPicPr>
            <p:nvPr/>
          </p:nvPicPr>
          <p:blipFill>
            <a:blip r:embed="rId4"/>
            <a:stretch>
              <a:fillRect/>
            </a:stretch>
          </p:blipFill>
          <p:spPr>
            <a:xfrm>
              <a:off x="6401987" y="2286220"/>
              <a:ext cx="5316712" cy="2285559"/>
            </a:xfrm>
            <a:prstGeom prst="rect">
              <a:avLst/>
            </a:prstGeom>
          </p:spPr>
        </p:pic>
      </p:grpSp>
    </p:spTree>
    <p:extLst>
      <p:ext uri="{BB962C8B-B14F-4D97-AF65-F5344CB8AC3E}">
        <p14:creationId xmlns:p14="http://schemas.microsoft.com/office/powerpoint/2010/main" val="379386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Replacement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4044620963"/>
              </p:ext>
            </p:extLst>
          </p:nvPr>
        </p:nvGraphicFramePr>
        <p:xfrm>
          <a:off x="3554395" y="2835974"/>
          <a:ext cx="5083209" cy="2042160"/>
        </p:xfrm>
        <a:graphic>
          <a:graphicData uri="http://schemas.openxmlformats.org/drawingml/2006/table">
            <a:tbl>
              <a:tblPr firstRow="1" bandRow="1">
                <a:tableStyleId>{9D7B26C5-4107-4FEC-AEDC-1716B250A1EF}</a:tableStyleId>
              </a:tblPr>
              <a:tblGrid>
                <a:gridCol w="2099378">
                  <a:extLst>
                    <a:ext uri="{9D8B030D-6E8A-4147-A177-3AD203B41FA5}">
                      <a16:colId xmlns:a16="http://schemas.microsoft.com/office/drawing/2014/main" val="4054967562"/>
                    </a:ext>
                  </a:extLst>
                </a:gridCol>
                <a:gridCol w="2983831">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 </a:t>
                      </a:r>
                    </a:p>
                    <a:p>
                      <a:pPr algn="ctr"/>
                      <a:r>
                        <a:rPr lang="en-US" sz="1400" dirty="0">
                          <a:latin typeface="Open Sans"/>
                        </a:rPr>
                        <a:t>replacement of worst</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bl>
          </a:graphicData>
        </a:graphic>
      </p:graphicFrame>
    </p:spTree>
    <p:extLst>
      <p:ext uri="{BB962C8B-B14F-4D97-AF65-F5344CB8AC3E}">
        <p14:creationId xmlns:p14="http://schemas.microsoft.com/office/powerpoint/2010/main" val="9700723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02F5E4-DFEC-475B-843C-2CAE39D370BD}"/>
              </a:ext>
            </a:extLst>
          </p:cNvPr>
          <p:cNvPicPr>
            <a:picLocks noChangeAspect="1"/>
          </p:cNvPicPr>
          <p:nvPr/>
        </p:nvPicPr>
        <p:blipFill>
          <a:blip r:embed="rId3"/>
          <a:stretch>
            <a:fillRect/>
          </a:stretch>
        </p:blipFill>
        <p:spPr>
          <a:xfrm>
            <a:off x="3138437" y="1890876"/>
            <a:ext cx="5915126" cy="2899698"/>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on the Type of Replacement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Average fitness is </a:t>
            </a:r>
            <a:r>
              <a:rPr lang="en-US" b="1" dirty="0">
                <a:latin typeface="Open Sans"/>
              </a:rPr>
              <a:t>best</a:t>
            </a:r>
            <a:r>
              <a:rPr lang="en-US" dirty="0">
                <a:latin typeface="Open Sans"/>
              </a:rPr>
              <a:t> when using </a:t>
            </a:r>
            <a:r>
              <a:rPr lang="en-US" b="1" u="sng" dirty="0">
                <a:latin typeface="Open Sans"/>
              </a:rPr>
              <a:t>elitist replacement</a:t>
            </a:r>
            <a:r>
              <a:rPr lang="en-US" dirty="0">
                <a:latin typeface="Open Sans"/>
              </a:rPr>
              <a:t> as worst individuals are replaced by better ones. Furthermore, this type of replacement can lead to convergence in the number of items contained in the rules. (a small set of items leads to the same appearing items in all the rules).</a:t>
            </a:r>
          </a:p>
        </p:txBody>
      </p:sp>
    </p:spTree>
    <p:extLst>
      <p:ext uri="{BB962C8B-B14F-4D97-AF65-F5344CB8AC3E}">
        <p14:creationId xmlns:p14="http://schemas.microsoft.com/office/powerpoint/2010/main" val="40602346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Study</a:t>
            </a:r>
            <a:endParaRPr lang="th-TH" dirty="0">
              <a:solidFill>
                <a:schemeClr val="tx1"/>
              </a:solidFill>
            </a:endParaRPr>
          </a:p>
        </p:txBody>
      </p:sp>
      <p:sp>
        <p:nvSpPr>
          <p:cNvPr id="5" name="TextBox 4">
            <a:extLst>
              <a:ext uri="{FF2B5EF4-FFF2-40B4-BE49-F238E27FC236}">
                <a16:creationId xmlns:a16="http://schemas.microsoft.com/office/drawing/2014/main" id="{F14F8520-FDB8-48D0-BE0E-1CC5D6D0984A}"/>
              </a:ext>
            </a:extLst>
          </p:cNvPr>
          <p:cNvSpPr txBox="1"/>
          <p:nvPr/>
        </p:nvSpPr>
        <p:spPr>
          <a:xfrm>
            <a:off x="813516" y="1946819"/>
            <a:ext cx="10564968" cy="2949205"/>
          </a:xfrm>
          <a:prstGeom prst="rect">
            <a:avLst/>
          </a:prstGeom>
          <a:noFill/>
        </p:spPr>
        <p:txBody>
          <a:bodyPr wrap="square" rtlCol="0">
            <a:spAutoFit/>
          </a:bodyPr>
          <a:lstStyle/>
          <a:p>
            <a:pPr algn="thaiDist">
              <a:lnSpc>
                <a:spcPct val="150000"/>
              </a:lnSpc>
            </a:pPr>
            <a:r>
              <a:rPr lang="en-US" dirty="0">
                <a:latin typeface="Open Sans"/>
              </a:rPr>
              <a:t>	Performance tests are conducted to measure and compare the execution time of GA in </a:t>
            </a:r>
            <a:r>
              <a:rPr lang="en-US" b="1" u="sng" dirty="0">
                <a:latin typeface="Open Sans"/>
              </a:rPr>
              <a:t>sequential</a:t>
            </a:r>
            <a:r>
              <a:rPr lang="en-US" dirty="0">
                <a:latin typeface="Open Sans"/>
              </a:rPr>
              <a:t> and </a:t>
            </a:r>
            <a:r>
              <a:rPr lang="en-US" b="1" u="sng" dirty="0">
                <a:latin typeface="Open Sans"/>
              </a:rPr>
              <a:t>parallel</a:t>
            </a:r>
            <a:r>
              <a:rPr lang="en-US" dirty="0">
                <a:latin typeface="Open Sans"/>
              </a:rPr>
              <a:t> cases. The aim is to show the impact of CPU parallelism and type population on </a:t>
            </a:r>
            <a:r>
              <a:rPr lang="en-US" b="1" dirty="0">
                <a:latin typeface="Open Sans"/>
              </a:rPr>
              <a:t>execution time</a:t>
            </a:r>
            <a:r>
              <a:rPr lang="en-US" dirty="0">
                <a:latin typeface="Open Sans"/>
              </a:rPr>
              <a:t>.</a:t>
            </a:r>
          </a:p>
          <a:p>
            <a:pPr algn="thaiDist">
              <a:lnSpc>
                <a:spcPct val="150000"/>
              </a:lnSpc>
            </a:pPr>
            <a:r>
              <a:rPr lang="en-US" dirty="0">
                <a:latin typeface="Open Sans"/>
              </a:rPr>
              <a:t>This paper presented the results of three GA execution types</a:t>
            </a:r>
          </a:p>
          <a:p>
            <a:pPr marL="342900" indent="-342900" algn="thaiDist">
              <a:lnSpc>
                <a:spcPct val="150000"/>
              </a:lnSpc>
              <a:buFont typeface="+mj-lt"/>
              <a:buAutoNum type="arabicPeriod"/>
            </a:pPr>
            <a:r>
              <a:rPr lang="en-US" dirty="0">
                <a:latin typeface="Open Sans"/>
              </a:rPr>
              <a:t>Sequential Execution (S-E) or traditional GA</a:t>
            </a:r>
          </a:p>
          <a:p>
            <a:pPr marL="342900" indent="-342900" algn="thaiDist">
              <a:lnSpc>
                <a:spcPct val="150000"/>
              </a:lnSpc>
              <a:buFont typeface="+mj-lt"/>
              <a:buAutoNum type="arabicPeriod"/>
            </a:pPr>
            <a:r>
              <a:rPr lang="en-US" dirty="0">
                <a:latin typeface="Open Sans"/>
              </a:rPr>
              <a:t>computation of parallel fitness on CPU (P-E CPU(fitness))</a:t>
            </a:r>
          </a:p>
          <a:p>
            <a:pPr marL="342900" indent="-342900" algn="thaiDist">
              <a:lnSpc>
                <a:spcPct val="150000"/>
              </a:lnSpc>
              <a:buFont typeface="+mj-lt"/>
              <a:buAutoNum type="arabicPeriod"/>
            </a:pPr>
            <a:r>
              <a:rPr lang="en-US" dirty="0">
                <a:latin typeface="Open Sans"/>
              </a:rPr>
              <a:t>the parallel GA algorithm on sub-populations (P-E CPU(classes)), such as crossover, mutation, etc.</a:t>
            </a:r>
          </a:p>
        </p:txBody>
      </p:sp>
    </p:spTree>
    <p:extLst>
      <p:ext uri="{BB962C8B-B14F-4D97-AF65-F5344CB8AC3E}">
        <p14:creationId xmlns:p14="http://schemas.microsoft.com/office/powerpoint/2010/main" val="1493768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of Sequential and Parallel CPU Executions</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5" name="Table 2">
            <a:extLst>
              <a:ext uri="{FF2B5EF4-FFF2-40B4-BE49-F238E27FC236}">
                <a16:creationId xmlns:a16="http://schemas.microsoft.com/office/drawing/2014/main" id="{80BFA48B-7275-404D-9E96-7AA054EE8D35}"/>
              </a:ext>
            </a:extLst>
          </p:cNvPr>
          <p:cNvGraphicFramePr>
            <a:graphicFrameLocks noGrp="1"/>
          </p:cNvGraphicFramePr>
          <p:nvPr>
            <p:extLst>
              <p:ext uri="{D42A27DB-BD31-4B8C-83A1-F6EECF244321}">
                <p14:modId xmlns:p14="http://schemas.microsoft.com/office/powerpoint/2010/main" val="1262985323"/>
              </p:ext>
            </p:extLst>
          </p:nvPr>
        </p:nvGraphicFramePr>
        <p:xfrm>
          <a:off x="4147418" y="2943465"/>
          <a:ext cx="3897163" cy="28651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worst</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200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Population,</a:t>
                      </a:r>
                    </a:p>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15439366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Result table</a:t>
            </a:r>
            <a:endParaRPr lang="th-TH" dirty="0">
              <a:solidFill>
                <a:schemeClr val="tx1"/>
              </a:solidFill>
            </a:endParaRPr>
          </a:p>
        </p:txBody>
      </p:sp>
      <p:pic>
        <p:nvPicPr>
          <p:cNvPr id="3" name="Picture 2">
            <a:extLst>
              <a:ext uri="{FF2B5EF4-FFF2-40B4-BE49-F238E27FC236}">
                <a16:creationId xmlns:a16="http://schemas.microsoft.com/office/drawing/2014/main" id="{E646AFA3-5EBE-4607-BA68-2C86D3F6975C}"/>
              </a:ext>
            </a:extLst>
          </p:cNvPr>
          <p:cNvPicPr>
            <a:picLocks noChangeAspect="1"/>
          </p:cNvPicPr>
          <p:nvPr/>
        </p:nvPicPr>
        <p:blipFill>
          <a:blip r:embed="rId3"/>
          <a:stretch>
            <a:fillRect/>
          </a:stretch>
        </p:blipFill>
        <p:spPr>
          <a:xfrm>
            <a:off x="3325893" y="1800568"/>
            <a:ext cx="5540214" cy="5057432"/>
          </a:xfrm>
          <a:prstGeom prst="rect">
            <a:avLst/>
          </a:prstGeom>
        </p:spPr>
      </p:pic>
    </p:spTree>
    <p:extLst>
      <p:ext uri="{BB962C8B-B14F-4D97-AF65-F5344CB8AC3E}">
        <p14:creationId xmlns:p14="http://schemas.microsoft.com/office/powerpoint/2010/main" val="10231938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Table 5 shows that P-E CPU(fitness) is </a:t>
            </a:r>
            <a:r>
              <a:rPr lang="en-US" b="1" u="sng" dirty="0">
                <a:solidFill>
                  <a:srgbClr val="00B050"/>
                </a:solidFill>
                <a:latin typeface="Open Sans"/>
              </a:rPr>
              <a:t>more advantageous</a:t>
            </a:r>
            <a:r>
              <a:rPr lang="en-US" dirty="0">
                <a:latin typeface="Open Sans"/>
              </a:rPr>
              <a:t> for large instances. Indeed, for small instances, the execution time is </a:t>
            </a:r>
            <a:r>
              <a:rPr lang="en-US" b="1" u="sng" dirty="0">
                <a:solidFill>
                  <a:srgbClr val="C00000"/>
                </a:solidFill>
                <a:latin typeface="Open Sans"/>
              </a:rPr>
              <a:t>20 times slower</a:t>
            </a:r>
            <a:r>
              <a:rPr lang="en-US" b="1" dirty="0">
                <a:solidFill>
                  <a:srgbClr val="C00000"/>
                </a:solidFill>
                <a:latin typeface="Open Sans"/>
              </a:rPr>
              <a:t> </a:t>
            </a:r>
            <a:r>
              <a:rPr lang="en-US" dirty="0">
                <a:latin typeface="Open Sans"/>
              </a:rPr>
              <a:t>than the sequential one.</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Result table</a:t>
            </a:r>
            <a:endParaRPr lang="th-TH" dirty="0">
              <a:solidFill>
                <a:schemeClr val="tx1"/>
              </a:solidFill>
            </a:endParaRPr>
          </a:p>
        </p:txBody>
      </p:sp>
      <p:pic>
        <p:nvPicPr>
          <p:cNvPr id="14" name="Picture 13">
            <a:extLst>
              <a:ext uri="{FF2B5EF4-FFF2-40B4-BE49-F238E27FC236}">
                <a16:creationId xmlns:a16="http://schemas.microsoft.com/office/drawing/2014/main" id="{61DD3673-D1CE-431F-A414-D35D1C9198FE}"/>
              </a:ext>
            </a:extLst>
          </p:cNvPr>
          <p:cNvPicPr>
            <a:picLocks noChangeAspect="1"/>
          </p:cNvPicPr>
          <p:nvPr/>
        </p:nvPicPr>
        <p:blipFill rotWithShape="1">
          <a:blip r:embed="rId3"/>
          <a:srcRect b="53385"/>
          <a:stretch/>
        </p:blipFill>
        <p:spPr>
          <a:xfrm>
            <a:off x="3325893" y="3109604"/>
            <a:ext cx="5540214" cy="2357546"/>
          </a:xfrm>
          <a:prstGeom prst="rect">
            <a:avLst/>
          </a:prstGeom>
        </p:spPr>
      </p:pic>
      <p:pic>
        <p:nvPicPr>
          <p:cNvPr id="16" name="Picture 15">
            <a:extLst>
              <a:ext uri="{FF2B5EF4-FFF2-40B4-BE49-F238E27FC236}">
                <a16:creationId xmlns:a16="http://schemas.microsoft.com/office/drawing/2014/main" id="{176691FE-B5B6-48D0-A38E-753C53F6AA14}"/>
              </a:ext>
            </a:extLst>
          </p:cNvPr>
          <p:cNvPicPr>
            <a:picLocks noChangeAspect="1"/>
          </p:cNvPicPr>
          <p:nvPr/>
        </p:nvPicPr>
        <p:blipFill rotWithShape="1">
          <a:blip r:embed="rId3"/>
          <a:srcRect t="76137" b="6354"/>
          <a:stretch/>
        </p:blipFill>
        <p:spPr>
          <a:xfrm>
            <a:off x="3325893" y="5594592"/>
            <a:ext cx="5540214" cy="885526"/>
          </a:xfrm>
          <a:prstGeom prst="rect">
            <a:avLst/>
          </a:prstGeom>
        </p:spPr>
      </p:pic>
      <p:sp>
        <p:nvSpPr>
          <p:cNvPr id="3" name="Rectangle 2">
            <a:extLst>
              <a:ext uri="{FF2B5EF4-FFF2-40B4-BE49-F238E27FC236}">
                <a16:creationId xmlns:a16="http://schemas.microsoft.com/office/drawing/2014/main" id="{C853C963-E01A-4B42-90C0-9C584C3F645C}"/>
              </a:ext>
            </a:extLst>
          </p:cNvPr>
          <p:cNvSpPr/>
          <p:nvPr/>
        </p:nvSpPr>
        <p:spPr>
          <a:xfrm>
            <a:off x="4283242" y="4552751"/>
            <a:ext cx="4466122" cy="2695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7" name="Rectangle 16">
            <a:extLst>
              <a:ext uri="{FF2B5EF4-FFF2-40B4-BE49-F238E27FC236}">
                <a16:creationId xmlns:a16="http://schemas.microsoft.com/office/drawing/2014/main" id="{B89A0E5F-AF7B-4E6C-99C2-56DC892AF117}"/>
              </a:ext>
            </a:extLst>
          </p:cNvPr>
          <p:cNvSpPr/>
          <p:nvPr/>
        </p:nvSpPr>
        <p:spPr>
          <a:xfrm>
            <a:off x="4283242" y="6218633"/>
            <a:ext cx="4466122" cy="269507"/>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8167171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9F41E-7795-4406-A544-7D21D6042A30}"/>
              </a:ext>
            </a:extLst>
          </p:cNvPr>
          <p:cNvPicPr>
            <a:picLocks noChangeAspect="1"/>
          </p:cNvPicPr>
          <p:nvPr/>
        </p:nvPicPr>
        <p:blipFill>
          <a:blip r:embed="rId3"/>
          <a:stretch>
            <a:fillRect/>
          </a:stretch>
        </p:blipFill>
        <p:spPr>
          <a:xfrm>
            <a:off x="1801140" y="2136168"/>
            <a:ext cx="8589720" cy="2830957"/>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of Sequential and Parallel CPU Executions</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5092420"/>
            <a:ext cx="10564968" cy="871713"/>
          </a:xfrm>
          <a:prstGeom prst="rect">
            <a:avLst/>
          </a:prstGeom>
          <a:noFill/>
        </p:spPr>
        <p:txBody>
          <a:bodyPr wrap="square" rtlCol="0">
            <a:spAutoFit/>
          </a:bodyPr>
          <a:lstStyle/>
          <a:p>
            <a:pPr algn="thaiDist">
              <a:lnSpc>
                <a:spcPct val="150000"/>
              </a:lnSpc>
            </a:pPr>
            <a:r>
              <a:rPr lang="en-US" dirty="0">
                <a:latin typeface="Open Sans"/>
              </a:rPr>
              <a:t>	the slopes of the evolutions of the two methods (sequential and parallel) in both figures are similar. But in sequential execution, one population is faster than execution on sub-populations.</a:t>
            </a:r>
          </a:p>
        </p:txBody>
      </p:sp>
    </p:spTree>
    <p:extLst>
      <p:ext uri="{BB962C8B-B14F-4D97-AF65-F5344CB8AC3E}">
        <p14:creationId xmlns:p14="http://schemas.microsoft.com/office/powerpoint/2010/main" val="21087441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Conclusion</a:t>
            </a:r>
            <a:endParaRPr lang="th-TH" dirty="0">
              <a:solidFill>
                <a:schemeClr val="tx1"/>
              </a:solidFill>
            </a:endParaRPr>
          </a:p>
        </p:txBody>
      </p:sp>
      <p:sp>
        <p:nvSpPr>
          <p:cNvPr id="5" name="TextBox 4">
            <a:extLst>
              <a:ext uri="{FF2B5EF4-FFF2-40B4-BE49-F238E27FC236}">
                <a16:creationId xmlns:a16="http://schemas.microsoft.com/office/drawing/2014/main" id="{F14F8520-FDB8-48D0-BE0E-1CC5D6D0984A}"/>
              </a:ext>
            </a:extLst>
          </p:cNvPr>
          <p:cNvSpPr txBox="1"/>
          <p:nvPr/>
        </p:nvSpPr>
        <p:spPr>
          <a:xfrm>
            <a:off x="813516" y="1946819"/>
            <a:ext cx="10564968" cy="3780202"/>
          </a:xfrm>
          <a:prstGeom prst="rect">
            <a:avLst/>
          </a:prstGeom>
          <a:noFill/>
        </p:spPr>
        <p:txBody>
          <a:bodyPr wrap="square" rtlCol="0">
            <a:spAutoFit/>
          </a:bodyPr>
          <a:lstStyle/>
          <a:p>
            <a:pPr algn="thaiDist">
              <a:lnSpc>
                <a:spcPct val="150000"/>
              </a:lnSpc>
            </a:pPr>
            <a:r>
              <a:rPr lang="en-US" dirty="0">
                <a:latin typeface="Open Sans"/>
              </a:rPr>
              <a:t>	Paper’s contribution is to study the impact of different strategies of GA components, since different strategies are used in the literature but in our knowledge, there is </a:t>
            </a:r>
            <a:r>
              <a:rPr lang="en-US" b="1" u="sng" dirty="0">
                <a:latin typeface="Open Sans"/>
              </a:rPr>
              <a:t>no previous work for comparing</a:t>
            </a:r>
            <a:r>
              <a:rPr lang="en-US" dirty="0">
                <a:latin typeface="Open Sans"/>
              </a:rPr>
              <a:t> these strategies. This comparison is done according to the number of rules obtained and the fitness.</a:t>
            </a:r>
          </a:p>
          <a:p>
            <a:pPr algn="thaiDist">
              <a:lnSpc>
                <a:spcPct val="150000"/>
              </a:lnSpc>
            </a:pPr>
            <a:r>
              <a:rPr lang="en-US" dirty="0">
                <a:latin typeface="Open Sans"/>
              </a:rPr>
              <a:t>	This paper proposed to </a:t>
            </a:r>
            <a:r>
              <a:rPr lang="en-US" b="1" u="sng" dirty="0">
                <a:latin typeface="Open Sans"/>
              </a:rPr>
              <a:t>organize the GA population</a:t>
            </a:r>
            <a:r>
              <a:rPr lang="en-US" b="1" dirty="0">
                <a:latin typeface="Open Sans"/>
              </a:rPr>
              <a:t> </a:t>
            </a:r>
            <a:r>
              <a:rPr lang="en-US" dirty="0">
                <a:latin typeface="Open Sans"/>
              </a:rPr>
              <a:t>into sub-populations. The conducted tests on this strategy show that this organization gives interesting results on quality and execution time.</a:t>
            </a:r>
          </a:p>
          <a:p>
            <a:pPr algn="thaiDist">
              <a:lnSpc>
                <a:spcPct val="150000"/>
              </a:lnSpc>
            </a:pPr>
            <a:r>
              <a:rPr lang="en-US" dirty="0">
                <a:latin typeface="Open Sans"/>
              </a:rPr>
              <a:t>	</a:t>
            </a:r>
            <a:r>
              <a:rPr lang="en-US" b="1" u="sng" dirty="0">
                <a:latin typeface="Open Sans"/>
              </a:rPr>
              <a:t>Parallel Execution</a:t>
            </a:r>
            <a:r>
              <a:rPr lang="en-US" dirty="0">
                <a:latin typeface="Open Sans"/>
              </a:rPr>
              <a:t> on CPU is also studied and the tests on different datasets show the interesting gain in time execution.</a:t>
            </a:r>
          </a:p>
        </p:txBody>
      </p:sp>
    </p:spTree>
    <p:extLst>
      <p:ext uri="{BB962C8B-B14F-4D97-AF65-F5344CB8AC3E}">
        <p14:creationId xmlns:p14="http://schemas.microsoft.com/office/powerpoint/2010/main" val="371236326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2.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{4EA0FB54-D899-4B8B-989F-EC94098D0D13}tf33552983_win32</Template>
  <TotalTime>2798</TotalTime>
  <Words>3620</Words>
  <Application>Microsoft Office PowerPoint</Application>
  <PresentationFormat>Widescreen</PresentationFormat>
  <Paragraphs>612</Paragraphs>
  <Slides>54</Slides>
  <Notes>52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54</vt:i4>
      </vt:variant>
    </vt:vector>
  </HeadingPairs>
  <TitlesOfParts>
    <vt:vector size="64" baseType="lpstr">
      <vt:lpstr>Arial</vt:lpstr>
      <vt:lpstr>Calibri</vt:lpstr>
      <vt:lpstr>Cambria Math</vt:lpstr>
      <vt:lpstr>Courier New</vt:lpstr>
      <vt:lpstr>Franklin Gothic Book</vt:lpstr>
      <vt:lpstr>Franklin Gothic Demi</vt:lpstr>
      <vt:lpstr>Open Sans</vt:lpstr>
      <vt:lpstr>Wingdings</vt:lpstr>
      <vt:lpstr>Wingdings 2</vt:lpstr>
      <vt:lpstr>DividendVTI</vt:lpstr>
      <vt:lpstr>Parallel multi-objective optimization for association rules problem with CPU and GPU acceleration</vt:lpstr>
      <vt:lpstr>Introduction</vt:lpstr>
      <vt:lpstr>Introduction</vt:lpstr>
      <vt:lpstr>Introduction</vt:lpstr>
      <vt:lpstr>Association rules analysis</vt:lpstr>
      <vt:lpstr>Association rules analysis</vt:lpstr>
      <vt:lpstr>Association rules analysis</vt:lpstr>
      <vt:lpstr>Introduction</vt:lpstr>
      <vt:lpstr>Association rules mining</vt:lpstr>
      <vt:lpstr>Association rules mining</vt:lpstr>
      <vt:lpstr>Association rules mining</vt:lpstr>
      <vt:lpstr>Association rules mining</vt:lpstr>
      <vt:lpstr>Research problem</vt:lpstr>
      <vt:lpstr>Research problem</vt:lpstr>
      <vt:lpstr>optimization</vt:lpstr>
      <vt:lpstr>Genetic Algorithm (GA)</vt:lpstr>
      <vt:lpstr>My approach optimization</vt:lpstr>
      <vt:lpstr>PowerPoint Presentation</vt:lpstr>
      <vt:lpstr>My progress</vt:lpstr>
      <vt:lpstr>Impact of Genetic Algorithms Operators on Association Rules Extraction</vt:lpstr>
      <vt:lpstr>Research Objective</vt:lpstr>
      <vt:lpstr>Genetic Algorithm for Rule Mining</vt:lpstr>
      <vt:lpstr>Research methodology</vt:lpstr>
      <vt:lpstr>Different rules size of solutions</vt:lpstr>
      <vt:lpstr>Different rules size of sub-populations</vt:lpstr>
      <vt:lpstr>Different rules size of sub-populations</vt:lpstr>
      <vt:lpstr>Genetic Algorithm for Rule Mining</vt:lpstr>
      <vt:lpstr>PowerPoint Presentation</vt:lpstr>
      <vt:lpstr>Genetic Algorithm for Rule Mining</vt:lpstr>
      <vt:lpstr>PowerPoint Presentation</vt:lpstr>
      <vt:lpstr>PowerPoint Presentation</vt:lpstr>
      <vt:lpstr>PowerPoint Presentation</vt:lpstr>
      <vt:lpstr>Research methodology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Multi-Hop LoRa Network Protocol with Minimized Latency</dc:title>
  <dc:creator>WANARUT BOONYUNG</dc:creator>
  <cp:lastModifiedBy>WANARUT BOONYUNG</cp:lastModifiedBy>
  <cp:revision>635</cp:revision>
  <dcterms:created xsi:type="dcterms:W3CDTF">2020-11-05T11:45:38Z</dcterms:created>
  <dcterms:modified xsi:type="dcterms:W3CDTF">2021-02-09T03:09:50Z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